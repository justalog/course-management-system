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bee04c2-1ec2-76ac-7689-974e5e9e2904}">
          <p14:sldIdLst>
            <p14:sldId id="256"/>
          </p14:sldIdLst>
        </p14:section>
        <p14:section name="Context" id="{b6b77f16-860b-4d24-3214-57f58d3b9be9}">
          <p14:sldIdLst>
            <p14:sldId id="257"/>
            <p14:sldId id="258"/>
            <p14:sldId id="259"/>
          </p14:sldIdLst>
        </p14:section>
        <p14:section name="Solution" id="{adad0f96-beeb-f56d-dc10-f140c3942452}">
          <p14:sldIdLst>
            <p14:sldId id="260"/>
            <p14:sldId id="261"/>
            <p14:sldId id="262"/>
          </p14:sldIdLst>
        </p14:section>
        <p14:section name="Hard part" id="{23d96f43-e1f8-fd4d-2e8c-a7aba4087236}">
          <p14:sldIdLst>
            <p14:sldId id="263"/>
            <p14:sldId id="264"/>
          </p14:sldIdLst>
        </p14:section>
        <p14:section name="Journey" id="{8b3869c0-8758-cd91-a51f-cf6fd06263cd}">
          <p14:sldIdLst>
            <p14:sldId id="265"/>
            <p14:sldId id="266"/>
          </p14:sldIdLst>
        </p14:section>
        <p14:section name="Closing" id="{bf82fec8-4145-a5d0-6c44-2e1ca14d8a33}">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My name is [your name]. Today, I would like to tell you about a project that I have worked on. It is a website that helps university students register for their classes. I will explain why I built it, what it does, the biggest problems I had, and what I have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presentation has four parts. First, I will talk about why I chose this project. Second, I will show you what the system does and how it works. Third, I will talk about the two most difficult problems that I had to solve. And finally, I will tell you what I have learned. My talk will take about eight minutes, and after that I will be happy to answer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start with the problem. I am sure that many of you remember registration day. Everyone clicks at the same time, so the seats are gone in a few minutes. It is also easy to choose two classes at the same time by mistake. The registration period is very short, too. And for the university staff, a lot of the work is still done in Excel. I have had this stressful experience myself, and that is why I chose this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quick look at the project. The system has two portals: one for students and one for staff. It checks nine rules every time a student registers for a class. I built it in about three months, from January to March this year, and I did all the work by myself. My main goal was simple: the system must be fair, it must work well, and it must be easy to use, even on the busiest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move on to what the system can do. Instead of just describing it, I would like to show you some real screenshots. This is the student portal. On the left, you can see the registration page. Students can see every class, its timetable and how many seats are left, and they can register or cancel with just one click. On the right, there is the weekly timetable, which is made automatically, and the page where students can check their grades and GPA.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this is the portal for the staff. Here, they can open new classes and choose the lecturer and the room for each class. They can also set the registration period for each semester, and they can see the timetable of every room on one page. Each user can only see the portal which matches their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does it work? Like most websites, it has three parts. The front end is what users see in their browser. I built it with React. The back end is like the brain of the system. It checks who the user is and follows all the rules. And the database keeps all the information. Finally, I used a tool called Docker, so the whole system can be started with just one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brings me to the most interesting part: the problems I had to solve. The first one is what I call 'the last seat'. Imagine a class with forty seats, and thirty-nine students have already registered. Then two students click Register at exactly the same time. Without any protection, both of them see one free seat, both of them are accepted, and the class ends up with forty-one students. To fix this, I made the system lock the class for a very short moment, so the second student has to wait. When it is their turn, the system can see that the class is full. As an extra safety rule, the database never allows more students than seats.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problem was timetable clashes. It sounds easy, but some classes only meet in odd weeks, and others only meet in even weeks. So I decided on a clear rule: two classes clash only if all three things on this slide are true. They are on the same day, their lesson times overlap, and their weeks match. When there is a clash, the system does not just say 'Error'. It tells the student which class is causing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me quickly explain how I built the project. I divided the work into five stages. In January, I looked at how registration works at my university, and I wrote down nine rules. In March, I built the database and the back end. Then I reorganised the code, built the two websites, and finally I set up Docker and wrote the guides. I used Git during the whole project, so I could always go back if I made a mistake.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what have I learned? Of course, my technical skills have improved a lot. But I think the most useful things are four skills that I can use in any job. First, plan before doing: writing the rules first saved me a lot of time. Second, learn by myself: I found many answers in English guides. Third, write clearly: writing guides taught me to explain ideas in a simple way. And fourth, manage my time by working in small stages. In the future, I would like to add automatic tests, a waiting list and a check for required courses.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this project started from a problem that I had as a student, and it became a complete system that really works. It has taught me that good software is not only about code. It is also about understanding people's problems. Thank you very much for listening. I would be happy to answer any questions you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rgbClr val="1732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37160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834640"/>
            <a:ext cx="8046720" cy="822960"/>
          </a:xfrm>
          <a:prstGeom prst="rect">
            <a:avLst/>
          </a:prstGeom>
          <a:noFill/>
          <a:ln/>
        </p:spPr>
        <p:txBody>
          <a:bodyPr wrap="square" rtlCol="0"/>
          <a:lstStyle>
            <a:lvl1pPr indent="0" marL="0">
              <a:buNone/>
              <a:defRPr lang="en-US" sz="1800" dirty="0">
                <a:solidFill>
                  <a:schemeClr val="accent5"/>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TITLE_IMAGE">
    <p:bg>
      <p:bgPr>
        <a:solidFill>
          <a:srgbClr val="1732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188720"/>
            <a:ext cx="4114800" cy="1600200"/>
          </a:xfrm>
          <a:prstGeom prst="rect">
            <a:avLst/>
          </a:prstGeom>
          <a:noFill/>
          <a:ln/>
        </p:spPr>
        <p:txBody>
          <a:bodyPr wrap="square" rtlCol="0"/>
          <a:lstStyle>
            <a:lvl1pPr algn="l" indent="0" marL="0">
              <a:buNone/>
              <a:defRPr lang="en-US" sz="3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3" name="Text 0"/>
          <p:cNvSpPr/>
          <p:nvPr>
            <p:ph idx="101" type="body" hasCustomPrompt="1"/>
          </p:nvPr>
        </p:nvSpPr>
        <p:spPr>
          <a:xfrm>
            <a:off x="548640" y="2834640"/>
            <a:ext cx="4023360" cy="914400"/>
          </a:xfrm>
          <a:prstGeom prst="rect">
            <a:avLst/>
          </a:prstGeom>
          <a:noFill/>
          <a:ln/>
        </p:spPr>
        <p:txBody>
          <a:bodyPr wrap="square" rtlCol="0"/>
          <a:lstStyle>
            <a:lvl1pPr indent="0" marL="0">
              <a:buNone/>
              <a:defRPr lang="en-US" sz="1600" dirty="0">
                <a:solidFill>
                  <a:schemeClr val="accent5"/>
                </a:solidFill>
              </a:defRPr>
            </a:lvl1pPr>
          </a:lstStyle>
          <a:p>
            <a:pPr indent="0" marL="0">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0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Course Management &amp; Registration System</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slideLayout" Target="../slideLayouts/slideLayout4.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image" Target="../media/image-6-3.jpg"/><Relationship Id="rId4" Type="http://schemas.openxmlformats.org/officeDocument/2006/relationships/slideLayout" Target="../slideLayouts/slideLayout4.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4.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4.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4.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_1"/>
          <p:cNvSpPr txBox="1"/>
          <p:nvPr/>
        </p:nvSpPr>
        <p:spPr>
          <a:xfrm>
            <a:off x="640080" y="685800"/>
            <a:ext cx="4023360" cy="365760"/>
          </a:xfrm>
          <a:prstGeom prst="rect">
            <a:avLst/>
          </a:prstGeom>
          <a:noFill/>
          <a:ln/>
        </p:spPr>
        <p:txBody>
          <a:bodyPr wrap="square" lIns="0" tIns="0" rIns="0" bIns="0" rtlCol="0" anchor="t"/>
          <a:lstStyle/>
          <a:p>
            <a:pPr indent="0" marL="0">
              <a:buNone/>
            </a:pPr>
            <a:r>
              <a:rPr lang="en-US" sz="1100" b="1" spc="100" kern="0" dirty="0">
                <a:solidFill>
                  <a:schemeClr val="accent2"/>
                </a:solidFill>
              </a:rPr>
              <a:t>DESCRIBE A PROJECT WHICH I HAVE WORKED ON</a:t>
            </a:r>
            <a:endParaRPr lang="en-US" sz="1100" dirty="0"/>
          </a:p>
        </p:txBody>
      </p:sp>
      <p:sp>
        <p:nvSpPr>
          <p:cNvPr id="3" name="shot-frame_2"/>
          <p:cNvSpPr/>
          <p:nvPr/>
        </p:nvSpPr>
        <p:spPr>
          <a:xfrm>
            <a:off x="4828032" y="1216152"/>
            <a:ext cx="3877056" cy="2331263"/>
          </a:xfrm>
          <a:prstGeom prst="rect">
            <a:avLst/>
          </a:prstGeom>
          <a:solidFill>
            <a:srgbClr val="FFFFFF"/>
          </a:solidFill>
          <a:ln w="9525">
            <a:solidFill>
              <a:srgbClr val="C9D6DA"/>
            </a:solidFill>
            <a:prstDash val="solid"/>
          </a:ln>
          <a:effectLst>
            <a:outerShdw sx="100000" sy="100000" kx="0" ky="0" algn="bl" rotWithShape="0" blurRad="76200" dist="25400" dir="5400000">
              <a:srgbClr val="000000">
                <a:alpha val="12000"/>
              </a:srgbClr>
            </a:outerShdw>
          </a:effectLst>
        </p:spPr>
      </p:sp>
      <p:pic>
        <p:nvPicPr>
          <p:cNvPr id="4" name="screenshot_3" descr="Screenshot of the system">    </p:cNvPr>
          <p:cNvPicPr>
            <a:picLocks noChangeAspect="1"/>
          </p:cNvPicPr>
          <p:nvPr/>
        </p:nvPicPr>
        <p:blipFill>
          <a:blip r:embed="rId1"/>
          <a:stretch>
            <a:fillRect/>
          </a:stretch>
        </p:blipFill>
        <p:spPr>
          <a:xfrm>
            <a:off x="4846320" y="1234440"/>
            <a:ext cx="3840480" cy="2294687"/>
          </a:xfrm>
          <a:prstGeom prst="rect">
            <a:avLst/>
          </a:prstGeom>
        </p:spPr>
      </p:pic>
      <p:sp>
        <p:nvSpPr>
          <p:cNvPr id="5" name="Text 0"/>
          <p:cNvSpPr/>
          <p:nvPr>
            <p:ph idx="100" type="title" hasCustomPrompt="1"/>
          </p:nvPr>
        </p:nvSpPr>
        <p:spPr>
          <a:xfrm>
            <a:off x="548640" y="1188720"/>
            <a:ext cx="4114800" cy="1600200"/>
          </a:xfrm>
          <a:prstGeom prst="rect">
            <a:avLst/>
          </a:prstGeom>
          <a:noFill/>
          <a:ln/>
        </p:spPr>
        <p:txBody>
          <a:bodyPr wrap="square" rtlCol="0" anchor="t"/>
          <a:lstStyle/>
          <a:p>
            <a:pPr algn="l" indent="0" marL="0">
              <a:buNone/>
            </a:pPr>
            <a:r>
              <a:rPr lang="en-US" sz="3400" b="1" dirty="0">
                <a:solidFill>
                  <a:schemeClr val="bg1"/>
                </a:solidFill>
                <a:latin typeface="Cambria" pitchFamily="34" charset="0"/>
                <a:ea typeface="Cambria" pitchFamily="34" charset="-122"/>
                <a:cs typeface="Cambria" pitchFamily="34" charset="-120"/>
              </a:rPr>
              <a:t>Course Management &amp; Registration System</a:t>
            </a:r>
            <a:endParaRPr lang="en-US" sz="3400" dirty="0"/>
          </a:p>
        </p:txBody>
      </p:sp>
      <p:sp>
        <p:nvSpPr>
          <p:cNvPr id="6" name="Text 0"/>
          <p:cNvSpPr/>
          <p:nvPr>
            <p:ph idx="101" type="body" hasCustomPrompt="1"/>
          </p:nvPr>
        </p:nvSpPr>
        <p:spPr>
          <a:xfrm>
            <a:off x="548640" y="2834640"/>
            <a:ext cx="4023360" cy="914400"/>
          </a:xfrm>
          <a:prstGeom prst="rect">
            <a:avLst/>
          </a:prstGeom>
          <a:noFill/>
          <a:ln/>
        </p:spPr>
        <p:txBody>
          <a:bodyPr wrap="square" rtlCol="0" anchor="t"/>
          <a:lstStyle/>
          <a:p>
            <a:pPr indent="0" marL="0">
              <a:buNone/>
            </a:pPr>
            <a:r>
              <a:rPr lang="en-US" sz="1600" dirty="0">
                <a:solidFill>
                  <a:schemeClr val="accent5"/>
                </a:solidFill>
              </a:rPr>
              <a:t>A web application that makes course registration fair, reliable and simple</a:t>
            </a:r>
            <a:endParaRPr lang="en-US" sz="1600" dirty="0"/>
          </a:p>
        </p:txBody>
      </p:sp>
      <p:sp>
        <p:nvSpPr>
          <p:cNvPr id="7" name="text_4"/>
          <p:cNvSpPr txBox="1"/>
          <p:nvPr/>
        </p:nvSpPr>
        <p:spPr>
          <a:xfrm>
            <a:off x="640080" y="4251960"/>
            <a:ext cx="7955280" cy="365760"/>
          </a:xfrm>
          <a:prstGeom prst="rect">
            <a:avLst/>
          </a:prstGeom>
          <a:noFill/>
          <a:ln/>
        </p:spPr>
        <p:txBody>
          <a:bodyPr wrap="square" lIns="0" tIns="0" rIns="0" bIns="0" rtlCol="0" anchor="t"/>
          <a:lstStyle/>
          <a:p>
            <a:pPr indent="0" marL="0">
              <a:buNone/>
            </a:pPr>
            <a:r>
              <a:rPr lang="en-US" sz="1400" dirty="0">
                <a:solidFill>
                  <a:schemeClr val="bg1"/>
                </a:solidFill>
              </a:rPr>
              <a:t>Your Name  ·  Student ID  ·  English Writing &amp; Presentation Skills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What I will talk about</a:t>
            </a:r>
            <a:endParaRPr lang="en-US" sz="3000" dirty="0"/>
          </a:p>
        </p:txBody>
      </p:sp>
      <p:sp>
        <p:nvSpPr>
          <p:cNvPr id="3" name="card_5"/>
          <p:cNvSpPr/>
          <p:nvPr/>
        </p:nvSpPr>
        <p:spPr>
          <a:xfrm>
            <a:off x="457200" y="1371600"/>
            <a:ext cx="1920240" cy="2834640"/>
          </a:xfrm>
          <a:prstGeom prst="roundRect">
            <a:avLst>
              <a:gd name="adj" fmla="val 3810"/>
            </a:avLst>
          </a:prstGeom>
          <a:solidFill>
            <a:schemeClr val="bg2"/>
          </a:solidFill>
          <a:ln/>
        </p:spPr>
      </p:sp>
      <p:sp>
        <p:nvSpPr>
          <p:cNvPr id="4" name="text_6"/>
          <p:cNvSpPr txBox="1"/>
          <p:nvPr/>
        </p:nvSpPr>
        <p:spPr>
          <a:xfrm>
            <a:off x="685800" y="1645920"/>
            <a:ext cx="1463040" cy="731520"/>
          </a:xfrm>
          <a:prstGeom prst="rect">
            <a:avLst/>
          </a:prstGeom>
          <a:noFill/>
          <a:ln/>
        </p:spPr>
        <p:txBody>
          <a:bodyPr wrap="square" lIns="0" tIns="0" rIns="0" bIns="0" rtlCol="0" anchor="t"/>
          <a:lstStyle/>
          <a:p>
            <a:pPr indent="0" marL="0">
              <a:buNone/>
            </a:pPr>
            <a:r>
              <a:rPr lang="en-US" sz="4000" b="1" dirty="0">
                <a:solidFill>
                  <a:schemeClr val="accent2"/>
                </a:solidFill>
                <a:latin typeface="Cambria" pitchFamily="34" charset="0"/>
                <a:ea typeface="Cambria" pitchFamily="34" charset="-122"/>
                <a:cs typeface="Cambria" pitchFamily="34" charset="-120"/>
              </a:rPr>
              <a:t>01</a:t>
            </a:r>
            <a:endParaRPr lang="en-US" sz="4000" dirty="0"/>
          </a:p>
        </p:txBody>
      </p:sp>
      <p:sp>
        <p:nvSpPr>
          <p:cNvPr id="5" name="text_7"/>
          <p:cNvSpPr txBox="1"/>
          <p:nvPr/>
        </p:nvSpPr>
        <p:spPr>
          <a:xfrm>
            <a:off x="685800" y="2468880"/>
            <a:ext cx="1554480" cy="457200"/>
          </a:xfrm>
          <a:prstGeom prst="rect">
            <a:avLst/>
          </a:prstGeom>
          <a:noFill/>
          <a:ln/>
        </p:spPr>
        <p:txBody>
          <a:bodyPr wrap="square" lIns="0" tIns="0" rIns="0" bIns="0" rtlCol="0" anchor="t"/>
          <a:lstStyle/>
          <a:p>
            <a:pPr indent="0" marL="0">
              <a:buNone/>
            </a:pPr>
            <a:r>
              <a:rPr lang="en-US" sz="1800" b="1" dirty="0">
                <a:solidFill>
                  <a:schemeClr val="tx2"/>
                </a:solidFill>
              </a:rPr>
              <a:t>Why</a:t>
            </a:r>
            <a:endParaRPr lang="en-US" sz="1800" dirty="0"/>
          </a:p>
        </p:txBody>
      </p:sp>
      <p:sp>
        <p:nvSpPr>
          <p:cNvPr id="6" name="text_8"/>
          <p:cNvSpPr txBox="1"/>
          <p:nvPr/>
        </p:nvSpPr>
        <p:spPr>
          <a:xfrm>
            <a:off x="685800" y="3017520"/>
            <a:ext cx="1554480" cy="1005840"/>
          </a:xfrm>
          <a:prstGeom prst="rect">
            <a:avLst/>
          </a:prstGeom>
          <a:noFill/>
          <a:ln/>
        </p:spPr>
        <p:txBody>
          <a:bodyPr wrap="square" lIns="0" tIns="0" rIns="0" bIns="0" rtlCol="0" anchor="t"/>
          <a:lstStyle/>
          <a:p>
            <a:pPr indent="0" marL="0">
              <a:buNone/>
            </a:pPr>
            <a:r>
              <a:rPr lang="en-US" sz="1400" dirty="0">
                <a:solidFill>
                  <a:schemeClr val="tx1"/>
                </a:solidFill>
              </a:rPr>
              <a:t>The problem that inspired this project</a:t>
            </a:r>
            <a:endParaRPr lang="en-US" sz="1400" dirty="0"/>
          </a:p>
        </p:txBody>
      </p:sp>
      <p:sp>
        <p:nvSpPr>
          <p:cNvPr id="7" name="card_9"/>
          <p:cNvSpPr/>
          <p:nvPr/>
        </p:nvSpPr>
        <p:spPr>
          <a:xfrm>
            <a:off x="2560320" y="1371600"/>
            <a:ext cx="1920240" cy="2834640"/>
          </a:xfrm>
          <a:prstGeom prst="roundRect">
            <a:avLst>
              <a:gd name="adj" fmla="val 3810"/>
            </a:avLst>
          </a:prstGeom>
          <a:solidFill>
            <a:schemeClr val="bg2"/>
          </a:solidFill>
          <a:ln/>
        </p:spPr>
      </p:sp>
      <p:sp>
        <p:nvSpPr>
          <p:cNvPr id="8" name="text_10"/>
          <p:cNvSpPr txBox="1"/>
          <p:nvPr/>
        </p:nvSpPr>
        <p:spPr>
          <a:xfrm>
            <a:off x="2788920" y="1645920"/>
            <a:ext cx="1463040" cy="731520"/>
          </a:xfrm>
          <a:prstGeom prst="rect">
            <a:avLst/>
          </a:prstGeom>
          <a:noFill/>
          <a:ln/>
        </p:spPr>
        <p:txBody>
          <a:bodyPr wrap="square" lIns="0" tIns="0" rIns="0" bIns="0" rtlCol="0" anchor="t"/>
          <a:lstStyle/>
          <a:p>
            <a:pPr indent="0" marL="0">
              <a:buNone/>
            </a:pPr>
            <a:r>
              <a:rPr lang="en-US" sz="4000" b="1" dirty="0">
                <a:solidFill>
                  <a:schemeClr val="accent2"/>
                </a:solidFill>
                <a:latin typeface="Cambria" pitchFamily="34" charset="0"/>
                <a:ea typeface="Cambria" pitchFamily="34" charset="-122"/>
                <a:cs typeface="Cambria" pitchFamily="34" charset="-120"/>
              </a:rPr>
              <a:t>02</a:t>
            </a:r>
            <a:endParaRPr lang="en-US" sz="4000" dirty="0"/>
          </a:p>
        </p:txBody>
      </p:sp>
      <p:sp>
        <p:nvSpPr>
          <p:cNvPr id="9" name="text_11"/>
          <p:cNvSpPr txBox="1"/>
          <p:nvPr/>
        </p:nvSpPr>
        <p:spPr>
          <a:xfrm>
            <a:off x="2788920" y="2468880"/>
            <a:ext cx="1554480" cy="457200"/>
          </a:xfrm>
          <a:prstGeom prst="rect">
            <a:avLst/>
          </a:prstGeom>
          <a:noFill/>
          <a:ln/>
        </p:spPr>
        <p:txBody>
          <a:bodyPr wrap="square" lIns="0" tIns="0" rIns="0" bIns="0" rtlCol="0" anchor="t"/>
          <a:lstStyle/>
          <a:p>
            <a:pPr indent="0" marL="0">
              <a:buNone/>
            </a:pPr>
            <a:r>
              <a:rPr lang="en-US" sz="1800" b="1" dirty="0">
                <a:solidFill>
                  <a:schemeClr val="tx2"/>
                </a:solidFill>
              </a:rPr>
              <a:t>What</a:t>
            </a:r>
            <a:endParaRPr lang="en-US" sz="1800" dirty="0"/>
          </a:p>
        </p:txBody>
      </p:sp>
      <p:sp>
        <p:nvSpPr>
          <p:cNvPr id="10" name="text_12"/>
          <p:cNvSpPr txBox="1"/>
          <p:nvPr/>
        </p:nvSpPr>
        <p:spPr>
          <a:xfrm>
            <a:off x="2788920" y="3017520"/>
            <a:ext cx="1554480" cy="1005840"/>
          </a:xfrm>
          <a:prstGeom prst="rect">
            <a:avLst/>
          </a:prstGeom>
          <a:noFill/>
          <a:ln/>
        </p:spPr>
        <p:txBody>
          <a:bodyPr wrap="square" lIns="0" tIns="0" rIns="0" bIns="0" rtlCol="0" anchor="t"/>
          <a:lstStyle/>
          <a:p>
            <a:pPr indent="0" marL="0">
              <a:buNone/>
            </a:pPr>
            <a:r>
              <a:rPr lang="en-US" sz="1400" dirty="0">
                <a:solidFill>
                  <a:schemeClr val="tx1"/>
                </a:solidFill>
              </a:rPr>
              <a:t>What the system does and how it works</a:t>
            </a:r>
            <a:endParaRPr lang="en-US" sz="1400" dirty="0"/>
          </a:p>
        </p:txBody>
      </p:sp>
      <p:sp>
        <p:nvSpPr>
          <p:cNvPr id="11" name="card_13"/>
          <p:cNvSpPr/>
          <p:nvPr/>
        </p:nvSpPr>
        <p:spPr>
          <a:xfrm>
            <a:off x="4663440" y="1371600"/>
            <a:ext cx="1920240" cy="2834640"/>
          </a:xfrm>
          <a:prstGeom prst="roundRect">
            <a:avLst>
              <a:gd name="adj" fmla="val 3810"/>
            </a:avLst>
          </a:prstGeom>
          <a:solidFill>
            <a:schemeClr val="bg2"/>
          </a:solidFill>
          <a:ln/>
        </p:spPr>
      </p:sp>
      <p:sp>
        <p:nvSpPr>
          <p:cNvPr id="12" name="text_14"/>
          <p:cNvSpPr txBox="1"/>
          <p:nvPr/>
        </p:nvSpPr>
        <p:spPr>
          <a:xfrm>
            <a:off x="4892040" y="1645920"/>
            <a:ext cx="1463040" cy="731520"/>
          </a:xfrm>
          <a:prstGeom prst="rect">
            <a:avLst/>
          </a:prstGeom>
          <a:noFill/>
          <a:ln/>
        </p:spPr>
        <p:txBody>
          <a:bodyPr wrap="square" lIns="0" tIns="0" rIns="0" bIns="0" rtlCol="0" anchor="t"/>
          <a:lstStyle/>
          <a:p>
            <a:pPr indent="0" marL="0">
              <a:buNone/>
            </a:pPr>
            <a:r>
              <a:rPr lang="en-US" sz="4000" b="1" dirty="0">
                <a:solidFill>
                  <a:schemeClr val="accent2"/>
                </a:solidFill>
                <a:latin typeface="Cambria" pitchFamily="34" charset="0"/>
                <a:ea typeface="Cambria" pitchFamily="34" charset="-122"/>
                <a:cs typeface="Cambria" pitchFamily="34" charset="-120"/>
              </a:rPr>
              <a:t>03</a:t>
            </a:r>
            <a:endParaRPr lang="en-US" sz="4000" dirty="0"/>
          </a:p>
        </p:txBody>
      </p:sp>
      <p:sp>
        <p:nvSpPr>
          <p:cNvPr id="13" name="text_15"/>
          <p:cNvSpPr txBox="1"/>
          <p:nvPr/>
        </p:nvSpPr>
        <p:spPr>
          <a:xfrm>
            <a:off x="4892040" y="2468880"/>
            <a:ext cx="1554480" cy="457200"/>
          </a:xfrm>
          <a:prstGeom prst="rect">
            <a:avLst/>
          </a:prstGeom>
          <a:noFill/>
          <a:ln/>
        </p:spPr>
        <p:txBody>
          <a:bodyPr wrap="square" lIns="0" tIns="0" rIns="0" bIns="0" rtlCol="0" anchor="t"/>
          <a:lstStyle/>
          <a:p>
            <a:pPr indent="0" marL="0">
              <a:buNone/>
            </a:pPr>
            <a:r>
              <a:rPr lang="en-US" sz="1800" b="1" dirty="0">
                <a:solidFill>
                  <a:schemeClr val="tx2"/>
                </a:solidFill>
              </a:rPr>
              <a:t>Challenges</a:t>
            </a:r>
            <a:endParaRPr lang="en-US" sz="1800" dirty="0"/>
          </a:p>
        </p:txBody>
      </p:sp>
      <p:sp>
        <p:nvSpPr>
          <p:cNvPr id="14" name="text_16"/>
          <p:cNvSpPr txBox="1"/>
          <p:nvPr/>
        </p:nvSpPr>
        <p:spPr>
          <a:xfrm>
            <a:off x="4892040" y="3017520"/>
            <a:ext cx="1554480" cy="1005840"/>
          </a:xfrm>
          <a:prstGeom prst="rect">
            <a:avLst/>
          </a:prstGeom>
          <a:noFill/>
          <a:ln/>
        </p:spPr>
        <p:txBody>
          <a:bodyPr wrap="square" lIns="0" tIns="0" rIns="0" bIns="0" rtlCol="0" anchor="t"/>
          <a:lstStyle/>
          <a:p>
            <a:pPr indent="0" marL="0">
              <a:buNone/>
            </a:pPr>
            <a:r>
              <a:rPr lang="en-US" sz="1400" dirty="0">
                <a:solidFill>
                  <a:schemeClr val="tx1"/>
                </a:solidFill>
              </a:rPr>
              <a:t>The two hardest problems I solved</a:t>
            </a:r>
            <a:endParaRPr lang="en-US" sz="1400" dirty="0"/>
          </a:p>
        </p:txBody>
      </p:sp>
      <p:sp>
        <p:nvSpPr>
          <p:cNvPr id="15" name="card_17"/>
          <p:cNvSpPr/>
          <p:nvPr/>
        </p:nvSpPr>
        <p:spPr>
          <a:xfrm>
            <a:off x="6766560" y="1371600"/>
            <a:ext cx="1920240" cy="2834640"/>
          </a:xfrm>
          <a:prstGeom prst="roundRect">
            <a:avLst>
              <a:gd name="adj" fmla="val 3810"/>
            </a:avLst>
          </a:prstGeom>
          <a:solidFill>
            <a:schemeClr val="bg2"/>
          </a:solidFill>
          <a:ln/>
        </p:spPr>
      </p:sp>
      <p:sp>
        <p:nvSpPr>
          <p:cNvPr id="16" name="text_18"/>
          <p:cNvSpPr txBox="1"/>
          <p:nvPr/>
        </p:nvSpPr>
        <p:spPr>
          <a:xfrm>
            <a:off x="6995160" y="1645920"/>
            <a:ext cx="1463040" cy="731520"/>
          </a:xfrm>
          <a:prstGeom prst="rect">
            <a:avLst/>
          </a:prstGeom>
          <a:noFill/>
          <a:ln/>
        </p:spPr>
        <p:txBody>
          <a:bodyPr wrap="square" lIns="0" tIns="0" rIns="0" bIns="0" rtlCol="0" anchor="t"/>
          <a:lstStyle/>
          <a:p>
            <a:pPr indent="0" marL="0">
              <a:buNone/>
            </a:pPr>
            <a:r>
              <a:rPr lang="en-US" sz="4000" b="1" dirty="0">
                <a:solidFill>
                  <a:schemeClr val="accent2"/>
                </a:solidFill>
                <a:latin typeface="Cambria" pitchFamily="34" charset="0"/>
                <a:ea typeface="Cambria" pitchFamily="34" charset="-122"/>
                <a:cs typeface="Cambria" pitchFamily="34" charset="-120"/>
              </a:rPr>
              <a:t>04</a:t>
            </a:r>
            <a:endParaRPr lang="en-US" sz="4000" dirty="0"/>
          </a:p>
        </p:txBody>
      </p:sp>
      <p:sp>
        <p:nvSpPr>
          <p:cNvPr id="17" name="text_19"/>
          <p:cNvSpPr txBox="1"/>
          <p:nvPr/>
        </p:nvSpPr>
        <p:spPr>
          <a:xfrm>
            <a:off x="6995160" y="2468880"/>
            <a:ext cx="1554480" cy="457200"/>
          </a:xfrm>
          <a:prstGeom prst="rect">
            <a:avLst/>
          </a:prstGeom>
          <a:noFill/>
          <a:ln/>
        </p:spPr>
        <p:txBody>
          <a:bodyPr wrap="square" lIns="0" tIns="0" rIns="0" bIns="0" rtlCol="0" anchor="t"/>
          <a:lstStyle/>
          <a:p>
            <a:pPr indent="0" marL="0">
              <a:buNone/>
            </a:pPr>
            <a:r>
              <a:rPr lang="en-US" sz="1800" b="1" dirty="0">
                <a:solidFill>
                  <a:schemeClr val="tx2"/>
                </a:solidFill>
              </a:rPr>
              <a:t>Lessons</a:t>
            </a:r>
            <a:endParaRPr lang="en-US" sz="1800" dirty="0"/>
          </a:p>
        </p:txBody>
      </p:sp>
      <p:sp>
        <p:nvSpPr>
          <p:cNvPr id="18" name="text_20"/>
          <p:cNvSpPr txBox="1"/>
          <p:nvPr/>
        </p:nvSpPr>
        <p:spPr>
          <a:xfrm>
            <a:off x="6995160" y="3017520"/>
            <a:ext cx="1554480" cy="1005840"/>
          </a:xfrm>
          <a:prstGeom prst="rect">
            <a:avLst/>
          </a:prstGeom>
          <a:noFill/>
          <a:ln/>
        </p:spPr>
        <p:txBody>
          <a:bodyPr wrap="square" lIns="0" tIns="0" rIns="0" bIns="0" rtlCol="0" anchor="t"/>
          <a:lstStyle/>
          <a:p>
            <a:pPr indent="0" marL="0">
              <a:buNone/>
            </a:pPr>
            <a:r>
              <a:rPr lang="en-US" sz="1400" dirty="0">
                <a:solidFill>
                  <a:schemeClr val="tx1"/>
                </a:solidFill>
              </a:rPr>
              <a:t>How I built it and what I learned</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Registration day is stressful</a:t>
            </a:r>
            <a:endParaRPr lang="en-US" sz="3000" dirty="0"/>
          </a:p>
        </p:txBody>
      </p:sp>
      <p:sp>
        <p:nvSpPr>
          <p:cNvPr id="3" name="card_21"/>
          <p:cNvSpPr/>
          <p:nvPr/>
        </p:nvSpPr>
        <p:spPr>
          <a:xfrm>
            <a:off x="457200" y="1234440"/>
            <a:ext cx="4023360" cy="1463040"/>
          </a:xfrm>
          <a:prstGeom prst="roundRect">
            <a:avLst>
              <a:gd name="adj" fmla="val 5000"/>
            </a:avLst>
          </a:prstGeom>
          <a:solidFill>
            <a:schemeClr val="bg2"/>
          </a:solidFill>
          <a:ln/>
        </p:spPr>
      </p:sp>
      <p:sp>
        <p:nvSpPr>
          <p:cNvPr id="4" name="icon-bg_22"/>
          <p:cNvSpPr/>
          <p:nvPr/>
        </p:nvSpPr>
        <p:spPr>
          <a:xfrm>
            <a:off x="731520" y="1600200"/>
            <a:ext cx="731520" cy="731520"/>
          </a:xfrm>
          <a:prstGeom prst="ellipse">
            <a:avLst/>
          </a:prstGeom>
          <a:solidFill>
            <a:srgbClr val="1F4E5F"/>
          </a:solidFill>
          <a:ln/>
        </p:spPr>
      </p:sp>
      <p:pic>
        <p:nvPicPr>
          <p:cNvPr id="5" name="icon_23" descr="preencoded.png">    </p:cNvPr>
          <p:cNvPicPr>
            <a:picLocks noChangeAspect="1"/>
          </p:cNvPicPr>
          <p:nvPr/>
        </p:nvPicPr>
        <p:blipFill>
          <a:blip r:embed="rId1"/>
          <a:stretch>
            <a:fillRect/>
          </a:stretch>
        </p:blipFill>
        <p:spPr>
          <a:xfrm>
            <a:off x="914400" y="1783080"/>
            <a:ext cx="365760" cy="365760"/>
          </a:xfrm>
          <a:prstGeom prst="rect">
            <a:avLst/>
          </a:prstGeom>
        </p:spPr>
      </p:pic>
      <p:sp>
        <p:nvSpPr>
          <p:cNvPr id="6" name="text_24"/>
          <p:cNvSpPr txBox="1"/>
          <p:nvPr/>
        </p:nvSpPr>
        <p:spPr>
          <a:xfrm>
            <a:off x="1691640" y="1508760"/>
            <a:ext cx="2606040" cy="365760"/>
          </a:xfrm>
          <a:prstGeom prst="rect">
            <a:avLst/>
          </a:prstGeom>
          <a:noFill/>
          <a:ln/>
        </p:spPr>
        <p:txBody>
          <a:bodyPr wrap="square" lIns="0" tIns="0" rIns="0" bIns="0" rtlCol="0" anchor="t"/>
          <a:lstStyle/>
          <a:p>
            <a:pPr indent="0" marL="0">
              <a:buNone/>
            </a:pPr>
            <a:r>
              <a:rPr lang="en-US" sz="1800" b="1" dirty="0">
                <a:solidFill>
                  <a:schemeClr val="tx2"/>
                </a:solidFill>
              </a:rPr>
              <a:t>Limited seats</a:t>
            </a:r>
            <a:endParaRPr lang="en-US" sz="1800" dirty="0"/>
          </a:p>
        </p:txBody>
      </p:sp>
      <p:sp>
        <p:nvSpPr>
          <p:cNvPr id="7" name="text_25"/>
          <p:cNvSpPr txBox="1"/>
          <p:nvPr/>
        </p:nvSpPr>
        <p:spPr>
          <a:xfrm>
            <a:off x="1691640" y="1920240"/>
            <a:ext cx="2606040" cy="685800"/>
          </a:xfrm>
          <a:prstGeom prst="rect">
            <a:avLst/>
          </a:prstGeom>
          <a:noFill/>
          <a:ln/>
        </p:spPr>
        <p:txBody>
          <a:bodyPr wrap="square" lIns="0" tIns="0" rIns="0" bIns="0" rtlCol="0" anchor="t"/>
          <a:lstStyle/>
          <a:p>
            <a:pPr indent="0" marL="0">
              <a:buNone/>
            </a:pPr>
            <a:r>
              <a:rPr lang="en-US" sz="1400" dirty="0">
                <a:solidFill>
                  <a:schemeClr val="tx1"/>
                </a:solidFill>
              </a:rPr>
              <a:t>Hundreds of students compete for the last seats in the same minute</a:t>
            </a:r>
            <a:endParaRPr lang="en-US" sz="1400" dirty="0"/>
          </a:p>
        </p:txBody>
      </p:sp>
      <p:sp>
        <p:nvSpPr>
          <p:cNvPr id="8" name="card_26"/>
          <p:cNvSpPr/>
          <p:nvPr/>
        </p:nvSpPr>
        <p:spPr>
          <a:xfrm>
            <a:off x="4663440" y="1234440"/>
            <a:ext cx="4023360" cy="1463040"/>
          </a:xfrm>
          <a:prstGeom prst="roundRect">
            <a:avLst>
              <a:gd name="adj" fmla="val 5000"/>
            </a:avLst>
          </a:prstGeom>
          <a:solidFill>
            <a:schemeClr val="bg2"/>
          </a:solidFill>
          <a:ln/>
        </p:spPr>
      </p:sp>
      <p:sp>
        <p:nvSpPr>
          <p:cNvPr id="9" name="icon-bg_27"/>
          <p:cNvSpPr/>
          <p:nvPr/>
        </p:nvSpPr>
        <p:spPr>
          <a:xfrm>
            <a:off x="4937760" y="1600200"/>
            <a:ext cx="731520" cy="731520"/>
          </a:xfrm>
          <a:prstGeom prst="ellipse">
            <a:avLst/>
          </a:prstGeom>
          <a:solidFill>
            <a:srgbClr val="1F4E5F"/>
          </a:solidFill>
          <a:ln/>
        </p:spPr>
      </p:sp>
      <p:pic>
        <p:nvPicPr>
          <p:cNvPr id="10" name="icon_28" descr="preencoded.png">    </p:cNvPr>
          <p:cNvPicPr>
            <a:picLocks noChangeAspect="1"/>
          </p:cNvPicPr>
          <p:nvPr/>
        </p:nvPicPr>
        <p:blipFill>
          <a:blip r:embed="rId2"/>
          <a:stretch>
            <a:fillRect/>
          </a:stretch>
        </p:blipFill>
        <p:spPr>
          <a:xfrm>
            <a:off x="5120640" y="1783080"/>
            <a:ext cx="365760" cy="365760"/>
          </a:xfrm>
          <a:prstGeom prst="rect">
            <a:avLst/>
          </a:prstGeom>
        </p:spPr>
      </p:pic>
      <p:sp>
        <p:nvSpPr>
          <p:cNvPr id="11" name="text_29"/>
          <p:cNvSpPr txBox="1"/>
          <p:nvPr/>
        </p:nvSpPr>
        <p:spPr>
          <a:xfrm>
            <a:off x="5897880" y="1508760"/>
            <a:ext cx="2606040" cy="365760"/>
          </a:xfrm>
          <a:prstGeom prst="rect">
            <a:avLst/>
          </a:prstGeom>
          <a:noFill/>
          <a:ln/>
        </p:spPr>
        <p:txBody>
          <a:bodyPr wrap="square" lIns="0" tIns="0" rIns="0" bIns="0" rtlCol="0" anchor="t"/>
          <a:lstStyle/>
          <a:p>
            <a:pPr indent="0" marL="0">
              <a:buNone/>
            </a:pPr>
            <a:r>
              <a:rPr lang="en-US" sz="1800" b="1" dirty="0">
                <a:solidFill>
                  <a:schemeClr val="tx2"/>
                </a:solidFill>
              </a:rPr>
              <a:t>Timetable clashes</a:t>
            </a:r>
            <a:endParaRPr lang="en-US" sz="1800" dirty="0"/>
          </a:p>
        </p:txBody>
      </p:sp>
      <p:sp>
        <p:nvSpPr>
          <p:cNvPr id="12" name="text_30"/>
          <p:cNvSpPr txBox="1"/>
          <p:nvPr/>
        </p:nvSpPr>
        <p:spPr>
          <a:xfrm>
            <a:off x="5897880" y="1920240"/>
            <a:ext cx="2606040" cy="685800"/>
          </a:xfrm>
          <a:prstGeom prst="rect">
            <a:avLst/>
          </a:prstGeom>
          <a:noFill/>
          <a:ln/>
        </p:spPr>
        <p:txBody>
          <a:bodyPr wrap="square" lIns="0" tIns="0" rIns="0" bIns="0" rtlCol="0" anchor="t"/>
          <a:lstStyle/>
          <a:p>
            <a:pPr indent="0" marL="0">
              <a:buNone/>
            </a:pPr>
            <a:r>
              <a:rPr lang="en-US" sz="1400" dirty="0">
                <a:solidFill>
                  <a:schemeClr val="tx1"/>
                </a:solidFill>
              </a:rPr>
              <a:t>Two classes at the same time are easy to miss</a:t>
            </a:r>
            <a:endParaRPr lang="en-US" sz="1400" dirty="0"/>
          </a:p>
        </p:txBody>
      </p:sp>
      <p:sp>
        <p:nvSpPr>
          <p:cNvPr id="13" name="card_31"/>
          <p:cNvSpPr/>
          <p:nvPr/>
        </p:nvSpPr>
        <p:spPr>
          <a:xfrm>
            <a:off x="457200" y="2926080"/>
            <a:ext cx="4023360" cy="1463040"/>
          </a:xfrm>
          <a:prstGeom prst="roundRect">
            <a:avLst>
              <a:gd name="adj" fmla="val 5000"/>
            </a:avLst>
          </a:prstGeom>
          <a:solidFill>
            <a:schemeClr val="bg2"/>
          </a:solidFill>
          <a:ln/>
        </p:spPr>
      </p:sp>
      <p:sp>
        <p:nvSpPr>
          <p:cNvPr id="14" name="icon-bg_32"/>
          <p:cNvSpPr/>
          <p:nvPr/>
        </p:nvSpPr>
        <p:spPr>
          <a:xfrm>
            <a:off x="731520" y="3291840"/>
            <a:ext cx="731520" cy="731520"/>
          </a:xfrm>
          <a:prstGeom prst="ellipse">
            <a:avLst/>
          </a:prstGeom>
          <a:solidFill>
            <a:srgbClr val="1F4E5F"/>
          </a:solidFill>
          <a:ln/>
        </p:spPr>
      </p:sp>
      <p:pic>
        <p:nvPicPr>
          <p:cNvPr id="15" name="icon_33" descr="preencoded.png">    </p:cNvPr>
          <p:cNvPicPr>
            <a:picLocks noChangeAspect="1"/>
          </p:cNvPicPr>
          <p:nvPr/>
        </p:nvPicPr>
        <p:blipFill>
          <a:blip r:embed="rId3"/>
          <a:stretch>
            <a:fillRect/>
          </a:stretch>
        </p:blipFill>
        <p:spPr>
          <a:xfrm>
            <a:off x="914400" y="3474720"/>
            <a:ext cx="365760" cy="365760"/>
          </a:xfrm>
          <a:prstGeom prst="rect">
            <a:avLst/>
          </a:prstGeom>
        </p:spPr>
      </p:pic>
      <p:sp>
        <p:nvSpPr>
          <p:cNvPr id="16" name="text_34"/>
          <p:cNvSpPr txBox="1"/>
          <p:nvPr/>
        </p:nvSpPr>
        <p:spPr>
          <a:xfrm>
            <a:off x="1691640" y="3200400"/>
            <a:ext cx="2606040" cy="365760"/>
          </a:xfrm>
          <a:prstGeom prst="rect">
            <a:avLst/>
          </a:prstGeom>
          <a:noFill/>
          <a:ln/>
        </p:spPr>
        <p:txBody>
          <a:bodyPr wrap="square" lIns="0" tIns="0" rIns="0" bIns="0" rtlCol="0" anchor="t"/>
          <a:lstStyle/>
          <a:p>
            <a:pPr indent="0" marL="0">
              <a:buNone/>
            </a:pPr>
            <a:r>
              <a:rPr lang="en-US" sz="1800" b="1" dirty="0">
                <a:solidFill>
                  <a:schemeClr val="tx2"/>
                </a:solidFill>
              </a:rPr>
              <a:t>Strict time windows</a:t>
            </a:r>
            <a:endParaRPr lang="en-US" sz="1800" dirty="0"/>
          </a:p>
        </p:txBody>
      </p:sp>
      <p:sp>
        <p:nvSpPr>
          <p:cNvPr id="17" name="text_35"/>
          <p:cNvSpPr txBox="1"/>
          <p:nvPr/>
        </p:nvSpPr>
        <p:spPr>
          <a:xfrm>
            <a:off x="1691640" y="3611880"/>
            <a:ext cx="2606040" cy="685800"/>
          </a:xfrm>
          <a:prstGeom prst="rect">
            <a:avLst/>
          </a:prstGeom>
          <a:noFill/>
          <a:ln/>
        </p:spPr>
        <p:txBody>
          <a:bodyPr wrap="square" lIns="0" tIns="0" rIns="0" bIns="0" rtlCol="0" anchor="t"/>
          <a:lstStyle/>
          <a:p>
            <a:pPr indent="0" marL="0">
              <a:buNone/>
            </a:pPr>
            <a:r>
              <a:rPr lang="en-US" sz="1400" dirty="0">
                <a:solidFill>
                  <a:schemeClr val="tx1"/>
                </a:solidFill>
              </a:rPr>
              <a:t>Registration and cancellation are only open for a few days</a:t>
            </a:r>
            <a:endParaRPr lang="en-US" sz="1400" dirty="0"/>
          </a:p>
        </p:txBody>
      </p:sp>
      <p:sp>
        <p:nvSpPr>
          <p:cNvPr id="18" name="card_36"/>
          <p:cNvSpPr/>
          <p:nvPr/>
        </p:nvSpPr>
        <p:spPr>
          <a:xfrm>
            <a:off x="4663440" y="2926080"/>
            <a:ext cx="4023360" cy="1463040"/>
          </a:xfrm>
          <a:prstGeom prst="roundRect">
            <a:avLst>
              <a:gd name="adj" fmla="val 5000"/>
            </a:avLst>
          </a:prstGeom>
          <a:solidFill>
            <a:schemeClr val="bg2"/>
          </a:solidFill>
          <a:ln/>
        </p:spPr>
      </p:sp>
      <p:sp>
        <p:nvSpPr>
          <p:cNvPr id="19" name="icon-bg_37"/>
          <p:cNvSpPr/>
          <p:nvPr/>
        </p:nvSpPr>
        <p:spPr>
          <a:xfrm>
            <a:off x="4937760" y="3291840"/>
            <a:ext cx="731520" cy="731520"/>
          </a:xfrm>
          <a:prstGeom prst="ellipse">
            <a:avLst/>
          </a:prstGeom>
          <a:solidFill>
            <a:srgbClr val="1F4E5F"/>
          </a:solidFill>
          <a:ln/>
        </p:spPr>
      </p:sp>
      <p:pic>
        <p:nvPicPr>
          <p:cNvPr id="20" name="icon_38" descr="preencoded.png">    </p:cNvPr>
          <p:cNvPicPr>
            <a:picLocks noChangeAspect="1"/>
          </p:cNvPicPr>
          <p:nvPr/>
        </p:nvPicPr>
        <p:blipFill>
          <a:blip r:embed="rId4"/>
          <a:stretch>
            <a:fillRect/>
          </a:stretch>
        </p:blipFill>
        <p:spPr>
          <a:xfrm>
            <a:off x="5120640" y="3474720"/>
            <a:ext cx="365760" cy="365760"/>
          </a:xfrm>
          <a:prstGeom prst="rect">
            <a:avLst/>
          </a:prstGeom>
        </p:spPr>
      </p:pic>
      <p:sp>
        <p:nvSpPr>
          <p:cNvPr id="21" name="text_39"/>
          <p:cNvSpPr txBox="1"/>
          <p:nvPr/>
        </p:nvSpPr>
        <p:spPr>
          <a:xfrm>
            <a:off x="5897880" y="3200400"/>
            <a:ext cx="2606040" cy="365760"/>
          </a:xfrm>
          <a:prstGeom prst="rect">
            <a:avLst/>
          </a:prstGeom>
          <a:noFill/>
          <a:ln/>
        </p:spPr>
        <p:txBody>
          <a:bodyPr wrap="square" lIns="0" tIns="0" rIns="0" bIns="0" rtlCol="0" anchor="t"/>
          <a:lstStyle/>
          <a:p>
            <a:pPr indent="0" marL="0">
              <a:buNone/>
            </a:pPr>
            <a:r>
              <a:rPr lang="en-US" sz="1800" b="1" dirty="0">
                <a:solidFill>
                  <a:schemeClr val="tx2"/>
                </a:solidFill>
              </a:rPr>
              <a:t>Manual admin work</a:t>
            </a:r>
            <a:endParaRPr lang="en-US" sz="1800" dirty="0"/>
          </a:p>
        </p:txBody>
      </p:sp>
      <p:sp>
        <p:nvSpPr>
          <p:cNvPr id="22" name="text_40"/>
          <p:cNvSpPr txBox="1"/>
          <p:nvPr/>
        </p:nvSpPr>
        <p:spPr>
          <a:xfrm>
            <a:off x="5897880" y="3611880"/>
            <a:ext cx="2606040" cy="685800"/>
          </a:xfrm>
          <a:prstGeom prst="rect">
            <a:avLst/>
          </a:prstGeom>
          <a:noFill/>
          <a:ln/>
        </p:spPr>
        <p:txBody>
          <a:bodyPr wrap="square" lIns="0" tIns="0" rIns="0" bIns="0" rtlCol="0" anchor="t"/>
          <a:lstStyle/>
          <a:p>
            <a:pPr indent="0" marL="0">
              <a:buNone/>
            </a:pPr>
            <a:r>
              <a:rPr lang="en-US" sz="1400" dirty="0">
                <a:solidFill>
                  <a:schemeClr val="tx1"/>
                </a:solidFill>
              </a:rPr>
              <a:t>Staff often manage courses, rooms and classes in Excel</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The project at a glance</a:t>
            </a:r>
            <a:endParaRPr lang="en-US" sz="3000" dirty="0"/>
          </a:p>
        </p:txBody>
      </p:sp>
      <p:sp>
        <p:nvSpPr>
          <p:cNvPr id="3" name="text_41"/>
          <p:cNvSpPr txBox="1"/>
          <p:nvPr/>
        </p:nvSpPr>
        <p:spPr>
          <a:xfrm>
            <a:off x="457200" y="1234440"/>
            <a:ext cx="1920240" cy="914400"/>
          </a:xfrm>
          <a:prstGeom prst="rect">
            <a:avLst/>
          </a:prstGeom>
          <a:noFill/>
          <a:ln/>
        </p:spPr>
        <p:txBody>
          <a:bodyPr wrap="square" lIns="0" tIns="0" rIns="0" bIns="0" rtlCol="0" anchor="t"/>
          <a:lstStyle/>
          <a:p>
            <a:pPr indent="0" marL="0">
              <a:buNone/>
            </a:pPr>
            <a:r>
              <a:rPr lang="en-US" sz="6000" b="1" dirty="0">
                <a:solidFill>
                  <a:schemeClr val="accent2"/>
                </a:solidFill>
                <a:latin typeface="Cambria" pitchFamily="34" charset="0"/>
                <a:ea typeface="Cambria" pitchFamily="34" charset="-122"/>
                <a:cs typeface="Cambria" pitchFamily="34" charset="-120"/>
              </a:rPr>
              <a:t>2</a:t>
            </a:r>
            <a:endParaRPr lang="en-US" sz="6000" dirty="0"/>
          </a:p>
        </p:txBody>
      </p:sp>
      <p:sp>
        <p:nvSpPr>
          <p:cNvPr id="4" name="text_42"/>
          <p:cNvSpPr txBox="1"/>
          <p:nvPr/>
        </p:nvSpPr>
        <p:spPr>
          <a:xfrm>
            <a:off x="457200" y="2194560"/>
            <a:ext cx="1920240" cy="365760"/>
          </a:xfrm>
          <a:prstGeom prst="rect">
            <a:avLst/>
          </a:prstGeom>
          <a:noFill/>
          <a:ln/>
        </p:spPr>
        <p:txBody>
          <a:bodyPr wrap="square" lIns="0" tIns="0" rIns="0" bIns="0" rtlCol="0" anchor="t"/>
          <a:lstStyle/>
          <a:p>
            <a:pPr indent="0" marL="0">
              <a:buNone/>
            </a:pPr>
            <a:r>
              <a:rPr lang="en-US" sz="1600" b="1" dirty="0">
                <a:solidFill>
                  <a:schemeClr val="tx2"/>
                </a:solidFill>
              </a:rPr>
              <a:t>portals</a:t>
            </a:r>
            <a:endParaRPr lang="en-US" sz="1600" dirty="0"/>
          </a:p>
        </p:txBody>
      </p:sp>
      <p:sp>
        <p:nvSpPr>
          <p:cNvPr id="5" name="text_43"/>
          <p:cNvSpPr txBox="1"/>
          <p:nvPr/>
        </p:nvSpPr>
        <p:spPr>
          <a:xfrm>
            <a:off x="457200" y="2560320"/>
            <a:ext cx="1920240" cy="320040"/>
          </a:xfrm>
          <a:prstGeom prst="rect">
            <a:avLst/>
          </a:prstGeom>
          <a:noFill/>
          <a:ln/>
        </p:spPr>
        <p:txBody>
          <a:bodyPr wrap="square" lIns="0" tIns="0" rIns="0" bIns="0" rtlCol="0" anchor="t"/>
          <a:lstStyle/>
          <a:p>
            <a:pPr indent="0" marL="0">
              <a:buNone/>
            </a:pPr>
            <a:r>
              <a:rPr lang="en-US" sz="1300" dirty="0">
                <a:solidFill>
                  <a:schemeClr val="accent4"/>
                </a:solidFill>
              </a:rPr>
              <a:t>students &amp; admins</a:t>
            </a:r>
            <a:endParaRPr lang="en-US" sz="1300" dirty="0"/>
          </a:p>
        </p:txBody>
      </p:sp>
      <p:sp>
        <p:nvSpPr>
          <p:cNvPr id="6" name="text_44"/>
          <p:cNvSpPr txBox="1"/>
          <p:nvPr/>
        </p:nvSpPr>
        <p:spPr>
          <a:xfrm>
            <a:off x="2560320" y="1234440"/>
            <a:ext cx="1920240" cy="914400"/>
          </a:xfrm>
          <a:prstGeom prst="rect">
            <a:avLst/>
          </a:prstGeom>
          <a:noFill/>
          <a:ln/>
        </p:spPr>
        <p:txBody>
          <a:bodyPr wrap="square" lIns="0" tIns="0" rIns="0" bIns="0" rtlCol="0" anchor="t"/>
          <a:lstStyle/>
          <a:p>
            <a:pPr indent="0" marL="0">
              <a:buNone/>
            </a:pPr>
            <a:r>
              <a:rPr lang="en-US" sz="6000" b="1" dirty="0">
                <a:solidFill>
                  <a:schemeClr val="accent2"/>
                </a:solidFill>
                <a:latin typeface="Cambria" pitchFamily="34" charset="0"/>
                <a:ea typeface="Cambria" pitchFamily="34" charset="-122"/>
                <a:cs typeface="Cambria" pitchFamily="34" charset="-120"/>
              </a:rPr>
              <a:t>9</a:t>
            </a:r>
            <a:endParaRPr lang="en-US" sz="6000" dirty="0"/>
          </a:p>
        </p:txBody>
      </p:sp>
      <p:sp>
        <p:nvSpPr>
          <p:cNvPr id="7" name="text_45"/>
          <p:cNvSpPr txBox="1"/>
          <p:nvPr/>
        </p:nvSpPr>
        <p:spPr>
          <a:xfrm>
            <a:off x="2560320" y="2194560"/>
            <a:ext cx="1920240" cy="365760"/>
          </a:xfrm>
          <a:prstGeom prst="rect">
            <a:avLst/>
          </a:prstGeom>
          <a:noFill/>
          <a:ln/>
        </p:spPr>
        <p:txBody>
          <a:bodyPr wrap="square" lIns="0" tIns="0" rIns="0" bIns="0" rtlCol="0" anchor="t"/>
          <a:lstStyle/>
          <a:p>
            <a:pPr indent="0" marL="0">
              <a:buNone/>
            </a:pPr>
            <a:r>
              <a:rPr lang="en-US" sz="1600" b="1" dirty="0">
                <a:solidFill>
                  <a:schemeClr val="tx2"/>
                </a:solidFill>
              </a:rPr>
              <a:t>rules</a:t>
            </a:r>
            <a:endParaRPr lang="en-US" sz="1600" dirty="0"/>
          </a:p>
        </p:txBody>
      </p:sp>
      <p:sp>
        <p:nvSpPr>
          <p:cNvPr id="8" name="text_46"/>
          <p:cNvSpPr txBox="1"/>
          <p:nvPr/>
        </p:nvSpPr>
        <p:spPr>
          <a:xfrm>
            <a:off x="2560320" y="2560320"/>
            <a:ext cx="1920240" cy="320040"/>
          </a:xfrm>
          <a:prstGeom prst="rect">
            <a:avLst/>
          </a:prstGeom>
          <a:noFill/>
          <a:ln/>
        </p:spPr>
        <p:txBody>
          <a:bodyPr wrap="square" lIns="0" tIns="0" rIns="0" bIns="0" rtlCol="0" anchor="t"/>
          <a:lstStyle/>
          <a:p>
            <a:pPr indent="0" marL="0">
              <a:buNone/>
            </a:pPr>
            <a:r>
              <a:rPr lang="en-US" sz="1300" dirty="0">
                <a:solidFill>
                  <a:schemeClr val="accent4"/>
                </a:solidFill>
              </a:rPr>
              <a:t>checked on every sign-up</a:t>
            </a:r>
            <a:endParaRPr lang="en-US" sz="1300" dirty="0"/>
          </a:p>
        </p:txBody>
      </p:sp>
      <p:sp>
        <p:nvSpPr>
          <p:cNvPr id="9" name="text_47"/>
          <p:cNvSpPr txBox="1"/>
          <p:nvPr/>
        </p:nvSpPr>
        <p:spPr>
          <a:xfrm>
            <a:off x="4663440" y="1234440"/>
            <a:ext cx="1920240" cy="914400"/>
          </a:xfrm>
          <a:prstGeom prst="rect">
            <a:avLst/>
          </a:prstGeom>
          <a:noFill/>
          <a:ln/>
        </p:spPr>
        <p:txBody>
          <a:bodyPr wrap="square" lIns="0" tIns="0" rIns="0" bIns="0" rtlCol="0" anchor="t"/>
          <a:lstStyle/>
          <a:p>
            <a:pPr indent="0" marL="0">
              <a:buNone/>
            </a:pPr>
            <a:r>
              <a:rPr lang="en-US" sz="6000" b="1" dirty="0">
                <a:solidFill>
                  <a:schemeClr val="accent2"/>
                </a:solidFill>
                <a:latin typeface="Cambria" pitchFamily="34" charset="0"/>
                <a:ea typeface="Cambria" pitchFamily="34" charset="-122"/>
                <a:cs typeface="Cambria" pitchFamily="34" charset="-120"/>
              </a:rPr>
              <a:t>3</a:t>
            </a:r>
            <a:endParaRPr lang="en-US" sz="6000" dirty="0"/>
          </a:p>
        </p:txBody>
      </p:sp>
      <p:sp>
        <p:nvSpPr>
          <p:cNvPr id="10" name="text_48"/>
          <p:cNvSpPr txBox="1"/>
          <p:nvPr/>
        </p:nvSpPr>
        <p:spPr>
          <a:xfrm>
            <a:off x="4663440" y="2194560"/>
            <a:ext cx="1920240" cy="365760"/>
          </a:xfrm>
          <a:prstGeom prst="rect">
            <a:avLst/>
          </a:prstGeom>
          <a:noFill/>
          <a:ln/>
        </p:spPr>
        <p:txBody>
          <a:bodyPr wrap="square" lIns="0" tIns="0" rIns="0" bIns="0" rtlCol="0" anchor="t"/>
          <a:lstStyle/>
          <a:p>
            <a:pPr indent="0" marL="0">
              <a:buNone/>
            </a:pPr>
            <a:r>
              <a:rPr lang="en-US" sz="1600" b="1" dirty="0">
                <a:solidFill>
                  <a:schemeClr val="tx2"/>
                </a:solidFill>
              </a:rPr>
              <a:t>months</a:t>
            </a:r>
            <a:endParaRPr lang="en-US" sz="1600" dirty="0"/>
          </a:p>
        </p:txBody>
      </p:sp>
      <p:sp>
        <p:nvSpPr>
          <p:cNvPr id="11" name="text_49"/>
          <p:cNvSpPr txBox="1"/>
          <p:nvPr/>
        </p:nvSpPr>
        <p:spPr>
          <a:xfrm>
            <a:off x="4663440" y="2560320"/>
            <a:ext cx="1920240" cy="320040"/>
          </a:xfrm>
          <a:prstGeom prst="rect">
            <a:avLst/>
          </a:prstGeom>
          <a:noFill/>
          <a:ln/>
        </p:spPr>
        <p:txBody>
          <a:bodyPr wrap="square" lIns="0" tIns="0" rIns="0" bIns="0" rtlCol="0" anchor="t"/>
          <a:lstStyle/>
          <a:p>
            <a:pPr indent="0" marL="0">
              <a:buNone/>
            </a:pPr>
            <a:r>
              <a:rPr lang="en-US" sz="1300" dirty="0">
                <a:solidFill>
                  <a:schemeClr val="accent4"/>
                </a:solidFill>
              </a:rPr>
              <a:t>January – March 2026</a:t>
            </a:r>
            <a:endParaRPr lang="en-US" sz="1300" dirty="0"/>
          </a:p>
        </p:txBody>
      </p:sp>
      <p:sp>
        <p:nvSpPr>
          <p:cNvPr id="12" name="text_50"/>
          <p:cNvSpPr txBox="1"/>
          <p:nvPr/>
        </p:nvSpPr>
        <p:spPr>
          <a:xfrm>
            <a:off x="6766560" y="1234440"/>
            <a:ext cx="1920240" cy="914400"/>
          </a:xfrm>
          <a:prstGeom prst="rect">
            <a:avLst/>
          </a:prstGeom>
          <a:noFill/>
          <a:ln/>
        </p:spPr>
        <p:txBody>
          <a:bodyPr wrap="square" lIns="0" tIns="0" rIns="0" bIns="0" rtlCol="0" anchor="t"/>
          <a:lstStyle/>
          <a:p>
            <a:pPr indent="0" marL="0">
              <a:buNone/>
            </a:pPr>
            <a:r>
              <a:rPr lang="en-US" sz="6000" b="1" dirty="0">
                <a:solidFill>
                  <a:schemeClr val="accent2"/>
                </a:solidFill>
                <a:latin typeface="Cambria" pitchFamily="34" charset="0"/>
                <a:ea typeface="Cambria" pitchFamily="34" charset="-122"/>
                <a:cs typeface="Cambria" pitchFamily="34" charset="-120"/>
              </a:rPr>
              <a:t>1</a:t>
            </a:r>
            <a:endParaRPr lang="en-US" sz="6000" dirty="0"/>
          </a:p>
        </p:txBody>
      </p:sp>
      <p:sp>
        <p:nvSpPr>
          <p:cNvPr id="13" name="text_51"/>
          <p:cNvSpPr txBox="1"/>
          <p:nvPr/>
        </p:nvSpPr>
        <p:spPr>
          <a:xfrm>
            <a:off x="6766560" y="2194560"/>
            <a:ext cx="1920240" cy="365760"/>
          </a:xfrm>
          <a:prstGeom prst="rect">
            <a:avLst/>
          </a:prstGeom>
          <a:noFill/>
          <a:ln/>
        </p:spPr>
        <p:txBody>
          <a:bodyPr wrap="square" lIns="0" tIns="0" rIns="0" bIns="0" rtlCol="0" anchor="t"/>
          <a:lstStyle/>
          <a:p>
            <a:pPr indent="0" marL="0">
              <a:buNone/>
            </a:pPr>
            <a:r>
              <a:rPr lang="en-US" sz="1600" b="1" dirty="0">
                <a:solidFill>
                  <a:schemeClr val="tx2"/>
                </a:solidFill>
              </a:rPr>
              <a:t>developer</a:t>
            </a:r>
            <a:endParaRPr lang="en-US" sz="1600" dirty="0"/>
          </a:p>
        </p:txBody>
      </p:sp>
      <p:sp>
        <p:nvSpPr>
          <p:cNvPr id="14" name="text_52"/>
          <p:cNvSpPr txBox="1"/>
          <p:nvPr/>
        </p:nvSpPr>
        <p:spPr>
          <a:xfrm>
            <a:off x="6766560" y="2560320"/>
            <a:ext cx="1920240" cy="320040"/>
          </a:xfrm>
          <a:prstGeom prst="rect">
            <a:avLst/>
          </a:prstGeom>
          <a:noFill/>
          <a:ln/>
        </p:spPr>
        <p:txBody>
          <a:bodyPr wrap="square" lIns="0" tIns="0" rIns="0" bIns="0" rtlCol="0" anchor="t"/>
          <a:lstStyle/>
          <a:p>
            <a:pPr indent="0" marL="0">
              <a:buNone/>
            </a:pPr>
            <a:r>
              <a:rPr lang="en-US" sz="1300" dirty="0">
                <a:solidFill>
                  <a:schemeClr val="accent4"/>
                </a:solidFill>
              </a:rPr>
              <a:t>designed and built by me</a:t>
            </a:r>
            <a:endParaRPr lang="en-US" sz="1300" dirty="0"/>
          </a:p>
        </p:txBody>
      </p:sp>
      <p:sp>
        <p:nvSpPr>
          <p:cNvPr id="15" name="card_53"/>
          <p:cNvSpPr/>
          <p:nvPr/>
        </p:nvSpPr>
        <p:spPr>
          <a:xfrm>
            <a:off x="457200" y="3246120"/>
            <a:ext cx="8229600" cy="1188720"/>
          </a:xfrm>
          <a:prstGeom prst="roundRect">
            <a:avLst>
              <a:gd name="adj" fmla="val 6154"/>
            </a:avLst>
          </a:prstGeom>
          <a:solidFill>
            <a:schemeClr val="accent5"/>
          </a:solidFill>
          <a:ln/>
        </p:spPr>
      </p:sp>
      <p:sp>
        <p:nvSpPr>
          <p:cNvPr id="16" name="text_54"/>
          <p:cNvSpPr txBox="1"/>
          <p:nvPr/>
        </p:nvSpPr>
        <p:spPr>
          <a:xfrm>
            <a:off x="731520" y="3429000"/>
            <a:ext cx="7680960" cy="868680"/>
          </a:xfrm>
          <a:prstGeom prst="rect">
            <a:avLst/>
          </a:prstGeom>
          <a:noFill/>
          <a:ln/>
        </p:spPr>
        <p:txBody>
          <a:bodyPr wrap="square" lIns="0" tIns="0" rIns="0" bIns="0" rtlCol="0" anchor="ctr"/>
          <a:lstStyle/>
          <a:p>
            <a:pPr indent="0" marL="0">
              <a:buNone/>
            </a:pPr>
            <a:r>
              <a:rPr lang="en-US" sz="1600" b="1" dirty="0">
                <a:solidFill>
                  <a:schemeClr val="tx2"/>
                </a:solidFill>
              </a:rPr>
              <a:t>My goal: </a:t>
            </a:r>
            <a:pPr indent="0" marL="0">
              <a:buNone/>
            </a:pPr>
            <a:r>
              <a:rPr lang="en-US" sz="1600" dirty="0">
                <a:solidFill>
                  <a:schemeClr val="tx1"/>
                </a:solidFill>
              </a:rPr>
              <a:t>a system that is fair, reliable and easy to use, even when hundreds of students click “Register” at the same moment.</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The student portal</a:t>
            </a:r>
            <a:endParaRPr lang="en-US" sz="3000" dirty="0"/>
          </a:p>
        </p:txBody>
      </p:sp>
      <p:sp>
        <p:nvSpPr>
          <p:cNvPr id="3" name="shot-frame_55"/>
          <p:cNvSpPr/>
          <p:nvPr/>
        </p:nvSpPr>
        <p:spPr>
          <a:xfrm>
            <a:off x="438912" y="1124712"/>
            <a:ext cx="5294376" cy="3178112"/>
          </a:xfrm>
          <a:prstGeom prst="rect">
            <a:avLst/>
          </a:prstGeom>
          <a:solidFill>
            <a:srgbClr val="FFFFFF"/>
          </a:solidFill>
          <a:ln w="9525">
            <a:solidFill>
              <a:srgbClr val="C9D6DA"/>
            </a:solidFill>
            <a:prstDash val="solid"/>
          </a:ln>
          <a:effectLst>
            <a:outerShdw sx="100000" sy="100000" kx="0" ky="0" algn="bl" rotWithShape="0" blurRad="76200" dist="25400" dir="5400000">
              <a:srgbClr val="000000">
                <a:alpha val="12000"/>
              </a:srgbClr>
            </a:outerShdw>
          </a:effectLst>
        </p:spPr>
      </p:sp>
      <p:pic>
        <p:nvPicPr>
          <p:cNvPr id="4" name="screenshot_56" descr="Register or cancel with one click">    </p:cNvPr>
          <p:cNvPicPr>
            <a:picLocks noChangeAspect="1"/>
          </p:cNvPicPr>
          <p:nvPr/>
        </p:nvPicPr>
        <p:blipFill>
          <a:blip r:embed="rId1"/>
          <a:stretch>
            <a:fillRect/>
          </a:stretch>
        </p:blipFill>
        <p:spPr>
          <a:xfrm>
            <a:off x="457200" y="1143000"/>
            <a:ext cx="5257800" cy="3141536"/>
          </a:xfrm>
          <a:prstGeom prst="rect">
            <a:avLst/>
          </a:prstGeom>
        </p:spPr>
      </p:pic>
      <p:sp>
        <p:nvSpPr>
          <p:cNvPr id="5" name="caption-bg_57"/>
          <p:cNvSpPr/>
          <p:nvPr/>
        </p:nvSpPr>
        <p:spPr>
          <a:xfrm>
            <a:off x="548640" y="3900488"/>
            <a:ext cx="2674620" cy="292608"/>
          </a:xfrm>
          <a:prstGeom prst="roundRect">
            <a:avLst>
              <a:gd name="adj" fmla="val 18750"/>
            </a:avLst>
          </a:prstGeom>
          <a:solidFill>
            <a:srgbClr val="17323D"/>
          </a:solidFill>
          <a:ln/>
        </p:spPr>
      </p:sp>
      <p:sp>
        <p:nvSpPr>
          <p:cNvPr id="6" name="caption_58"/>
          <p:cNvSpPr txBox="1"/>
          <p:nvPr/>
        </p:nvSpPr>
        <p:spPr>
          <a:xfrm>
            <a:off x="548640" y="3900488"/>
            <a:ext cx="2674620" cy="292608"/>
          </a:xfrm>
          <a:prstGeom prst="rect">
            <a:avLst/>
          </a:prstGeom>
          <a:noFill/>
          <a:ln/>
        </p:spPr>
        <p:txBody>
          <a:bodyPr wrap="square" lIns="0" tIns="0" rIns="0" bIns="0" rtlCol="0" anchor="ctr"/>
          <a:lstStyle/>
          <a:p>
            <a:pPr algn="ctr" indent="0" marL="0">
              <a:buNone/>
            </a:pPr>
            <a:r>
              <a:rPr lang="en-US" sz="1200" b="1" dirty="0">
                <a:solidFill>
                  <a:schemeClr val="bg1"/>
                </a:solidFill>
              </a:rPr>
              <a:t>Register or cancel with one click</a:t>
            </a:r>
            <a:endParaRPr lang="en-US" sz="1200" dirty="0"/>
          </a:p>
        </p:txBody>
      </p:sp>
      <p:sp>
        <p:nvSpPr>
          <p:cNvPr id="7" name="shot-frame_59"/>
          <p:cNvSpPr/>
          <p:nvPr/>
        </p:nvSpPr>
        <p:spPr>
          <a:xfrm>
            <a:off x="6016752" y="1124712"/>
            <a:ext cx="2688336" cy="1621003"/>
          </a:xfrm>
          <a:prstGeom prst="rect">
            <a:avLst/>
          </a:prstGeom>
          <a:solidFill>
            <a:srgbClr val="FFFFFF"/>
          </a:solidFill>
          <a:ln w="9525">
            <a:solidFill>
              <a:srgbClr val="C9D6DA"/>
            </a:solidFill>
            <a:prstDash val="solid"/>
          </a:ln>
          <a:effectLst>
            <a:outerShdw sx="100000" sy="100000" kx="0" ky="0" algn="bl" rotWithShape="0" blurRad="76200" dist="25400" dir="5400000">
              <a:srgbClr val="000000">
                <a:alpha val="12000"/>
              </a:srgbClr>
            </a:outerShdw>
          </a:effectLst>
        </p:spPr>
      </p:sp>
      <p:pic>
        <p:nvPicPr>
          <p:cNvPr id="8" name="screenshot_60" descr="Weekly timetable">    </p:cNvPr>
          <p:cNvPicPr>
            <a:picLocks noChangeAspect="1"/>
          </p:cNvPicPr>
          <p:nvPr/>
        </p:nvPicPr>
        <p:blipFill>
          <a:blip r:embed="rId2"/>
          <a:stretch>
            <a:fillRect/>
          </a:stretch>
        </p:blipFill>
        <p:spPr>
          <a:xfrm>
            <a:off x="6035040" y="1143000"/>
            <a:ext cx="2651760" cy="1584427"/>
          </a:xfrm>
          <a:prstGeom prst="rect">
            <a:avLst/>
          </a:prstGeom>
        </p:spPr>
      </p:pic>
      <p:sp>
        <p:nvSpPr>
          <p:cNvPr id="9" name="caption-bg_61"/>
          <p:cNvSpPr/>
          <p:nvPr/>
        </p:nvSpPr>
        <p:spPr>
          <a:xfrm>
            <a:off x="6126480" y="2343379"/>
            <a:ext cx="1353312" cy="292608"/>
          </a:xfrm>
          <a:prstGeom prst="roundRect">
            <a:avLst>
              <a:gd name="adj" fmla="val 18750"/>
            </a:avLst>
          </a:prstGeom>
          <a:solidFill>
            <a:srgbClr val="17323D"/>
          </a:solidFill>
          <a:ln/>
        </p:spPr>
      </p:sp>
      <p:sp>
        <p:nvSpPr>
          <p:cNvPr id="10" name="caption_62"/>
          <p:cNvSpPr txBox="1"/>
          <p:nvPr/>
        </p:nvSpPr>
        <p:spPr>
          <a:xfrm>
            <a:off x="6126480" y="2343379"/>
            <a:ext cx="1353312" cy="292608"/>
          </a:xfrm>
          <a:prstGeom prst="rect">
            <a:avLst/>
          </a:prstGeom>
          <a:noFill/>
          <a:ln/>
        </p:spPr>
        <p:txBody>
          <a:bodyPr wrap="square" lIns="0" tIns="0" rIns="0" bIns="0" rtlCol="0" anchor="ctr"/>
          <a:lstStyle/>
          <a:p>
            <a:pPr algn="ctr" indent="0" marL="0">
              <a:buNone/>
            </a:pPr>
            <a:r>
              <a:rPr lang="en-US" sz="1200" b="1" dirty="0">
                <a:solidFill>
                  <a:schemeClr val="bg1"/>
                </a:solidFill>
              </a:rPr>
              <a:t>Weekly timetable</a:t>
            </a:r>
            <a:endParaRPr lang="en-US" sz="1200" dirty="0"/>
          </a:p>
        </p:txBody>
      </p:sp>
      <p:sp>
        <p:nvSpPr>
          <p:cNvPr id="11" name="shot-frame_63"/>
          <p:cNvSpPr/>
          <p:nvPr/>
        </p:nvSpPr>
        <p:spPr>
          <a:xfrm>
            <a:off x="6016752" y="2937739"/>
            <a:ext cx="2688336" cy="1621003"/>
          </a:xfrm>
          <a:prstGeom prst="rect">
            <a:avLst/>
          </a:prstGeom>
          <a:solidFill>
            <a:srgbClr val="FFFFFF"/>
          </a:solidFill>
          <a:ln w="9525">
            <a:solidFill>
              <a:srgbClr val="C9D6DA"/>
            </a:solidFill>
            <a:prstDash val="solid"/>
          </a:ln>
          <a:effectLst>
            <a:outerShdw sx="100000" sy="100000" kx="0" ky="0" algn="bl" rotWithShape="0" blurRad="76200" dist="25400" dir="5400000">
              <a:srgbClr val="000000">
                <a:alpha val="12000"/>
              </a:srgbClr>
            </a:outerShdw>
          </a:effectLst>
        </p:spPr>
      </p:sp>
      <p:pic>
        <p:nvPicPr>
          <p:cNvPr id="12" name="screenshot_64" descr="Grades and GPA">    </p:cNvPr>
          <p:cNvPicPr>
            <a:picLocks noChangeAspect="1"/>
          </p:cNvPicPr>
          <p:nvPr/>
        </p:nvPicPr>
        <p:blipFill>
          <a:blip r:embed="rId3"/>
          <a:stretch>
            <a:fillRect/>
          </a:stretch>
        </p:blipFill>
        <p:spPr>
          <a:xfrm>
            <a:off x="6035040" y="2956027"/>
            <a:ext cx="2651760" cy="1584427"/>
          </a:xfrm>
          <a:prstGeom prst="rect">
            <a:avLst/>
          </a:prstGeom>
        </p:spPr>
      </p:pic>
      <p:sp>
        <p:nvSpPr>
          <p:cNvPr id="13" name="caption-bg_65"/>
          <p:cNvSpPr/>
          <p:nvPr/>
        </p:nvSpPr>
        <p:spPr>
          <a:xfrm>
            <a:off x="6126480" y="4156405"/>
            <a:ext cx="1197864" cy="292608"/>
          </a:xfrm>
          <a:prstGeom prst="roundRect">
            <a:avLst>
              <a:gd name="adj" fmla="val 18750"/>
            </a:avLst>
          </a:prstGeom>
          <a:solidFill>
            <a:srgbClr val="17323D"/>
          </a:solidFill>
          <a:ln/>
        </p:spPr>
      </p:sp>
      <p:sp>
        <p:nvSpPr>
          <p:cNvPr id="14" name="caption_66"/>
          <p:cNvSpPr txBox="1"/>
          <p:nvPr/>
        </p:nvSpPr>
        <p:spPr>
          <a:xfrm>
            <a:off x="6126480" y="4156405"/>
            <a:ext cx="1197864" cy="292608"/>
          </a:xfrm>
          <a:prstGeom prst="rect">
            <a:avLst/>
          </a:prstGeom>
          <a:noFill/>
          <a:ln/>
        </p:spPr>
        <p:txBody>
          <a:bodyPr wrap="square" lIns="0" tIns="0" rIns="0" bIns="0" rtlCol="0" anchor="ctr"/>
          <a:lstStyle/>
          <a:p>
            <a:pPr algn="ctr" indent="0" marL="0">
              <a:buNone/>
            </a:pPr>
            <a:r>
              <a:rPr lang="en-US" sz="1200" b="1" dirty="0">
                <a:solidFill>
                  <a:schemeClr val="bg1"/>
                </a:solidFill>
              </a:rPr>
              <a:t>Grades and GPA</a:t>
            </a:r>
            <a:endParaRPr lang="en-US" sz="1200" dirty="0"/>
          </a:p>
        </p:txBody>
      </p:sp>
      <p:sp>
        <p:nvSpPr>
          <p:cNvPr id="15" name="text_67"/>
          <p:cNvSpPr txBox="1"/>
          <p:nvPr/>
        </p:nvSpPr>
        <p:spPr>
          <a:xfrm>
            <a:off x="457200" y="4389120"/>
            <a:ext cx="5257800" cy="274320"/>
          </a:xfrm>
          <a:prstGeom prst="rect">
            <a:avLst/>
          </a:prstGeom>
          <a:noFill/>
          <a:ln/>
        </p:spPr>
        <p:txBody>
          <a:bodyPr wrap="square" lIns="0" tIns="0" rIns="0" bIns="0" rtlCol="0" anchor="t"/>
          <a:lstStyle/>
          <a:p>
            <a:pPr indent="0" marL="0">
              <a:buNone/>
            </a:pPr>
            <a:r>
              <a:rPr lang="en-US" sz="1200" i="1" dirty="0">
                <a:solidFill>
                  <a:schemeClr val="accent4"/>
                </a:solidFill>
              </a:rPr>
              <a:t>Real screenshots of the running system</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The administrator portal</a:t>
            </a:r>
            <a:endParaRPr lang="en-US" sz="3000" dirty="0"/>
          </a:p>
        </p:txBody>
      </p:sp>
      <p:sp>
        <p:nvSpPr>
          <p:cNvPr id="3" name="shot-frame_68"/>
          <p:cNvSpPr/>
          <p:nvPr/>
        </p:nvSpPr>
        <p:spPr>
          <a:xfrm>
            <a:off x="438912" y="1124712"/>
            <a:ext cx="5294376" cy="3178112"/>
          </a:xfrm>
          <a:prstGeom prst="rect">
            <a:avLst/>
          </a:prstGeom>
          <a:solidFill>
            <a:srgbClr val="FFFFFF"/>
          </a:solidFill>
          <a:ln w="9525">
            <a:solidFill>
              <a:srgbClr val="C9D6DA"/>
            </a:solidFill>
            <a:prstDash val="solid"/>
          </a:ln>
          <a:effectLst>
            <a:outerShdw sx="100000" sy="100000" kx="0" ky="0" algn="bl" rotWithShape="0" blurRad="76200" dist="25400" dir="5400000">
              <a:srgbClr val="000000">
                <a:alpha val="12000"/>
              </a:srgbClr>
            </a:outerShdw>
          </a:effectLst>
        </p:spPr>
      </p:sp>
      <p:pic>
        <p:nvPicPr>
          <p:cNvPr id="4" name="screenshot_69" descr="Open classes, assign lecturers and rooms">    </p:cNvPr>
          <p:cNvPicPr>
            <a:picLocks noChangeAspect="1"/>
          </p:cNvPicPr>
          <p:nvPr/>
        </p:nvPicPr>
        <p:blipFill>
          <a:blip r:embed="rId1"/>
          <a:stretch>
            <a:fillRect/>
          </a:stretch>
        </p:blipFill>
        <p:spPr>
          <a:xfrm>
            <a:off x="457200" y="1143000"/>
            <a:ext cx="5257800" cy="3141536"/>
          </a:xfrm>
          <a:prstGeom prst="rect">
            <a:avLst/>
          </a:prstGeom>
        </p:spPr>
      </p:pic>
      <p:sp>
        <p:nvSpPr>
          <p:cNvPr id="5" name="caption-bg_70"/>
          <p:cNvSpPr/>
          <p:nvPr/>
        </p:nvSpPr>
        <p:spPr>
          <a:xfrm>
            <a:off x="548640" y="3900488"/>
            <a:ext cx="3218688" cy="292608"/>
          </a:xfrm>
          <a:prstGeom prst="roundRect">
            <a:avLst>
              <a:gd name="adj" fmla="val 18750"/>
            </a:avLst>
          </a:prstGeom>
          <a:solidFill>
            <a:srgbClr val="17323D"/>
          </a:solidFill>
          <a:ln/>
        </p:spPr>
      </p:sp>
      <p:sp>
        <p:nvSpPr>
          <p:cNvPr id="6" name="caption_71"/>
          <p:cNvSpPr txBox="1"/>
          <p:nvPr/>
        </p:nvSpPr>
        <p:spPr>
          <a:xfrm>
            <a:off x="548640" y="3900488"/>
            <a:ext cx="3218688" cy="292608"/>
          </a:xfrm>
          <a:prstGeom prst="rect">
            <a:avLst/>
          </a:prstGeom>
          <a:noFill/>
          <a:ln/>
        </p:spPr>
        <p:txBody>
          <a:bodyPr wrap="square" lIns="0" tIns="0" rIns="0" bIns="0" rtlCol="0" anchor="ctr"/>
          <a:lstStyle/>
          <a:p>
            <a:pPr algn="ctr" indent="0" marL="0">
              <a:buNone/>
            </a:pPr>
            <a:r>
              <a:rPr lang="en-US" sz="1200" b="1" dirty="0">
                <a:solidFill>
                  <a:schemeClr val="bg1"/>
                </a:solidFill>
              </a:rPr>
              <a:t>Open classes, assign lecturers and rooms</a:t>
            </a:r>
            <a:endParaRPr lang="en-US" sz="1200" dirty="0"/>
          </a:p>
        </p:txBody>
      </p:sp>
      <p:sp>
        <p:nvSpPr>
          <p:cNvPr id="7" name="shot-frame_72"/>
          <p:cNvSpPr/>
          <p:nvPr/>
        </p:nvSpPr>
        <p:spPr>
          <a:xfrm>
            <a:off x="6016752" y="1124712"/>
            <a:ext cx="2688336" cy="1621003"/>
          </a:xfrm>
          <a:prstGeom prst="rect">
            <a:avLst/>
          </a:prstGeom>
          <a:solidFill>
            <a:srgbClr val="FFFFFF"/>
          </a:solidFill>
          <a:ln w="9525">
            <a:solidFill>
              <a:srgbClr val="C9D6DA"/>
            </a:solidFill>
            <a:prstDash val="solid"/>
          </a:ln>
          <a:effectLst>
            <a:outerShdw sx="100000" sy="100000" kx="0" ky="0" algn="bl" rotWithShape="0" blurRad="76200" dist="25400" dir="5400000">
              <a:srgbClr val="000000">
                <a:alpha val="12000"/>
              </a:srgbClr>
            </a:outerShdw>
          </a:effectLst>
        </p:spPr>
      </p:sp>
      <p:pic>
        <p:nvPicPr>
          <p:cNvPr id="8" name="screenshot_73" descr="Registration periods">    </p:cNvPr>
          <p:cNvPicPr>
            <a:picLocks noChangeAspect="1"/>
          </p:cNvPicPr>
          <p:nvPr/>
        </p:nvPicPr>
        <p:blipFill>
          <a:blip r:embed="rId2"/>
          <a:stretch>
            <a:fillRect/>
          </a:stretch>
        </p:blipFill>
        <p:spPr>
          <a:xfrm>
            <a:off x="6035040" y="1143000"/>
            <a:ext cx="2651760" cy="1584427"/>
          </a:xfrm>
          <a:prstGeom prst="rect">
            <a:avLst/>
          </a:prstGeom>
        </p:spPr>
      </p:pic>
      <p:sp>
        <p:nvSpPr>
          <p:cNvPr id="9" name="caption-bg_74"/>
          <p:cNvSpPr/>
          <p:nvPr/>
        </p:nvSpPr>
        <p:spPr>
          <a:xfrm>
            <a:off x="6126480" y="2343379"/>
            <a:ext cx="1664208" cy="292608"/>
          </a:xfrm>
          <a:prstGeom prst="roundRect">
            <a:avLst>
              <a:gd name="adj" fmla="val 18750"/>
            </a:avLst>
          </a:prstGeom>
          <a:solidFill>
            <a:srgbClr val="17323D"/>
          </a:solidFill>
          <a:ln/>
        </p:spPr>
      </p:sp>
      <p:sp>
        <p:nvSpPr>
          <p:cNvPr id="10" name="caption_75"/>
          <p:cNvSpPr txBox="1"/>
          <p:nvPr/>
        </p:nvSpPr>
        <p:spPr>
          <a:xfrm>
            <a:off x="6126480" y="2343379"/>
            <a:ext cx="1664208" cy="292608"/>
          </a:xfrm>
          <a:prstGeom prst="rect">
            <a:avLst/>
          </a:prstGeom>
          <a:noFill/>
          <a:ln/>
        </p:spPr>
        <p:txBody>
          <a:bodyPr wrap="square" lIns="0" tIns="0" rIns="0" bIns="0" rtlCol="0" anchor="ctr"/>
          <a:lstStyle/>
          <a:p>
            <a:pPr algn="ctr" indent="0" marL="0">
              <a:buNone/>
            </a:pPr>
            <a:r>
              <a:rPr lang="en-US" sz="1200" b="1" dirty="0">
                <a:solidFill>
                  <a:schemeClr val="bg1"/>
                </a:solidFill>
              </a:rPr>
              <a:t>Registration periods</a:t>
            </a:r>
            <a:endParaRPr lang="en-US" sz="1200" dirty="0"/>
          </a:p>
        </p:txBody>
      </p:sp>
      <p:sp>
        <p:nvSpPr>
          <p:cNvPr id="11" name="shot-frame_76"/>
          <p:cNvSpPr/>
          <p:nvPr/>
        </p:nvSpPr>
        <p:spPr>
          <a:xfrm>
            <a:off x="6016752" y="2937739"/>
            <a:ext cx="2688336" cy="1621003"/>
          </a:xfrm>
          <a:prstGeom prst="rect">
            <a:avLst/>
          </a:prstGeom>
          <a:solidFill>
            <a:srgbClr val="FFFFFF"/>
          </a:solidFill>
          <a:ln w="9525">
            <a:solidFill>
              <a:srgbClr val="C9D6DA"/>
            </a:solidFill>
            <a:prstDash val="solid"/>
          </a:ln>
          <a:effectLst>
            <a:outerShdw sx="100000" sy="100000" kx="0" ky="0" algn="bl" rotWithShape="0" blurRad="76200" dist="25400" dir="5400000">
              <a:srgbClr val="000000">
                <a:alpha val="12000"/>
              </a:srgbClr>
            </a:outerShdw>
          </a:effectLst>
        </p:spPr>
      </p:sp>
      <p:pic>
        <p:nvPicPr>
          <p:cNvPr id="12" name="screenshot_77" descr="Room schedule">    </p:cNvPr>
          <p:cNvPicPr>
            <a:picLocks noChangeAspect="1"/>
          </p:cNvPicPr>
          <p:nvPr/>
        </p:nvPicPr>
        <p:blipFill>
          <a:blip r:embed="rId3"/>
          <a:stretch>
            <a:fillRect/>
          </a:stretch>
        </p:blipFill>
        <p:spPr>
          <a:xfrm>
            <a:off x="6035040" y="2956027"/>
            <a:ext cx="2651760" cy="1584427"/>
          </a:xfrm>
          <a:prstGeom prst="rect">
            <a:avLst/>
          </a:prstGeom>
        </p:spPr>
      </p:pic>
      <p:sp>
        <p:nvSpPr>
          <p:cNvPr id="13" name="caption-bg_78"/>
          <p:cNvSpPr/>
          <p:nvPr/>
        </p:nvSpPr>
        <p:spPr>
          <a:xfrm>
            <a:off x="6126480" y="4156405"/>
            <a:ext cx="1120140" cy="292608"/>
          </a:xfrm>
          <a:prstGeom prst="roundRect">
            <a:avLst>
              <a:gd name="adj" fmla="val 18750"/>
            </a:avLst>
          </a:prstGeom>
          <a:solidFill>
            <a:srgbClr val="17323D"/>
          </a:solidFill>
          <a:ln/>
        </p:spPr>
      </p:sp>
      <p:sp>
        <p:nvSpPr>
          <p:cNvPr id="14" name="caption_79"/>
          <p:cNvSpPr txBox="1"/>
          <p:nvPr/>
        </p:nvSpPr>
        <p:spPr>
          <a:xfrm>
            <a:off x="6126480" y="4156405"/>
            <a:ext cx="1120140" cy="292608"/>
          </a:xfrm>
          <a:prstGeom prst="rect">
            <a:avLst/>
          </a:prstGeom>
          <a:noFill/>
          <a:ln/>
        </p:spPr>
        <p:txBody>
          <a:bodyPr wrap="square" lIns="0" tIns="0" rIns="0" bIns="0" rtlCol="0" anchor="ctr"/>
          <a:lstStyle/>
          <a:p>
            <a:pPr algn="ctr" indent="0" marL="0">
              <a:buNone/>
            </a:pPr>
            <a:r>
              <a:rPr lang="en-US" sz="1200" b="1" dirty="0">
                <a:solidFill>
                  <a:schemeClr val="bg1"/>
                </a:solidFill>
              </a:rPr>
              <a:t>Room schedule</a:t>
            </a:r>
            <a:endParaRPr lang="en-US" sz="1200" dirty="0"/>
          </a:p>
        </p:txBody>
      </p:sp>
      <p:sp>
        <p:nvSpPr>
          <p:cNvPr id="15" name="text_80"/>
          <p:cNvSpPr txBox="1"/>
          <p:nvPr/>
        </p:nvSpPr>
        <p:spPr>
          <a:xfrm>
            <a:off x="457200" y="4389120"/>
            <a:ext cx="5257800" cy="274320"/>
          </a:xfrm>
          <a:prstGeom prst="rect">
            <a:avLst/>
          </a:prstGeom>
          <a:noFill/>
          <a:ln/>
        </p:spPr>
        <p:txBody>
          <a:bodyPr wrap="square" lIns="0" tIns="0" rIns="0" bIns="0" rtlCol="0" anchor="t"/>
          <a:lstStyle/>
          <a:p>
            <a:pPr indent="0" marL="0">
              <a:buNone/>
            </a:pPr>
            <a:r>
              <a:rPr lang="en-US" sz="1200" i="1" dirty="0">
                <a:solidFill>
                  <a:schemeClr val="accent4"/>
                </a:solidFill>
              </a:rPr>
              <a:t>Real screenshots of the running system</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How it works: three parts</a:t>
            </a:r>
            <a:endParaRPr lang="en-US" sz="3000" dirty="0"/>
          </a:p>
        </p:txBody>
      </p:sp>
      <p:sp>
        <p:nvSpPr>
          <p:cNvPr id="3" name="card_81"/>
          <p:cNvSpPr/>
          <p:nvPr/>
        </p:nvSpPr>
        <p:spPr>
          <a:xfrm>
            <a:off x="457200" y="1234440"/>
            <a:ext cx="2514600" cy="2514600"/>
          </a:xfrm>
          <a:prstGeom prst="roundRect">
            <a:avLst>
              <a:gd name="adj" fmla="val 2909"/>
            </a:avLst>
          </a:prstGeom>
          <a:solidFill>
            <a:schemeClr val="bg2"/>
          </a:solidFill>
          <a:ln/>
        </p:spPr>
      </p:sp>
      <p:sp>
        <p:nvSpPr>
          <p:cNvPr id="4" name="icon-bg_82"/>
          <p:cNvSpPr/>
          <p:nvPr/>
        </p:nvSpPr>
        <p:spPr>
          <a:xfrm>
            <a:off x="1325880" y="1463040"/>
            <a:ext cx="777240" cy="777240"/>
          </a:xfrm>
          <a:prstGeom prst="ellipse">
            <a:avLst/>
          </a:prstGeom>
          <a:solidFill>
            <a:srgbClr val="1F4E5F"/>
          </a:solidFill>
          <a:ln/>
        </p:spPr>
      </p:sp>
      <p:pic>
        <p:nvPicPr>
          <p:cNvPr id="5" name="icon_83" descr="preencoded.png">    </p:cNvPr>
          <p:cNvPicPr>
            <a:picLocks noChangeAspect="1"/>
          </p:cNvPicPr>
          <p:nvPr/>
        </p:nvPicPr>
        <p:blipFill>
          <a:blip r:embed="rId1"/>
          <a:stretch>
            <a:fillRect/>
          </a:stretch>
        </p:blipFill>
        <p:spPr>
          <a:xfrm>
            <a:off x="1520190" y="1657350"/>
            <a:ext cx="388620" cy="388620"/>
          </a:xfrm>
          <a:prstGeom prst="rect">
            <a:avLst/>
          </a:prstGeom>
        </p:spPr>
      </p:pic>
      <p:sp>
        <p:nvSpPr>
          <p:cNvPr id="6" name="text_84"/>
          <p:cNvSpPr txBox="1"/>
          <p:nvPr/>
        </p:nvSpPr>
        <p:spPr>
          <a:xfrm>
            <a:off x="594360" y="2377440"/>
            <a:ext cx="2240280" cy="365760"/>
          </a:xfrm>
          <a:prstGeom prst="rect">
            <a:avLst/>
          </a:prstGeom>
          <a:noFill/>
          <a:ln/>
        </p:spPr>
        <p:txBody>
          <a:bodyPr wrap="square" lIns="0" tIns="0" rIns="0" bIns="0" rtlCol="0" anchor="t"/>
          <a:lstStyle/>
          <a:p>
            <a:pPr algn="ctr" indent="0" marL="0">
              <a:buNone/>
            </a:pPr>
            <a:r>
              <a:rPr lang="en-US" sz="1900" b="1" dirty="0">
                <a:solidFill>
                  <a:schemeClr val="tx2"/>
                </a:solidFill>
              </a:rPr>
              <a:t>Front end</a:t>
            </a:r>
            <a:endParaRPr lang="en-US" sz="1900" dirty="0"/>
          </a:p>
        </p:txBody>
      </p:sp>
      <p:sp>
        <p:nvSpPr>
          <p:cNvPr id="7" name="text_85"/>
          <p:cNvSpPr txBox="1"/>
          <p:nvPr/>
        </p:nvSpPr>
        <p:spPr>
          <a:xfrm>
            <a:off x="640080" y="2788920"/>
            <a:ext cx="2148840" cy="594360"/>
          </a:xfrm>
          <a:prstGeom prst="rect">
            <a:avLst/>
          </a:prstGeom>
          <a:noFill/>
          <a:ln/>
        </p:spPr>
        <p:txBody>
          <a:bodyPr wrap="square" lIns="0" tIns="0" rIns="0" bIns="0" rtlCol="0" anchor="t"/>
          <a:lstStyle/>
          <a:p>
            <a:pPr algn="ctr" indent="0" marL="0">
              <a:buNone/>
            </a:pPr>
            <a:r>
              <a:rPr lang="en-US" sz="1400" dirty="0">
                <a:solidFill>
                  <a:schemeClr val="tx1"/>
                </a:solidFill>
              </a:rPr>
              <a:t>What users see and click in the browser</a:t>
            </a:r>
            <a:endParaRPr lang="en-US" sz="1400" dirty="0"/>
          </a:p>
        </p:txBody>
      </p:sp>
      <p:sp>
        <p:nvSpPr>
          <p:cNvPr id="8" name="text_86"/>
          <p:cNvSpPr txBox="1"/>
          <p:nvPr/>
        </p:nvSpPr>
        <p:spPr>
          <a:xfrm>
            <a:off x="594360" y="3383280"/>
            <a:ext cx="2240280" cy="274320"/>
          </a:xfrm>
          <a:prstGeom prst="rect">
            <a:avLst/>
          </a:prstGeom>
          <a:noFill/>
          <a:ln/>
        </p:spPr>
        <p:txBody>
          <a:bodyPr wrap="square" lIns="0" tIns="0" rIns="0" bIns="0" rtlCol="0" anchor="t"/>
          <a:lstStyle/>
          <a:p>
            <a:pPr algn="ctr" indent="0" marL="0">
              <a:buNone/>
            </a:pPr>
            <a:r>
              <a:rPr lang="en-US" sz="1300" i="1" dirty="0">
                <a:solidFill>
                  <a:schemeClr val="accent4"/>
                </a:solidFill>
              </a:rPr>
              <a:t>React</a:t>
            </a:r>
            <a:endParaRPr lang="en-US" sz="1300" dirty="0"/>
          </a:p>
        </p:txBody>
      </p:sp>
      <p:sp>
        <p:nvSpPr>
          <p:cNvPr id="9" name="arrow_87"/>
          <p:cNvSpPr/>
          <p:nvPr/>
        </p:nvSpPr>
        <p:spPr>
          <a:xfrm>
            <a:off x="3017520" y="2487168"/>
            <a:ext cx="274320" cy="0"/>
          </a:xfrm>
          <a:prstGeom prst="line">
            <a:avLst/>
          </a:prstGeom>
          <a:noFill/>
          <a:ln w="25400">
            <a:solidFill>
              <a:srgbClr val="5B6B73"/>
            </a:solidFill>
            <a:prstDash val="solid"/>
            <a:headEnd type="triangle"/>
            <a:tailEnd type="triangle"/>
          </a:ln>
        </p:spPr>
      </p:sp>
      <p:sp>
        <p:nvSpPr>
          <p:cNvPr id="10" name="card_88"/>
          <p:cNvSpPr/>
          <p:nvPr/>
        </p:nvSpPr>
        <p:spPr>
          <a:xfrm>
            <a:off x="3337560" y="1234440"/>
            <a:ext cx="2514600" cy="2514600"/>
          </a:xfrm>
          <a:prstGeom prst="roundRect">
            <a:avLst>
              <a:gd name="adj" fmla="val 2909"/>
            </a:avLst>
          </a:prstGeom>
          <a:solidFill>
            <a:schemeClr val="accent5"/>
          </a:solidFill>
          <a:ln/>
        </p:spPr>
      </p:sp>
      <p:sp>
        <p:nvSpPr>
          <p:cNvPr id="11" name="icon-bg_89"/>
          <p:cNvSpPr/>
          <p:nvPr/>
        </p:nvSpPr>
        <p:spPr>
          <a:xfrm>
            <a:off x="4206240" y="1463040"/>
            <a:ext cx="777240" cy="777240"/>
          </a:xfrm>
          <a:prstGeom prst="ellipse">
            <a:avLst/>
          </a:prstGeom>
          <a:solidFill>
            <a:srgbClr val="E07A2F"/>
          </a:solidFill>
          <a:ln/>
        </p:spPr>
      </p:sp>
      <p:pic>
        <p:nvPicPr>
          <p:cNvPr id="12" name="icon_90" descr="preencoded.png">    </p:cNvPr>
          <p:cNvPicPr>
            <a:picLocks noChangeAspect="1"/>
          </p:cNvPicPr>
          <p:nvPr/>
        </p:nvPicPr>
        <p:blipFill>
          <a:blip r:embed="rId2"/>
          <a:stretch>
            <a:fillRect/>
          </a:stretch>
        </p:blipFill>
        <p:spPr>
          <a:xfrm>
            <a:off x="4400550" y="1657350"/>
            <a:ext cx="388620" cy="388620"/>
          </a:xfrm>
          <a:prstGeom prst="rect">
            <a:avLst/>
          </a:prstGeom>
        </p:spPr>
      </p:pic>
      <p:sp>
        <p:nvSpPr>
          <p:cNvPr id="13" name="text_91"/>
          <p:cNvSpPr txBox="1"/>
          <p:nvPr/>
        </p:nvSpPr>
        <p:spPr>
          <a:xfrm>
            <a:off x="3474720" y="2377440"/>
            <a:ext cx="2240280" cy="365760"/>
          </a:xfrm>
          <a:prstGeom prst="rect">
            <a:avLst/>
          </a:prstGeom>
          <a:noFill/>
          <a:ln/>
        </p:spPr>
        <p:txBody>
          <a:bodyPr wrap="square" lIns="0" tIns="0" rIns="0" bIns="0" rtlCol="0" anchor="t"/>
          <a:lstStyle/>
          <a:p>
            <a:pPr algn="ctr" indent="0" marL="0">
              <a:buNone/>
            </a:pPr>
            <a:r>
              <a:rPr lang="en-US" sz="1900" b="1" dirty="0">
                <a:solidFill>
                  <a:schemeClr val="tx2"/>
                </a:solidFill>
              </a:rPr>
              <a:t>Back end</a:t>
            </a:r>
            <a:endParaRPr lang="en-US" sz="1900" dirty="0"/>
          </a:p>
        </p:txBody>
      </p:sp>
      <p:sp>
        <p:nvSpPr>
          <p:cNvPr id="14" name="text_92"/>
          <p:cNvSpPr txBox="1"/>
          <p:nvPr/>
        </p:nvSpPr>
        <p:spPr>
          <a:xfrm>
            <a:off x="3520440" y="2788920"/>
            <a:ext cx="2148840" cy="594360"/>
          </a:xfrm>
          <a:prstGeom prst="rect">
            <a:avLst/>
          </a:prstGeom>
          <a:noFill/>
          <a:ln/>
        </p:spPr>
        <p:txBody>
          <a:bodyPr wrap="square" lIns="0" tIns="0" rIns="0" bIns="0" rtlCol="0" anchor="t"/>
          <a:lstStyle/>
          <a:p>
            <a:pPr algn="ctr" indent="0" marL="0">
              <a:buNone/>
            </a:pPr>
            <a:r>
              <a:rPr lang="en-US" sz="1400" dirty="0">
                <a:solidFill>
                  <a:schemeClr val="tx1"/>
                </a:solidFill>
              </a:rPr>
              <a:t>Checks who you are and applies the rules</a:t>
            </a:r>
            <a:endParaRPr lang="en-US" sz="1400" dirty="0"/>
          </a:p>
        </p:txBody>
      </p:sp>
      <p:sp>
        <p:nvSpPr>
          <p:cNvPr id="15" name="text_93"/>
          <p:cNvSpPr txBox="1"/>
          <p:nvPr/>
        </p:nvSpPr>
        <p:spPr>
          <a:xfrm>
            <a:off x="3474720" y="3383280"/>
            <a:ext cx="2240280" cy="274320"/>
          </a:xfrm>
          <a:prstGeom prst="rect">
            <a:avLst/>
          </a:prstGeom>
          <a:noFill/>
          <a:ln/>
        </p:spPr>
        <p:txBody>
          <a:bodyPr wrap="square" lIns="0" tIns="0" rIns="0" bIns="0" rtlCol="0" anchor="t"/>
          <a:lstStyle/>
          <a:p>
            <a:pPr algn="ctr" indent="0" marL="0">
              <a:buNone/>
            </a:pPr>
            <a:r>
              <a:rPr lang="en-US" sz="1300" i="1" dirty="0">
                <a:solidFill>
                  <a:schemeClr val="accent4"/>
                </a:solidFill>
              </a:rPr>
              <a:t>Node.js + Express</a:t>
            </a:r>
            <a:endParaRPr lang="en-US" sz="1300" dirty="0"/>
          </a:p>
        </p:txBody>
      </p:sp>
      <p:sp>
        <p:nvSpPr>
          <p:cNvPr id="16" name="arrow_94"/>
          <p:cNvSpPr/>
          <p:nvPr/>
        </p:nvSpPr>
        <p:spPr>
          <a:xfrm>
            <a:off x="5897880" y="2487168"/>
            <a:ext cx="274320" cy="0"/>
          </a:xfrm>
          <a:prstGeom prst="line">
            <a:avLst/>
          </a:prstGeom>
          <a:noFill/>
          <a:ln w="25400">
            <a:solidFill>
              <a:srgbClr val="5B6B73"/>
            </a:solidFill>
            <a:prstDash val="solid"/>
            <a:headEnd type="triangle"/>
            <a:tailEnd type="triangle"/>
          </a:ln>
        </p:spPr>
      </p:sp>
      <p:sp>
        <p:nvSpPr>
          <p:cNvPr id="17" name="card_95"/>
          <p:cNvSpPr/>
          <p:nvPr/>
        </p:nvSpPr>
        <p:spPr>
          <a:xfrm>
            <a:off x="6217920" y="1234440"/>
            <a:ext cx="2514600" cy="2514600"/>
          </a:xfrm>
          <a:prstGeom prst="roundRect">
            <a:avLst>
              <a:gd name="adj" fmla="val 2909"/>
            </a:avLst>
          </a:prstGeom>
          <a:solidFill>
            <a:schemeClr val="bg2"/>
          </a:solidFill>
          <a:ln/>
        </p:spPr>
      </p:sp>
      <p:sp>
        <p:nvSpPr>
          <p:cNvPr id="18" name="icon-bg_96"/>
          <p:cNvSpPr/>
          <p:nvPr/>
        </p:nvSpPr>
        <p:spPr>
          <a:xfrm>
            <a:off x="7086600" y="1463040"/>
            <a:ext cx="777240" cy="777240"/>
          </a:xfrm>
          <a:prstGeom prst="ellipse">
            <a:avLst/>
          </a:prstGeom>
          <a:solidFill>
            <a:srgbClr val="1F4E5F"/>
          </a:solidFill>
          <a:ln/>
        </p:spPr>
      </p:sp>
      <p:pic>
        <p:nvPicPr>
          <p:cNvPr id="19" name="icon_97" descr="preencoded.png">    </p:cNvPr>
          <p:cNvPicPr>
            <a:picLocks noChangeAspect="1"/>
          </p:cNvPicPr>
          <p:nvPr/>
        </p:nvPicPr>
        <p:blipFill>
          <a:blip r:embed="rId3"/>
          <a:stretch>
            <a:fillRect/>
          </a:stretch>
        </p:blipFill>
        <p:spPr>
          <a:xfrm>
            <a:off x="7280910" y="1657350"/>
            <a:ext cx="388620" cy="388620"/>
          </a:xfrm>
          <a:prstGeom prst="rect">
            <a:avLst/>
          </a:prstGeom>
        </p:spPr>
      </p:pic>
      <p:sp>
        <p:nvSpPr>
          <p:cNvPr id="20" name="text_98"/>
          <p:cNvSpPr txBox="1"/>
          <p:nvPr/>
        </p:nvSpPr>
        <p:spPr>
          <a:xfrm>
            <a:off x="6355080" y="2377440"/>
            <a:ext cx="2240280" cy="365760"/>
          </a:xfrm>
          <a:prstGeom prst="rect">
            <a:avLst/>
          </a:prstGeom>
          <a:noFill/>
          <a:ln/>
        </p:spPr>
        <p:txBody>
          <a:bodyPr wrap="square" lIns="0" tIns="0" rIns="0" bIns="0" rtlCol="0" anchor="t"/>
          <a:lstStyle/>
          <a:p>
            <a:pPr algn="ctr" indent="0" marL="0">
              <a:buNone/>
            </a:pPr>
            <a:r>
              <a:rPr lang="en-US" sz="1900" b="1" dirty="0">
                <a:solidFill>
                  <a:schemeClr val="tx2"/>
                </a:solidFill>
              </a:rPr>
              <a:t>Database</a:t>
            </a:r>
            <a:endParaRPr lang="en-US" sz="1900" dirty="0"/>
          </a:p>
        </p:txBody>
      </p:sp>
      <p:sp>
        <p:nvSpPr>
          <p:cNvPr id="21" name="text_99"/>
          <p:cNvSpPr txBox="1"/>
          <p:nvPr/>
        </p:nvSpPr>
        <p:spPr>
          <a:xfrm>
            <a:off x="6400800" y="2788920"/>
            <a:ext cx="2148840" cy="594360"/>
          </a:xfrm>
          <a:prstGeom prst="rect">
            <a:avLst/>
          </a:prstGeom>
          <a:noFill/>
          <a:ln/>
        </p:spPr>
        <p:txBody>
          <a:bodyPr wrap="square" lIns="0" tIns="0" rIns="0" bIns="0" rtlCol="0" anchor="t"/>
          <a:lstStyle/>
          <a:p>
            <a:pPr algn="ctr" indent="0" marL="0">
              <a:buNone/>
            </a:pPr>
            <a:r>
              <a:rPr lang="en-US" sz="1400" dirty="0">
                <a:solidFill>
                  <a:schemeClr val="tx1"/>
                </a:solidFill>
              </a:rPr>
              <a:t>Stores students, classes, timetables and grades</a:t>
            </a:r>
            <a:endParaRPr lang="en-US" sz="1400" dirty="0"/>
          </a:p>
        </p:txBody>
      </p:sp>
      <p:sp>
        <p:nvSpPr>
          <p:cNvPr id="22" name="text_100"/>
          <p:cNvSpPr txBox="1"/>
          <p:nvPr/>
        </p:nvSpPr>
        <p:spPr>
          <a:xfrm>
            <a:off x="6355080" y="3383280"/>
            <a:ext cx="2240280" cy="274320"/>
          </a:xfrm>
          <a:prstGeom prst="rect">
            <a:avLst/>
          </a:prstGeom>
          <a:noFill/>
          <a:ln/>
        </p:spPr>
        <p:txBody>
          <a:bodyPr wrap="square" lIns="0" tIns="0" rIns="0" bIns="0" rtlCol="0" anchor="t"/>
          <a:lstStyle/>
          <a:p>
            <a:pPr algn="ctr" indent="0" marL="0">
              <a:buNone/>
            </a:pPr>
            <a:r>
              <a:rPr lang="en-US" sz="1300" i="1" dirty="0">
                <a:solidFill>
                  <a:schemeClr val="accent4"/>
                </a:solidFill>
              </a:rPr>
              <a:t>MySQL</a:t>
            </a:r>
            <a:endParaRPr lang="en-US" sz="1300" dirty="0"/>
          </a:p>
        </p:txBody>
      </p:sp>
      <p:sp>
        <p:nvSpPr>
          <p:cNvPr id="23" name="card_101"/>
          <p:cNvSpPr/>
          <p:nvPr/>
        </p:nvSpPr>
        <p:spPr>
          <a:xfrm>
            <a:off x="457200" y="3931920"/>
            <a:ext cx="8229600" cy="548640"/>
          </a:xfrm>
          <a:prstGeom prst="roundRect">
            <a:avLst>
              <a:gd name="adj" fmla="val 13333"/>
            </a:avLst>
          </a:prstGeom>
          <a:solidFill>
            <a:schemeClr val="accent5"/>
          </a:solidFill>
          <a:ln/>
        </p:spPr>
      </p:sp>
      <p:sp>
        <p:nvSpPr>
          <p:cNvPr id="24" name="icon-bg_102"/>
          <p:cNvSpPr/>
          <p:nvPr/>
        </p:nvSpPr>
        <p:spPr>
          <a:xfrm>
            <a:off x="594360" y="3995928"/>
            <a:ext cx="420624" cy="420624"/>
          </a:xfrm>
          <a:prstGeom prst="ellipse">
            <a:avLst/>
          </a:prstGeom>
          <a:solidFill>
            <a:srgbClr val="1F4E5F"/>
          </a:solidFill>
          <a:ln/>
        </p:spPr>
      </p:sp>
      <p:pic>
        <p:nvPicPr>
          <p:cNvPr id="25" name="icon_103" descr="preencoded.png">    </p:cNvPr>
          <p:cNvPicPr>
            <a:picLocks noChangeAspect="1"/>
          </p:cNvPicPr>
          <p:nvPr/>
        </p:nvPicPr>
        <p:blipFill>
          <a:blip r:embed="rId4"/>
          <a:stretch>
            <a:fillRect/>
          </a:stretch>
        </p:blipFill>
        <p:spPr>
          <a:xfrm>
            <a:off x="699516" y="4101084"/>
            <a:ext cx="210312" cy="210312"/>
          </a:xfrm>
          <a:prstGeom prst="rect">
            <a:avLst/>
          </a:prstGeom>
        </p:spPr>
      </p:pic>
      <p:sp>
        <p:nvSpPr>
          <p:cNvPr id="26" name="text_104"/>
          <p:cNvSpPr txBox="1"/>
          <p:nvPr/>
        </p:nvSpPr>
        <p:spPr>
          <a:xfrm>
            <a:off x="1188720" y="3931920"/>
            <a:ext cx="7315200" cy="548640"/>
          </a:xfrm>
          <a:prstGeom prst="rect">
            <a:avLst/>
          </a:prstGeom>
          <a:noFill/>
          <a:ln/>
        </p:spPr>
        <p:txBody>
          <a:bodyPr wrap="square" lIns="0" tIns="0" rIns="0" bIns="0" rtlCol="0" anchor="ctr"/>
          <a:lstStyle/>
          <a:p>
            <a:pPr indent="0" marL="0">
              <a:buNone/>
            </a:pPr>
            <a:r>
              <a:rPr lang="en-US" sz="1500" dirty="0">
                <a:solidFill>
                  <a:schemeClr val="tx2"/>
                </a:solidFill>
              </a:rPr>
              <a:t>Packaged with Docker: the whole system starts with one command</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Challenge 1: the last seat</a:t>
            </a:r>
            <a:endParaRPr lang="en-US" sz="3000" dirty="0"/>
          </a:p>
        </p:txBody>
      </p:sp>
      <p:sp>
        <p:nvSpPr>
          <p:cNvPr id="3" name="card_105"/>
          <p:cNvSpPr/>
          <p:nvPr/>
        </p:nvSpPr>
        <p:spPr>
          <a:xfrm>
            <a:off x="457200" y="1188720"/>
            <a:ext cx="4023360" cy="3291840"/>
          </a:xfrm>
          <a:prstGeom prst="roundRect">
            <a:avLst>
              <a:gd name="adj" fmla="val 2222"/>
            </a:avLst>
          </a:prstGeom>
          <a:solidFill>
            <a:schemeClr val="bg2"/>
          </a:solidFill>
          <a:ln/>
        </p:spPr>
      </p:sp>
      <p:sp>
        <p:nvSpPr>
          <p:cNvPr id="4" name="text_106"/>
          <p:cNvSpPr txBox="1"/>
          <p:nvPr/>
        </p:nvSpPr>
        <p:spPr>
          <a:xfrm>
            <a:off x="685800" y="1325880"/>
            <a:ext cx="3566160" cy="365760"/>
          </a:xfrm>
          <a:prstGeom prst="rect">
            <a:avLst/>
          </a:prstGeom>
          <a:noFill/>
          <a:ln/>
        </p:spPr>
        <p:txBody>
          <a:bodyPr wrap="square" lIns="0" tIns="0" rIns="0" bIns="0" rtlCol="0" anchor="t"/>
          <a:lstStyle/>
          <a:p>
            <a:pPr indent="0" marL="0">
              <a:buNone/>
            </a:pPr>
            <a:r>
              <a:rPr lang="en-US" sz="1800" b="1" dirty="0">
                <a:solidFill>
                  <a:schemeClr val="accent2"/>
                </a:solidFill>
              </a:rPr>
              <a:t>Without protection</a:t>
            </a:r>
            <a:endParaRPr lang="en-US" sz="1800" dirty="0"/>
          </a:p>
        </p:txBody>
      </p:sp>
      <p:sp>
        <p:nvSpPr>
          <p:cNvPr id="5" name="step_107"/>
          <p:cNvSpPr/>
          <p:nvPr/>
        </p:nvSpPr>
        <p:spPr>
          <a:xfrm>
            <a:off x="685800" y="1828800"/>
            <a:ext cx="411480" cy="411480"/>
          </a:xfrm>
          <a:prstGeom prst="ellipse">
            <a:avLst/>
          </a:prstGeom>
          <a:solidFill>
            <a:srgbClr val="5B6B73"/>
          </a:solidFill>
          <a:ln/>
        </p:spPr>
      </p:sp>
      <p:sp>
        <p:nvSpPr>
          <p:cNvPr id="6" name="text_108"/>
          <p:cNvSpPr txBox="1"/>
          <p:nvPr/>
        </p:nvSpPr>
        <p:spPr>
          <a:xfrm>
            <a:off x="685800" y="18288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_109"/>
          <p:cNvSpPr txBox="1"/>
          <p:nvPr/>
        </p:nvSpPr>
        <p:spPr>
          <a:xfrm>
            <a:off x="1280160" y="1828800"/>
            <a:ext cx="3017520" cy="411480"/>
          </a:xfrm>
          <a:prstGeom prst="rect">
            <a:avLst/>
          </a:prstGeom>
          <a:noFill/>
          <a:ln/>
        </p:spPr>
        <p:txBody>
          <a:bodyPr wrap="square" lIns="0" tIns="0" rIns="0" bIns="0" rtlCol="0" anchor="ctr"/>
          <a:lstStyle/>
          <a:p>
            <a:pPr indent="0" marL="0">
              <a:buNone/>
            </a:pPr>
            <a:r>
              <a:rPr lang="en-US" sz="1500" dirty="0">
                <a:solidFill>
                  <a:schemeClr val="tx1"/>
                </a:solidFill>
              </a:rPr>
              <a:t>Student A reads: 1 seat left</a:t>
            </a:r>
            <a:endParaRPr lang="en-US" sz="1500" dirty="0"/>
          </a:p>
        </p:txBody>
      </p:sp>
      <p:sp>
        <p:nvSpPr>
          <p:cNvPr id="8" name="step_110"/>
          <p:cNvSpPr/>
          <p:nvPr/>
        </p:nvSpPr>
        <p:spPr>
          <a:xfrm>
            <a:off x="685800" y="2450592"/>
            <a:ext cx="411480" cy="411480"/>
          </a:xfrm>
          <a:prstGeom prst="ellipse">
            <a:avLst/>
          </a:prstGeom>
          <a:solidFill>
            <a:srgbClr val="5B6B73"/>
          </a:solidFill>
          <a:ln/>
        </p:spPr>
      </p:sp>
      <p:sp>
        <p:nvSpPr>
          <p:cNvPr id="9" name="text_111"/>
          <p:cNvSpPr txBox="1"/>
          <p:nvPr/>
        </p:nvSpPr>
        <p:spPr>
          <a:xfrm>
            <a:off x="685800" y="2450592"/>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_112"/>
          <p:cNvSpPr txBox="1"/>
          <p:nvPr/>
        </p:nvSpPr>
        <p:spPr>
          <a:xfrm>
            <a:off x="1280160" y="2450592"/>
            <a:ext cx="3017520" cy="411480"/>
          </a:xfrm>
          <a:prstGeom prst="rect">
            <a:avLst/>
          </a:prstGeom>
          <a:noFill/>
          <a:ln/>
        </p:spPr>
        <p:txBody>
          <a:bodyPr wrap="square" lIns="0" tIns="0" rIns="0" bIns="0" rtlCol="0" anchor="ctr"/>
          <a:lstStyle/>
          <a:p>
            <a:pPr indent="0" marL="0">
              <a:buNone/>
            </a:pPr>
            <a:r>
              <a:rPr lang="en-US" sz="1500" dirty="0">
                <a:solidFill>
                  <a:schemeClr val="tx1"/>
                </a:solidFill>
              </a:rPr>
              <a:t>Student B reads: 1 seat left</a:t>
            </a:r>
            <a:endParaRPr lang="en-US" sz="1500" dirty="0"/>
          </a:p>
        </p:txBody>
      </p:sp>
      <p:sp>
        <p:nvSpPr>
          <p:cNvPr id="11" name="step_113"/>
          <p:cNvSpPr/>
          <p:nvPr/>
        </p:nvSpPr>
        <p:spPr>
          <a:xfrm>
            <a:off x="685800" y="3072384"/>
            <a:ext cx="411480" cy="411480"/>
          </a:xfrm>
          <a:prstGeom prst="ellipse">
            <a:avLst/>
          </a:prstGeom>
          <a:solidFill>
            <a:srgbClr val="5B6B73"/>
          </a:solidFill>
          <a:ln/>
        </p:spPr>
      </p:sp>
      <p:sp>
        <p:nvSpPr>
          <p:cNvPr id="12" name="text_114"/>
          <p:cNvSpPr txBox="1"/>
          <p:nvPr/>
        </p:nvSpPr>
        <p:spPr>
          <a:xfrm>
            <a:off x="685800" y="3072384"/>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text_115"/>
          <p:cNvSpPr txBox="1"/>
          <p:nvPr/>
        </p:nvSpPr>
        <p:spPr>
          <a:xfrm>
            <a:off x="1280160" y="3072384"/>
            <a:ext cx="3017520" cy="411480"/>
          </a:xfrm>
          <a:prstGeom prst="rect">
            <a:avLst/>
          </a:prstGeom>
          <a:noFill/>
          <a:ln/>
        </p:spPr>
        <p:txBody>
          <a:bodyPr wrap="square" lIns="0" tIns="0" rIns="0" bIns="0" rtlCol="0" anchor="ctr"/>
          <a:lstStyle/>
          <a:p>
            <a:pPr indent="0" marL="0">
              <a:buNone/>
            </a:pPr>
            <a:r>
              <a:rPr lang="en-US" sz="1500" dirty="0">
                <a:solidFill>
                  <a:schemeClr val="tx1"/>
                </a:solidFill>
              </a:rPr>
              <a:t>Both are registered</a:t>
            </a:r>
            <a:endParaRPr lang="en-US" sz="1500" dirty="0"/>
          </a:p>
        </p:txBody>
      </p:sp>
      <p:sp>
        <p:nvSpPr>
          <p:cNvPr id="14" name="step_116"/>
          <p:cNvSpPr/>
          <p:nvPr/>
        </p:nvSpPr>
        <p:spPr>
          <a:xfrm>
            <a:off x="685800" y="3694176"/>
            <a:ext cx="411480" cy="411480"/>
          </a:xfrm>
          <a:prstGeom prst="ellipse">
            <a:avLst/>
          </a:prstGeom>
          <a:solidFill>
            <a:srgbClr val="E07A2F"/>
          </a:solidFill>
          <a:ln/>
        </p:spPr>
      </p:sp>
      <p:sp>
        <p:nvSpPr>
          <p:cNvPr id="15" name="text_117"/>
          <p:cNvSpPr txBox="1"/>
          <p:nvPr/>
        </p:nvSpPr>
        <p:spPr>
          <a:xfrm>
            <a:off x="685800" y="3694176"/>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6" name="text_118"/>
          <p:cNvSpPr txBox="1"/>
          <p:nvPr/>
        </p:nvSpPr>
        <p:spPr>
          <a:xfrm>
            <a:off x="1280160" y="3694176"/>
            <a:ext cx="3017520" cy="411480"/>
          </a:xfrm>
          <a:prstGeom prst="rect">
            <a:avLst/>
          </a:prstGeom>
          <a:noFill/>
          <a:ln/>
        </p:spPr>
        <p:txBody>
          <a:bodyPr wrap="square" lIns="0" tIns="0" rIns="0" bIns="0" rtlCol="0" anchor="ctr"/>
          <a:lstStyle/>
          <a:p>
            <a:pPr indent="0" marL="0">
              <a:buNone/>
            </a:pPr>
            <a:r>
              <a:rPr lang="en-US" sz="1500" b="1" dirty="0">
                <a:solidFill>
                  <a:schemeClr val="tx1"/>
                </a:solidFill>
              </a:rPr>
              <a:t>Class is over-full: 41 / 40</a:t>
            </a:r>
            <a:endParaRPr lang="en-US" sz="1500" dirty="0"/>
          </a:p>
        </p:txBody>
      </p:sp>
      <p:sp>
        <p:nvSpPr>
          <p:cNvPr id="17" name="card_119"/>
          <p:cNvSpPr/>
          <p:nvPr/>
        </p:nvSpPr>
        <p:spPr>
          <a:xfrm>
            <a:off x="4663440" y="1188720"/>
            <a:ext cx="4023360" cy="3291840"/>
          </a:xfrm>
          <a:prstGeom prst="roundRect">
            <a:avLst>
              <a:gd name="adj" fmla="val 2222"/>
            </a:avLst>
          </a:prstGeom>
          <a:solidFill>
            <a:schemeClr val="accent5"/>
          </a:solidFill>
          <a:ln/>
        </p:spPr>
      </p:sp>
      <p:sp>
        <p:nvSpPr>
          <p:cNvPr id="18" name="text_120"/>
          <p:cNvSpPr txBox="1"/>
          <p:nvPr/>
        </p:nvSpPr>
        <p:spPr>
          <a:xfrm>
            <a:off x="4892040" y="1325880"/>
            <a:ext cx="3566160" cy="365760"/>
          </a:xfrm>
          <a:prstGeom prst="rect">
            <a:avLst/>
          </a:prstGeom>
          <a:noFill/>
          <a:ln/>
        </p:spPr>
        <p:txBody>
          <a:bodyPr wrap="square" lIns="0" tIns="0" rIns="0" bIns="0" rtlCol="0" anchor="t"/>
          <a:lstStyle/>
          <a:p>
            <a:pPr indent="0" marL="0">
              <a:buNone/>
            </a:pPr>
            <a:r>
              <a:rPr lang="en-US" sz="1800" b="1" dirty="0">
                <a:solidFill>
                  <a:schemeClr val="tx2"/>
                </a:solidFill>
              </a:rPr>
              <a:t>My solution</a:t>
            </a:r>
            <a:endParaRPr lang="en-US" sz="1800" dirty="0"/>
          </a:p>
        </p:txBody>
      </p:sp>
      <p:sp>
        <p:nvSpPr>
          <p:cNvPr id="19" name="text_121"/>
          <p:cNvSpPr txBox="1"/>
          <p:nvPr/>
        </p:nvSpPr>
        <p:spPr>
          <a:xfrm>
            <a:off x="4892040" y="1828800"/>
            <a:ext cx="3611880" cy="777240"/>
          </a:xfrm>
          <a:prstGeom prst="rect">
            <a:avLst/>
          </a:prstGeom>
          <a:noFill/>
          <a:ln/>
        </p:spPr>
        <p:txBody>
          <a:bodyPr wrap="square" lIns="0" tIns="0" rIns="0" bIns="0" rtlCol="0" anchor="t"/>
          <a:lstStyle/>
          <a:p>
            <a:pPr indent="0" marL="0">
              <a:buNone/>
            </a:pPr>
            <a:r>
              <a:rPr lang="en-US" sz="1400" b="1" dirty="0">
                <a:solidFill>
                  <a:schemeClr val="tx2"/>
                </a:solidFill>
              </a:rPr>
              <a:t>All or nothing</a:t>
            </a:r>
            <a:endParaRPr lang="en-US" sz="1400" dirty="0"/>
          </a:p>
          <a:p>
            <a:pPr indent="0" marL="0">
              <a:buNone/>
            </a:pPr>
            <a:r>
              <a:rPr lang="en-US" sz="1400" dirty="0">
                <a:solidFill>
                  <a:schemeClr val="tx1"/>
                </a:solidFill>
              </a:rPr>
              <a:t>all checks and the sign-up happen together, or nothing is saved</a:t>
            </a:r>
            <a:endParaRPr lang="en-US" sz="1400" dirty="0"/>
          </a:p>
        </p:txBody>
      </p:sp>
      <p:sp>
        <p:nvSpPr>
          <p:cNvPr id="20" name="text_122"/>
          <p:cNvSpPr txBox="1"/>
          <p:nvPr/>
        </p:nvSpPr>
        <p:spPr>
          <a:xfrm>
            <a:off x="4892040" y="2697480"/>
            <a:ext cx="3611880" cy="777240"/>
          </a:xfrm>
          <a:prstGeom prst="rect">
            <a:avLst/>
          </a:prstGeom>
          <a:noFill/>
          <a:ln/>
        </p:spPr>
        <p:txBody>
          <a:bodyPr wrap="square" lIns="0" tIns="0" rIns="0" bIns="0" rtlCol="0" anchor="t"/>
          <a:lstStyle/>
          <a:p>
            <a:pPr indent="0" marL="0">
              <a:buNone/>
            </a:pPr>
            <a:r>
              <a:rPr lang="en-US" sz="1400" b="1" dirty="0">
                <a:solidFill>
                  <a:schemeClr val="tx2"/>
                </a:solidFill>
              </a:rPr>
              <a:t>A short lock</a:t>
            </a:r>
            <a:endParaRPr lang="en-US" sz="1400" dirty="0"/>
          </a:p>
          <a:p>
            <a:pPr indent="0" marL="0">
              <a:buNone/>
            </a:pPr>
            <a:r>
              <a:rPr lang="en-US" sz="1400" dirty="0">
                <a:solidFill>
                  <a:schemeClr val="tx1"/>
                </a:solidFill>
              </a:rPr>
              <a:t>the class is locked for a moment, so Student B waits for Student A</a:t>
            </a:r>
            <a:endParaRPr lang="en-US" sz="1400" dirty="0"/>
          </a:p>
        </p:txBody>
      </p:sp>
      <p:sp>
        <p:nvSpPr>
          <p:cNvPr id="21" name="text_123"/>
          <p:cNvSpPr txBox="1"/>
          <p:nvPr/>
        </p:nvSpPr>
        <p:spPr>
          <a:xfrm>
            <a:off x="4892040" y="3566160"/>
            <a:ext cx="3611880" cy="777240"/>
          </a:xfrm>
          <a:prstGeom prst="rect">
            <a:avLst/>
          </a:prstGeom>
          <a:noFill/>
          <a:ln/>
        </p:spPr>
        <p:txBody>
          <a:bodyPr wrap="square" lIns="0" tIns="0" rIns="0" bIns="0" rtlCol="0" anchor="t"/>
          <a:lstStyle/>
          <a:p>
            <a:pPr indent="0" marL="0">
              <a:buNone/>
            </a:pPr>
            <a:r>
              <a:rPr lang="en-US" sz="1400" b="1" dirty="0">
                <a:solidFill>
                  <a:schemeClr val="tx2"/>
                </a:solidFill>
              </a:rPr>
              <a:t>A safety rule</a:t>
            </a:r>
            <a:endParaRPr lang="en-US" sz="1400" dirty="0"/>
          </a:p>
          <a:p>
            <a:pPr indent="0" marL="0">
              <a:buNone/>
            </a:pPr>
            <a:r>
              <a:rPr lang="en-US" sz="1400" dirty="0">
                <a:solidFill>
                  <a:schemeClr val="tx1"/>
                </a:solidFill>
              </a:rPr>
              <a:t>the database never allows more students than seats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Challenge 2: timetable clashes</a:t>
            </a:r>
            <a:endParaRPr lang="en-US" sz="3000" dirty="0"/>
          </a:p>
        </p:txBody>
      </p:sp>
      <p:sp>
        <p:nvSpPr>
          <p:cNvPr id="3" name="text_124"/>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600" dirty="0">
                <a:solidFill>
                  <a:schemeClr val="accent4"/>
                </a:solidFill>
              </a:rPr>
              <a:t>Two classes clash only if all three conditions are true</a:t>
            </a:r>
            <a:endParaRPr lang="en-US" sz="1600" dirty="0"/>
          </a:p>
        </p:txBody>
      </p:sp>
      <p:sp>
        <p:nvSpPr>
          <p:cNvPr id="4" name="card_125"/>
          <p:cNvSpPr/>
          <p:nvPr/>
        </p:nvSpPr>
        <p:spPr>
          <a:xfrm>
            <a:off x="457200" y="1645920"/>
            <a:ext cx="2651760" cy="2011680"/>
          </a:xfrm>
          <a:prstGeom prst="roundRect">
            <a:avLst>
              <a:gd name="adj" fmla="val 3636"/>
            </a:avLst>
          </a:prstGeom>
          <a:solidFill>
            <a:schemeClr val="bg2"/>
          </a:solidFill>
          <a:ln/>
        </p:spPr>
      </p:sp>
      <p:sp>
        <p:nvSpPr>
          <p:cNvPr id="5" name="icon-bg_126"/>
          <p:cNvSpPr/>
          <p:nvPr/>
        </p:nvSpPr>
        <p:spPr>
          <a:xfrm>
            <a:off x="685800" y="1874520"/>
            <a:ext cx="640080" cy="640080"/>
          </a:xfrm>
          <a:prstGeom prst="ellipse">
            <a:avLst/>
          </a:prstGeom>
          <a:solidFill>
            <a:srgbClr val="1F4E5F"/>
          </a:solidFill>
          <a:ln/>
        </p:spPr>
      </p:sp>
      <p:pic>
        <p:nvPicPr>
          <p:cNvPr id="6" name="icon_127" descr="preencoded.png">    </p:cNvPr>
          <p:cNvPicPr>
            <a:picLocks noChangeAspect="1"/>
          </p:cNvPicPr>
          <p:nvPr/>
        </p:nvPicPr>
        <p:blipFill>
          <a:blip r:embed="rId1"/>
          <a:stretch>
            <a:fillRect/>
          </a:stretch>
        </p:blipFill>
        <p:spPr>
          <a:xfrm>
            <a:off x="845820" y="2034540"/>
            <a:ext cx="320040" cy="320040"/>
          </a:xfrm>
          <a:prstGeom prst="rect">
            <a:avLst/>
          </a:prstGeom>
        </p:spPr>
      </p:pic>
      <p:sp>
        <p:nvSpPr>
          <p:cNvPr id="7" name="text_128"/>
          <p:cNvSpPr txBox="1"/>
          <p:nvPr/>
        </p:nvSpPr>
        <p:spPr>
          <a:xfrm>
            <a:off x="685800" y="2651760"/>
            <a:ext cx="2286000" cy="365760"/>
          </a:xfrm>
          <a:prstGeom prst="rect">
            <a:avLst/>
          </a:prstGeom>
          <a:noFill/>
          <a:ln/>
        </p:spPr>
        <p:txBody>
          <a:bodyPr wrap="square" lIns="0" tIns="0" rIns="0" bIns="0" rtlCol="0" anchor="t"/>
          <a:lstStyle/>
          <a:p>
            <a:pPr indent="0" marL="0">
              <a:buNone/>
            </a:pPr>
            <a:r>
              <a:rPr lang="en-US" sz="1700" b="1" dirty="0">
                <a:solidFill>
                  <a:schemeClr val="tx2"/>
                </a:solidFill>
              </a:rPr>
              <a:t>Same day</a:t>
            </a:r>
            <a:endParaRPr lang="en-US" sz="1700" dirty="0"/>
          </a:p>
        </p:txBody>
      </p:sp>
      <p:sp>
        <p:nvSpPr>
          <p:cNvPr id="8" name="text_129"/>
          <p:cNvSpPr txBox="1"/>
          <p:nvPr/>
        </p:nvSpPr>
        <p:spPr>
          <a:xfrm>
            <a:off x="685800" y="3017520"/>
            <a:ext cx="2286000" cy="594360"/>
          </a:xfrm>
          <a:prstGeom prst="rect">
            <a:avLst/>
          </a:prstGeom>
          <a:noFill/>
          <a:ln/>
        </p:spPr>
        <p:txBody>
          <a:bodyPr wrap="square" lIns="0" tIns="0" rIns="0" bIns="0" rtlCol="0" anchor="t"/>
          <a:lstStyle/>
          <a:p>
            <a:pPr indent="0" marL="0">
              <a:buNone/>
            </a:pPr>
            <a:r>
              <a:rPr lang="en-US" sz="1300" dirty="0">
                <a:solidFill>
                  <a:schemeClr val="tx1"/>
                </a:solidFill>
              </a:rPr>
              <a:t>Both meet on, for example, Monday</a:t>
            </a:r>
            <a:endParaRPr lang="en-US" sz="1300" dirty="0"/>
          </a:p>
        </p:txBody>
      </p:sp>
      <p:sp>
        <p:nvSpPr>
          <p:cNvPr id="9" name="card_130"/>
          <p:cNvSpPr/>
          <p:nvPr/>
        </p:nvSpPr>
        <p:spPr>
          <a:xfrm>
            <a:off x="3246120" y="1645920"/>
            <a:ext cx="2651760" cy="2011680"/>
          </a:xfrm>
          <a:prstGeom prst="roundRect">
            <a:avLst>
              <a:gd name="adj" fmla="val 3636"/>
            </a:avLst>
          </a:prstGeom>
          <a:solidFill>
            <a:schemeClr val="bg2"/>
          </a:solidFill>
          <a:ln/>
        </p:spPr>
      </p:sp>
      <p:sp>
        <p:nvSpPr>
          <p:cNvPr id="10" name="icon-bg_131"/>
          <p:cNvSpPr/>
          <p:nvPr/>
        </p:nvSpPr>
        <p:spPr>
          <a:xfrm>
            <a:off x="3474720" y="1874520"/>
            <a:ext cx="640080" cy="640080"/>
          </a:xfrm>
          <a:prstGeom prst="ellipse">
            <a:avLst/>
          </a:prstGeom>
          <a:solidFill>
            <a:srgbClr val="1F4E5F"/>
          </a:solidFill>
          <a:ln/>
        </p:spPr>
      </p:sp>
      <p:pic>
        <p:nvPicPr>
          <p:cNvPr id="11" name="icon_132" descr="preencoded.png">    </p:cNvPr>
          <p:cNvPicPr>
            <a:picLocks noChangeAspect="1"/>
          </p:cNvPicPr>
          <p:nvPr/>
        </p:nvPicPr>
        <p:blipFill>
          <a:blip r:embed="rId2"/>
          <a:stretch>
            <a:fillRect/>
          </a:stretch>
        </p:blipFill>
        <p:spPr>
          <a:xfrm>
            <a:off x="3634740" y="2034540"/>
            <a:ext cx="320040" cy="320040"/>
          </a:xfrm>
          <a:prstGeom prst="rect">
            <a:avLst/>
          </a:prstGeom>
        </p:spPr>
      </p:pic>
      <p:sp>
        <p:nvSpPr>
          <p:cNvPr id="12" name="text_133"/>
          <p:cNvSpPr txBox="1"/>
          <p:nvPr/>
        </p:nvSpPr>
        <p:spPr>
          <a:xfrm>
            <a:off x="3474720" y="2651760"/>
            <a:ext cx="2286000" cy="365760"/>
          </a:xfrm>
          <a:prstGeom prst="rect">
            <a:avLst/>
          </a:prstGeom>
          <a:noFill/>
          <a:ln/>
        </p:spPr>
        <p:txBody>
          <a:bodyPr wrap="square" lIns="0" tIns="0" rIns="0" bIns="0" rtlCol="0" anchor="t"/>
          <a:lstStyle/>
          <a:p>
            <a:pPr indent="0" marL="0">
              <a:buNone/>
            </a:pPr>
            <a:r>
              <a:rPr lang="en-US" sz="1700" b="1" dirty="0">
                <a:solidFill>
                  <a:schemeClr val="tx2"/>
                </a:solidFill>
              </a:rPr>
              <a:t>Periods overlap</a:t>
            </a:r>
            <a:endParaRPr lang="en-US" sz="1700" dirty="0"/>
          </a:p>
        </p:txBody>
      </p:sp>
      <p:sp>
        <p:nvSpPr>
          <p:cNvPr id="13" name="text_134"/>
          <p:cNvSpPr txBox="1"/>
          <p:nvPr/>
        </p:nvSpPr>
        <p:spPr>
          <a:xfrm>
            <a:off x="3474720" y="3017520"/>
            <a:ext cx="2286000" cy="594360"/>
          </a:xfrm>
          <a:prstGeom prst="rect">
            <a:avLst/>
          </a:prstGeom>
          <a:noFill/>
          <a:ln/>
        </p:spPr>
        <p:txBody>
          <a:bodyPr wrap="square" lIns="0" tIns="0" rIns="0" bIns="0" rtlCol="0" anchor="t"/>
          <a:lstStyle/>
          <a:p>
            <a:pPr indent="0" marL="0">
              <a:buNone/>
            </a:pPr>
            <a:r>
              <a:rPr lang="en-US" sz="1300" dirty="0">
                <a:solidFill>
                  <a:schemeClr val="tx1"/>
                </a:solidFill>
              </a:rPr>
              <a:t>Their lesson times overlap, even by one period</a:t>
            </a:r>
            <a:endParaRPr lang="en-US" sz="1300" dirty="0"/>
          </a:p>
        </p:txBody>
      </p:sp>
      <p:sp>
        <p:nvSpPr>
          <p:cNvPr id="14" name="card_135"/>
          <p:cNvSpPr/>
          <p:nvPr/>
        </p:nvSpPr>
        <p:spPr>
          <a:xfrm>
            <a:off x="6035040" y="1645920"/>
            <a:ext cx="2651760" cy="2011680"/>
          </a:xfrm>
          <a:prstGeom prst="roundRect">
            <a:avLst>
              <a:gd name="adj" fmla="val 3636"/>
            </a:avLst>
          </a:prstGeom>
          <a:solidFill>
            <a:schemeClr val="bg2"/>
          </a:solidFill>
          <a:ln/>
        </p:spPr>
      </p:sp>
      <p:sp>
        <p:nvSpPr>
          <p:cNvPr id="15" name="icon-bg_136"/>
          <p:cNvSpPr/>
          <p:nvPr/>
        </p:nvSpPr>
        <p:spPr>
          <a:xfrm>
            <a:off x="6263640" y="1874520"/>
            <a:ext cx="640080" cy="640080"/>
          </a:xfrm>
          <a:prstGeom prst="ellipse">
            <a:avLst/>
          </a:prstGeom>
          <a:solidFill>
            <a:srgbClr val="1F4E5F"/>
          </a:solidFill>
          <a:ln/>
        </p:spPr>
      </p:sp>
      <p:pic>
        <p:nvPicPr>
          <p:cNvPr id="16" name="icon_137" descr="preencoded.png">    </p:cNvPr>
          <p:cNvPicPr>
            <a:picLocks noChangeAspect="1"/>
          </p:cNvPicPr>
          <p:nvPr/>
        </p:nvPicPr>
        <p:blipFill>
          <a:blip r:embed="rId3"/>
          <a:stretch>
            <a:fillRect/>
          </a:stretch>
        </p:blipFill>
        <p:spPr>
          <a:xfrm>
            <a:off x="6423660" y="2034540"/>
            <a:ext cx="320040" cy="320040"/>
          </a:xfrm>
          <a:prstGeom prst="rect">
            <a:avLst/>
          </a:prstGeom>
        </p:spPr>
      </p:pic>
      <p:sp>
        <p:nvSpPr>
          <p:cNvPr id="17" name="text_138"/>
          <p:cNvSpPr txBox="1"/>
          <p:nvPr/>
        </p:nvSpPr>
        <p:spPr>
          <a:xfrm>
            <a:off x="6263640" y="2651760"/>
            <a:ext cx="2286000" cy="365760"/>
          </a:xfrm>
          <a:prstGeom prst="rect">
            <a:avLst/>
          </a:prstGeom>
          <a:noFill/>
          <a:ln/>
        </p:spPr>
        <p:txBody>
          <a:bodyPr wrap="square" lIns="0" tIns="0" rIns="0" bIns="0" rtlCol="0" anchor="t"/>
          <a:lstStyle/>
          <a:p>
            <a:pPr indent="0" marL="0">
              <a:buNone/>
            </a:pPr>
            <a:r>
              <a:rPr lang="en-US" sz="1700" b="1" dirty="0">
                <a:solidFill>
                  <a:schemeClr val="tx2"/>
                </a:solidFill>
              </a:rPr>
              <a:t>Weeks match</a:t>
            </a:r>
            <a:endParaRPr lang="en-US" sz="1700" dirty="0"/>
          </a:p>
        </p:txBody>
      </p:sp>
      <p:sp>
        <p:nvSpPr>
          <p:cNvPr id="18" name="text_139"/>
          <p:cNvSpPr txBox="1"/>
          <p:nvPr/>
        </p:nvSpPr>
        <p:spPr>
          <a:xfrm>
            <a:off x="6263640" y="3017520"/>
            <a:ext cx="2286000" cy="594360"/>
          </a:xfrm>
          <a:prstGeom prst="rect">
            <a:avLst/>
          </a:prstGeom>
          <a:noFill/>
          <a:ln/>
        </p:spPr>
        <p:txBody>
          <a:bodyPr wrap="square" lIns="0" tIns="0" rIns="0" bIns="0" rtlCol="0" anchor="t"/>
          <a:lstStyle/>
          <a:p>
            <a:pPr indent="0" marL="0">
              <a:buNone/>
            </a:pPr>
            <a:r>
              <a:rPr lang="en-US" sz="1300" dirty="0">
                <a:solidFill>
                  <a:schemeClr val="tx1"/>
                </a:solidFill>
              </a:rPr>
              <a:t>An odd-week class never clashes with an even-week class</a:t>
            </a:r>
            <a:endParaRPr lang="en-US" sz="1300" dirty="0"/>
          </a:p>
        </p:txBody>
      </p:sp>
      <p:sp>
        <p:nvSpPr>
          <p:cNvPr id="19" name="card_140"/>
          <p:cNvSpPr/>
          <p:nvPr/>
        </p:nvSpPr>
        <p:spPr>
          <a:xfrm>
            <a:off x="457200" y="3840480"/>
            <a:ext cx="8229600" cy="640080"/>
          </a:xfrm>
          <a:prstGeom prst="roundRect">
            <a:avLst>
              <a:gd name="adj" fmla="val 11429"/>
            </a:avLst>
          </a:prstGeom>
          <a:solidFill>
            <a:schemeClr val="accent5"/>
          </a:solidFill>
          <a:ln/>
        </p:spPr>
      </p:sp>
      <p:sp>
        <p:nvSpPr>
          <p:cNvPr id="20" name="text_141"/>
          <p:cNvSpPr txBox="1"/>
          <p:nvPr/>
        </p:nvSpPr>
        <p:spPr>
          <a:xfrm>
            <a:off x="685800" y="3840480"/>
            <a:ext cx="7772400" cy="640080"/>
          </a:xfrm>
          <a:prstGeom prst="rect">
            <a:avLst/>
          </a:prstGeom>
          <a:noFill/>
          <a:ln/>
        </p:spPr>
        <p:txBody>
          <a:bodyPr wrap="square" lIns="0" tIns="0" rIns="0" bIns="0" rtlCol="0" anchor="ctr"/>
          <a:lstStyle/>
          <a:p>
            <a:pPr indent="0" marL="0">
              <a:buNone/>
            </a:pPr>
            <a:r>
              <a:rPr lang="en-US" sz="1500" b="1" dirty="0">
                <a:solidFill>
                  <a:schemeClr val="tx2"/>
                </a:solidFill>
              </a:rPr>
              <a:t>Result: </a:t>
            </a:r>
            <a:pPr indent="0" marL="0">
              <a:buNone/>
            </a:pPr>
            <a:r>
              <a:rPr lang="en-US" sz="1500" dirty="0">
                <a:solidFill>
                  <a:schemeClr val="tx1"/>
                </a:solidFill>
              </a:rPr>
              <a:t>a clear message that names the clashing class, so the student knows exactly what to change.</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How I built it</a:t>
            </a:r>
            <a:endParaRPr lang="en-US" sz="3000" dirty="0"/>
          </a:p>
        </p:txBody>
      </p:sp>
      <p:sp>
        <p:nvSpPr>
          <p:cNvPr id="3" name="timeline_142"/>
          <p:cNvSpPr/>
          <p:nvPr/>
        </p:nvSpPr>
        <p:spPr>
          <a:xfrm>
            <a:off x="1188720" y="1965960"/>
            <a:ext cx="6766560" cy="0"/>
          </a:xfrm>
          <a:prstGeom prst="line">
            <a:avLst/>
          </a:prstGeom>
          <a:noFill/>
          <a:ln w="38100">
            <a:solidFill>
              <a:srgbClr val="C9D6DA"/>
            </a:solidFill>
            <a:prstDash val="solid"/>
          </a:ln>
        </p:spPr>
      </p:sp>
      <p:sp>
        <p:nvSpPr>
          <p:cNvPr id="4" name="dot_143"/>
          <p:cNvSpPr/>
          <p:nvPr/>
        </p:nvSpPr>
        <p:spPr>
          <a:xfrm>
            <a:off x="1005840" y="1783080"/>
            <a:ext cx="365760" cy="365760"/>
          </a:xfrm>
          <a:prstGeom prst="ellipse">
            <a:avLst/>
          </a:prstGeom>
          <a:solidFill>
            <a:srgbClr val="E07A2F"/>
          </a:solidFill>
          <a:ln w="38100">
            <a:solidFill>
              <a:srgbClr val="FFFFFF"/>
            </a:solidFill>
            <a:prstDash val="solid"/>
          </a:ln>
        </p:spPr>
      </p:sp>
      <p:sp>
        <p:nvSpPr>
          <p:cNvPr id="5" name="text_144"/>
          <p:cNvSpPr txBox="1"/>
          <p:nvPr/>
        </p:nvSpPr>
        <p:spPr>
          <a:xfrm>
            <a:off x="457200" y="1325880"/>
            <a:ext cx="1463040" cy="320040"/>
          </a:xfrm>
          <a:prstGeom prst="rect">
            <a:avLst/>
          </a:prstGeom>
          <a:noFill/>
          <a:ln/>
        </p:spPr>
        <p:txBody>
          <a:bodyPr wrap="square" lIns="0" tIns="0" rIns="0" bIns="0" rtlCol="0" anchor="t"/>
          <a:lstStyle/>
          <a:p>
            <a:pPr algn="ctr" indent="0" marL="0">
              <a:buNone/>
            </a:pPr>
            <a:r>
              <a:rPr lang="en-US" sz="1200" dirty="0">
                <a:solidFill>
                  <a:schemeClr val="accent4"/>
                </a:solidFill>
              </a:rPr>
              <a:t>Jan 2026</a:t>
            </a:r>
            <a:endParaRPr lang="en-US" sz="1200" dirty="0"/>
          </a:p>
        </p:txBody>
      </p:sp>
      <p:sp>
        <p:nvSpPr>
          <p:cNvPr id="6" name="text_145"/>
          <p:cNvSpPr txBox="1"/>
          <p:nvPr/>
        </p:nvSpPr>
        <p:spPr>
          <a:xfrm>
            <a:off x="457200" y="2331720"/>
            <a:ext cx="1463040" cy="365760"/>
          </a:xfrm>
          <a:prstGeom prst="rect">
            <a:avLst/>
          </a:prstGeom>
          <a:noFill/>
          <a:ln/>
        </p:spPr>
        <p:txBody>
          <a:bodyPr wrap="square" lIns="0" tIns="0" rIns="0" bIns="0" rtlCol="0" anchor="t"/>
          <a:lstStyle/>
          <a:p>
            <a:pPr algn="ctr" indent="0" marL="0">
              <a:buNone/>
            </a:pPr>
            <a:r>
              <a:rPr lang="en-US" sz="1700" b="1" dirty="0">
                <a:solidFill>
                  <a:schemeClr val="tx2"/>
                </a:solidFill>
              </a:rPr>
              <a:t>Planning</a:t>
            </a:r>
            <a:endParaRPr lang="en-US" sz="1700" dirty="0"/>
          </a:p>
        </p:txBody>
      </p:sp>
      <p:sp>
        <p:nvSpPr>
          <p:cNvPr id="7" name="text_146"/>
          <p:cNvSpPr txBox="1"/>
          <p:nvPr/>
        </p:nvSpPr>
        <p:spPr>
          <a:xfrm>
            <a:off x="457200" y="2743200"/>
            <a:ext cx="1463040" cy="1097280"/>
          </a:xfrm>
          <a:prstGeom prst="rect">
            <a:avLst/>
          </a:prstGeom>
          <a:noFill/>
          <a:ln/>
        </p:spPr>
        <p:txBody>
          <a:bodyPr wrap="square" lIns="0" tIns="0" rIns="0" bIns="0" rtlCol="0" anchor="t"/>
          <a:lstStyle/>
          <a:p>
            <a:pPr algn="ctr" indent="0" marL="0">
              <a:buNone/>
            </a:pPr>
            <a:r>
              <a:rPr lang="en-US" sz="1300" dirty="0">
                <a:solidFill>
                  <a:schemeClr val="tx1"/>
                </a:solidFill>
              </a:rPr>
              <a:t>Looked at the real process, wrote 9 rules</a:t>
            </a:r>
            <a:endParaRPr lang="en-US" sz="1300" dirty="0"/>
          </a:p>
        </p:txBody>
      </p:sp>
      <p:sp>
        <p:nvSpPr>
          <p:cNvPr id="8" name="dot_147"/>
          <p:cNvSpPr/>
          <p:nvPr/>
        </p:nvSpPr>
        <p:spPr>
          <a:xfrm>
            <a:off x="2697480" y="1783080"/>
            <a:ext cx="365760" cy="365760"/>
          </a:xfrm>
          <a:prstGeom prst="ellipse">
            <a:avLst/>
          </a:prstGeom>
          <a:solidFill>
            <a:srgbClr val="1F4E5F"/>
          </a:solidFill>
          <a:ln w="38100">
            <a:solidFill>
              <a:srgbClr val="FFFFFF"/>
            </a:solidFill>
            <a:prstDash val="solid"/>
          </a:ln>
        </p:spPr>
      </p:sp>
      <p:sp>
        <p:nvSpPr>
          <p:cNvPr id="9" name="text_148"/>
          <p:cNvSpPr txBox="1"/>
          <p:nvPr/>
        </p:nvSpPr>
        <p:spPr>
          <a:xfrm>
            <a:off x="2148840" y="1325880"/>
            <a:ext cx="1463040" cy="320040"/>
          </a:xfrm>
          <a:prstGeom prst="rect">
            <a:avLst/>
          </a:prstGeom>
          <a:noFill/>
          <a:ln/>
        </p:spPr>
        <p:txBody>
          <a:bodyPr wrap="square" lIns="0" tIns="0" rIns="0" bIns="0" rtlCol="0" anchor="t"/>
          <a:lstStyle/>
          <a:p>
            <a:pPr algn="ctr" indent="0" marL="0">
              <a:buNone/>
            </a:pPr>
            <a:r>
              <a:rPr lang="en-US" sz="1200" dirty="0">
                <a:solidFill>
                  <a:schemeClr val="accent4"/>
                </a:solidFill>
              </a:rPr>
              <a:t>Mar 2026</a:t>
            </a:r>
            <a:endParaRPr lang="en-US" sz="1200" dirty="0"/>
          </a:p>
        </p:txBody>
      </p:sp>
      <p:sp>
        <p:nvSpPr>
          <p:cNvPr id="10" name="text_149"/>
          <p:cNvSpPr txBox="1"/>
          <p:nvPr/>
        </p:nvSpPr>
        <p:spPr>
          <a:xfrm>
            <a:off x="2148840" y="2331720"/>
            <a:ext cx="1463040" cy="365760"/>
          </a:xfrm>
          <a:prstGeom prst="rect">
            <a:avLst/>
          </a:prstGeom>
          <a:noFill/>
          <a:ln/>
        </p:spPr>
        <p:txBody>
          <a:bodyPr wrap="square" lIns="0" tIns="0" rIns="0" bIns="0" rtlCol="0" anchor="t"/>
          <a:lstStyle/>
          <a:p>
            <a:pPr algn="ctr" indent="0" marL="0">
              <a:buNone/>
            </a:pPr>
            <a:r>
              <a:rPr lang="en-US" sz="1700" b="1" dirty="0">
                <a:solidFill>
                  <a:schemeClr val="tx2"/>
                </a:solidFill>
              </a:rPr>
              <a:t>Back end</a:t>
            </a:r>
            <a:endParaRPr lang="en-US" sz="1700" dirty="0"/>
          </a:p>
        </p:txBody>
      </p:sp>
      <p:sp>
        <p:nvSpPr>
          <p:cNvPr id="11" name="text_150"/>
          <p:cNvSpPr txBox="1"/>
          <p:nvPr/>
        </p:nvSpPr>
        <p:spPr>
          <a:xfrm>
            <a:off x="2148840" y="2743200"/>
            <a:ext cx="1463040" cy="1097280"/>
          </a:xfrm>
          <a:prstGeom prst="rect">
            <a:avLst/>
          </a:prstGeom>
          <a:noFill/>
          <a:ln/>
        </p:spPr>
        <p:txBody>
          <a:bodyPr wrap="square" lIns="0" tIns="0" rIns="0" bIns="0" rtlCol="0" anchor="t"/>
          <a:lstStyle/>
          <a:p>
            <a:pPr algn="ctr" indent="0" marL="0">
              <a:buNone/>
            </a:pPr>
            <a:r>
              <a:rPr lang="en-US" sz="1300" dirty="0">
                <a:solidFill>
                  <a:schemeClr val="tx1"/>
                </a:solidFill>
              </a:rPr>
              <a:t>Database and all the registration rules</a:t>
            </a:r>
            <a:endParaRPr lang="en-US" sz="1300" dirty="0"/>
          </a:p>
        </p:txBody>
      </p:sp>
      <p:sp>
        <p:nvSpPr>
          <p:cNvPr id="12" name="dot_151"/>
          <p:cNvSpPr/>
          <p:nvPr/>
        </p:nvSpPr>
        <p:spPr>
          <a:xfrm>
            <a:off x="4389120" y="1783080"/>
            <a:ext cx="365760" cy="365760"/>
          </a:xfrm>
          <a:prstGeom prst="ellipse">
            <a:avLst/>
          </a:prstGeom>
          <a:solidFill>
            <a:srgbClr val="1F4E5F"/>
          </a:solidFill>
          <a:ln w="38100">
            <a:solidFill>
              <a:srgbClr val="FFFFFF"/>
            </a:solidFill>
            <a:prstDash val="solid"/>
          </a:ln>
        </p:spPr>
      </p:sp>
      <p:sp>
        <p:nvSpPr>
          <p:cNvPr id="13" name="text_152"/>
          <p:cNvSpPr txBox="1"/>
          <p:nvPr/>
        </p:nvSpPr>
        <p:spPr>
          <a:xfrm>
            <a:off x="3840480" y="1325880"/>
            <a:ext cx="1463040" cy="320040"/>
          </a:xfrm>
          <a:prstGeom prst="rect">
            <a:avLst/>
          </a:prstGeom>
          <a:noFill/>
          <a:ln/>
        </p:spPr>
        <p:txBody>
          <a:bodyPr wrap="square" lIns="0" tIns="0" rIns="0" bIns="0" rtlCol="0" anchor="t"/>
          <a:lstStyle/>
          <a:p>
            <a:pPr algn="ctr" indent="0" marL="0">
              <a:buNone/>
            </a:pPr>
            <a:r>
              <a:rPr lang="en-US" sz="1200" dirty="0">
                <a:solidFill>
                  <a:schemeClr val="accent4"/>
                </a:solidFill>
              </a:rPr>
              <a:t>Mar 2026</a:t>
            </a:r>
            <a:endParaRPr lang="en-US" sz="1200" dirty="0"/>
          </a:p>
        </p:txBody>
      </p:sp>
      <p:sp>
        <p:nvSpPr>
          <p:cNvPr id="14" name="text_153"/>
          <p:cNvSpPr txBox="1"/>
          <p:nvPr/>
        </p:nvSpPr>
        <p:spPr>
          <a:xfrm>
            <a:off x="3840480" y="2331720"/>
            <a:ext cx="1463040" cy="365760"/>
          </a:xfrm>
          <a:prstGeom prst="rect">
            <a:avLst/>
          </a:prstGeom>
          <a:noFill/>
          <a:ln/>
        </p:spPr>
        <p:txBody>
          <a:bodyPr wrap="square" lIns="0" tIns="0" rIns="0" bIns="0" rtlCol="0" anchor="t"/>
          <a:lstStyle/>
          <a:p>
            <a:pPr algn="ctr" indent="0" marL="0">
              <a:buNone/>
            </a:pPr>
            <a:r>
              <a:rPr lang="en-US" sz="1700" b="1" dirty="0">
                <a:solidFill>
                  <a:schemeClr val="tx2"/>
                </a:solidFill>
              </a:rPr>
              <a:t>Reorganising</a:t>
            </a:r>
            <a:endParaRPr lang="en-US" sz="1700" dirty="0"/>
          </a:p>
        </p:txBody>
      </p:sp>
      <p:sp>
        <p:nvSpPr>
          <p:cNvPr id="15" name="text_154"/>
          <p:cNvSpPr txBox="1"/>
          <p:nvPr/>
        </p:nvSpPr>
        <p:spPr>
          <a:xfrm>
            <a:off x="3840480" y="2743200"/>
            <a:ext cx="1463040" cy="1097280"/>
          </a:xfrm>
          <a:prstGeom prst="rect">
            <a:avLst/>
          </a:prstGeom>
          <a:noFill/>
          <a:ln/>
        </p:spPr>
        <p:txBody>
          <a:bodyPr wrap="square" lIns="0" tIns="0" rIns="0" bIns="0" rtlCol="0" anchor="t"/>
          <a:lstStyle/>
          <a:p>
            <a:pPr algn="ctr" indent="0" marL="0">
              <a:buNone/>
            </a:pPr>
            <a:r>
              <a:rPr lang="en-US" sz="1300" dirty="0">
                <a:solidFill>
                  <a:schemeClr val="tx1"/>
                </a:solidFill>
              </a:rPr>
              <a:t>One clean project for all the code</a:t>
            </a:r>
            <a:endParaRPr lang="en-US" sz="1300" dirty="0"/>
          </a:p>
        </p:txBody>
      </p:sp>
      <p:sp>
        <p:nvSpPr>
          <p:cNvPr id="16" name="dot_155"/>
          <p:cNvSpPr/>
          <p:nvPr/>
        </p:nvSpPr>
        <p:spPr>
          <a:xfrm>
            <a:off x="6080760" y="1783080"/>
            <a:ext cx="365760" cy="365760"/>
          </a:xfrm>
          <a:prstGeom prst="ellipse">
            <a:avLst/>
          </a:prstGeom>
          <a:solidFill>
            <a:srgbClr val="1F4E5F"/>
          </a:solidFill>
          <a:ln w="38100">
            <a:solidFill>
              <a:srgbClr val="FFFFFF"/>
            </a:solidFill>
            <a:prstDash val="solid"/>
          </a:ln>
        </p:spPr>
      </p:sp>
      <p:sp>
        <p:nvSpPr>
          <p:cNvPr id="17" name="text_156"/>
          <p:cNvSpPr txBox="1"/>
          <p:nvPr/>
        </p:nvSpPr>
        <p:spPr>
          <a:xfrm>
            <a:off x="5532120" y="1325880"/>
            <a:ext cx="1463040" cy="320040"/>
          </a:xfrm>
          <a:prstGeom prst="rect">
            <a:avLst/>
          </a:prstGeom>
          <a:noFill/>
          <a:ln/>
        </p:spPr>
        <p:txBody>
          <a:bodyPr wrap="square" lIns="0" tIns="0" rIns="0" bIns="0" rtlCol="0" anchor="t"/>
          <a:lstStyle/>
          <a:p>
            <a:pPr algn="ctr" indent="0" marL="0">
              <a:buNone/>
            </a:pPr>
            <a:r>
              <a:rPr lang="en-US" sz="1200" dirty="0">
                <a:solidFill>
                  <a:schemeClr val="accent4"/>
                </a:solidFill>
              </a:rPr>
              <a:t>Mar 2026</a:t>
            </a:r>
            <a:endParaRPr lang="en-US" sz="1200" dirty="0"/>
          </a:p>
        </p:txBody>
      </p:sp>
      <p:sp>
        <p:nvSpPr>
          <p:cNvPr id="18" name="text_157"/>
          <p:cNvSpPr txBox="1"/>
          <p:nvPr/>
        </p:nvSpPr>
        <p:spPr>
          <a:xfrm>
            <a:off x="5532120" y="2331720"/>
            <a:ext cx="1463040" cy="365760"/>
          </a:xfrm>
          <a:prstGeom prst="rect">
            <a:avLst/>
          </a:prstGeom>
          <a:noFill/>
          <a:ln/>
        </p:spPr>
        <p:txBody>
          <a:bodyPr wrap="square" lIns="0" tIns="0" rIns="0" bIns="0" rtlCol="0" anchor="t"/>
          <a:lstStyle/>
          <a:p>
            <a:pPr algn="ctr" indent="0" marL="0">
              <a:buNone/>
            </a:pPr>
            <a:r>
              <a:rPr lang="en-US" sz="1700" b="1" dirty="0">
                <a:solidFill>
                  <a:schemeClr val="tx2"/>
                </a:solidFill>
              </a:rPr>
              <a:t>Front end</a:t>
            </a:r>
            <a:endParaRPr lang="en-US" sz="1700" dirty="0"/>
          </a:p>
        </p:txBody>
      </p:sp>
      <p:sp>
        <p:nvSpPr>
          <p:cNvPr id="19" name="text_158"/>
          <p:cNvSpPr txBox="1"/>
          <p:nvPr/>
        </p:nvSpPr>
        <p:spPr>
          <a:xfrm>
            <a:off x="5532120" y="2743200"/>
            <a:ext cx="1463040" cy="1097280"/>
          </a:xfrm>
          <a:prstGeom prst="rect">
            <a:avLst/>
          </a:prstGeom>
          <a:noFill/>
          <a:ln/>
        </p:spPr>
        <p:txBody>
          <a:bodyPr wrap="square" lIns="0" tIns="0" rIns="0" bIns="0" rtlCol="0" anchor="t"/>
          <a:lstStyle/>
          <a:p>
            <a:pPr algn="ctr" indent="0" marL="0">
              <a:buNone/>
            </a:pPr>
            <a:r>
              <a:rPr lang="en-US" sz="1300" dirty="0">
                <a:solidFill>
                  <a:schemeClr val="tx1"/>
                </a:solidFill>
              </a:rPr>
              <a:t>Student and admin websites, dark mode</a:t>
            </a:r>
            <a:endParaRPr lang="en-US" sz="1300" dirty="0"/>
          </a:p>
        </p:txBody>
      </p:sp>
      <p:sp>
        <p:nvSpPr>
          <p:cNvPr id="20" name="dot_159"/>
          <p:cNvSpPr/>
          <p:nvPr/>
        </p:nvSpPr>
        <p:spPr>
          <a:xfrm>
            <a:off x="7772400" y="1783080"/>
            <a:ext cx="365760" cy="365760"/>
          </a:xfrm>
          <a:prstGeom prst="ellipse">
            <a:avLst/>
          </a:prstGeom>
          <a:solidFill>
            <a:srgbClr val="1F4E5F"/>
          </a:solidFill>
          <a:ln w="38100">
            <a:solidFill>
              <a:srgbClr val="FFFFFF"/>
            </a:solidFill>
            <a:prstDash val="solid"/>
          </a:ln>
        </p:spPr>
      </p:sp>
      <p:sp>
        <p:nvSpPr>
          <p:cNvPr id="21" name="text_160"/>
          <p:cNvSpPr txBox="1"/>
          <p:nvPr/>
        </p:nvSpPr>
        <p:spPr>
          <a:xfrm>
            <a:off x="7223760" y="1325880"/>
            <a:ext cx="1463040" cy="320040"/>
          </a:xfrm>
          <a:prstGeom prst="rect">
            <a:avLst/>
          </a:prstGeom>
          <a:noFill/>
          <a:ln/>
        </p:spPr>
        <p:txBody>
          <a:bodyPr wrap="square" lIns="0" tIns="0" rIns="0" bIns="0" rtlCol="0" anchor="t"/>
          <a:lstStyle/>
          <a:p>
            <a:pPr algn="ctr" indent="0" marL="0">
              <a:buNone/>
            </a:pPr>
            <a:r>
              <a:rPr lang="en-US" sz="1200" dirty="0">
                <a:solidFill>
                  <a:schemeClr val="accent4"/>
                </a:solidFill>
              </a:rPr>
              <a:t>Mar 2026</a:t>
            </a:r>
            <a:endParaRPr lang="en-US" sz="1200" dirty="0"/>
          </a:p>
        </p:txBody>
      </p:sp>
      <p:sp>
        <p:nvSpPr>
          <p:cNvPr id="22" name="text_161"/>
          <p:cNvSpPr txBox="1"/>
          <p:nvPr/>
        </p:nvSpPr>
        <p:spPr>
          <a:xfrm>
            <a:off x="7223760" y="2331720"/>
            <a:ext cx="1463040" cy="365760"/>
          </a:xfrm>
          <a:prstGeom prst="rect">
            <a:avLst/>
          </a:prstGeom>
          <a:noFill/>
          <a:ln/>
        </p:spPr>
        <p:txBody>
          <a:bodyPr wrap="square" lIns="0" tIns="0" rIns="0" bIns="0" rtlCol="0" anchor="t"/>
          <a:lstStyle/>
          <a:p>
            <a:pPr algn="ctr" indent="0" marL="0">
              <a:buNone/>
            </a:pPr>
            <a:r>
              <a:rPr lang="en-US" sz="1700" b="1" dirty="0">
                <a:solidFill>
                  <a:schemeClr val="tx2"/>
                </a:solidFill>
              </a:rPr>
              <a:t>Sharing</a:t>
            </a:r>
            <a:endParaRPr lang="en-US" sz="1700" dirty="0"/>
          </a:p>
        </p:txBody>
      </p:sp>
      <p:sp>
        <p:nvSpPr>
          <p:cNvPr id="23" name="text_162"/>
          <p:cNvSpPr txBox="1"/>
          <p:nvPr/>
        </p:nvSpPr>
        <p:spPr>
          <a:xfrm>
            <a:off x="7223760" y="2743200"/>
            <a:ext cx="1463040" cy="1097280"/>
          </a:xfrm>
          <a:prstGeom prst="rect">
            <a:avLst/>
          </a:prstGeom>
          <a:noFill/>
          <a:ln/>
        </p:spPr>
        <p:txBody>
          <a:bodyPr wrap="square" lIns="0" tIns="0" rIns="0" bIns="0" rtlCol="0" anchor="t"/>
          <a:lstStyle/>
          <a:p>
            <a:pPr algn="ctr" indent="0" marL="0">
              <a:buNone/>
            </a:pPr>
            <a:r>
              <a:rPr lang="en-US" sz="1300" dirty="0">
                <a:solidFill>
                  <a:schemeClr val="tx1"/>
                </a:solidFill>
              </a:rPr>
              <a:t>Docker setup and guides</a:t>
            </a:r>
            <a:endParaRPr lang="en-US" sz="1300" dirty="0"/>
          </a:p>
        </p:txBody>
      </p:sp>
      <p:sp>
        <p:nvSpPr>
          <p:cNvPr id="24" name="card_163"/>
          <p:cNvSpPr/>
          <p:nvPr/>
        </p:nvSpPr>
        <p:spPr>
          <a:xfrm>
            <a:off x="457200" y="3931920"/>
            <a:ext cx="8229600" cy="548640"/>
          </a:xfrm>
          <a:prstGeom prst="roundRect">
            <a:avLst>
              <a:gd name="adj" fmla="val 13333"/>
            </a:avLst>
          </a:prstGeom>
          <a:solidFill>
            <a:schemeClr val="accent5"/>
          </a:solidFill>
          <a:ln/>
        </p:spPr>
      </p:sp>
      <p:sp>
        <p:nvSpPr>
          <p:cNvPr id="25" name="text_164"/>
          <p:cNvSpPr txBox="1"/>
          <p:nvPr/>
        </p:nvSpPr>
        <p:spPr>
          <a:xfrm>
            <a:off x="685800" y="3931920"/>
            <a:ext cx="7772400" cy="548640"/>
          </a:xfrm>
          <a:prstGeom prst="rect">
            <a:avLst/>
          </a:prstGeom>
          <a:noFill/>
          <a:ln/>
        </p:spPr>
        <p:txBody>
          <a:bodyPr wrap="square" lIns="0" tIns="0" rIns="0" bIns="0" rtlCol="0" anchor="ctr"/>
          <a:lstStyle/>
          <a:p>
            <a:pPr indent="0" marL="0">
              <a:buNone/>
            </a:pPr>
            <a:r>
              <a:rPr lang="en-US" sz="1400" dirty="0">
                <a:solidFill>
                  <a:schemeClr val="tx2"/>
                </a:solidFill>
              </a:rPr>
              <a:t>Every step saved with Git, so I could always go back after a mistake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What I learned</a:t>
            </a:r>
            <a:endParaRPr lang="en-US" sz="3000" dirty="0"/>
          </a:p>
        </p:txBody>
      </p:sp>
      <p:sp>
        <p:nvSpPr>
          <p:cNvPr id="3" name="icon-bg_165"/>
          <p:cNvSpPr/>
          <p:nvPr/>
        </p:nvSpPr>
        <p:spPr>
          <a:xfrm>
            <a:off x="457200" y="1143000"/>
            <a:ext cx="640080" cy="640080"/>
          </a:xfrm>
          <a:prstGeom prst="ellipse">
            <a:avLst/>
          </a:prstGeom>
          <a:solidFill>
            <a:srgbClr val="1F4E5F"/>
          </a:solidFill>
          <a:ln/>
        </p:spPr>
      </p:sp>
      <p:pic>
        <p:nvPicPr>
          <p:cNvPr id="4" name="icon_166" descr="preencoded.png">    </p:cNvPr>
          <p:cNvPicPr>
            <a:picLocks noChangeAspect="1"/>
          </p:cNvPicPr>
          <p:nvPr/>
        </p:nvPicPr>
        <p:blipFill>
          <a:blip r:embed="rId1"/>
          <a:stretch>
            <a:fillRect/>
          </a:stretch>
        </p:blipFill>
        <p:spPr>
          <a:xfrm>
            <a:off x="617220" y="1303020"/>
            <a:ext cx="320040" cy="320040"/>
          </a:xfrm>
          <a:prstGeom prst="rect">
            <a:avLst/>
          </a:prstGeom>
        </p:spPr>
      </p:pic>
      <p:sp>
        <p:nvSpPr>
          <p:cNvPr id="5" name="text_167"/>
          <p:cNvSpPr txBox="1"/>
          <p:nvPr/>
        </p:nvSpPr>
        <p:spPr>
          <a:xfrm>
            <a:off x="1280160" y="1161288"/>
            <a:ext cx="3657600" cy="320040"/>
          </a:xfrm>
          <a:prstGeom prst="rect">
            <a:avLst/>
          </a:prstGeom>
          <a:noFill/>
          <a:ln/>
        </p:spPr>
        <p:txBody>
          <a:bodyPr wrap="square" lIns="0" tIns="0" rIns="0" bIns="0" rtlCol="0" anchor="t"/>
          <a:lstStyle/>
          <a:p>
            <a:pPr indent="0" marL="0">
              <a:buNone/>
            </a:pPr>
            <a:r>
              <a:rPr lang="en-US" sz="1700" b="1" dirty="0">
                <a:solidFill>
                  <a:schemeClr val="tx2"/>
                </a:solidFill>
              </a:rPr>
              <a:t>Plan before doing</a:t>
            </a:r>
            <a:endParaRPr lang="en-US" sz="1700" dirty="0"/>
          </a:p>
        </p:txBody>
      </p:sp>
      <p:sp>
        <p:nvSpPr>
          <p:cNvPr id="6" name="text_168"/>
          <p:cNvSpPr txBox="1"/>
          <p:nvPr/>
        </p:nvSpPr>
        <p:spPr>
          <a:xfrm>
            <a:off x="1280160" y="1481328"/>
            <a:ext cx="4023360" cy="320040"/>
          </a:xfrm>
          <a:prstGeom prst="rect">
            <a:avLst/>
          </a:prstGeom>
          <a:noFill/>
          <a:ln/>
        </p:spPr>
        <p:txBody>
          <a:bodyPr wrap="square" lIns="0" tIns="0" rIns="0" bIns="0" rtlCol="0" anchor="t"/>
          <a:lstStyle/>
          <a:p>
            <a:pPr indent="0" marL="0">
              <a:buNone/>
            </a:pPr>
            <a:r>
              <a:rPr lang="en-US" sz="1400" dirty="0">
                <a:solidFill>
                  <a:schemeClr val="tx1"/>
                </a:solidFill>
              </a:rPr>
              <a:t>Writing the nine rules first saved me a lot of time</a:t>
            </a:r>
            <a:endParaRPr lang="en-US" sz="1400" dirty="0"/>
          </a:p>
        </p:txBody>
      </p:sp>
      <p:sp>
        <p:nvSpPr>
          <p:cNvPr id="7" name="icon-bg_169"/>
          <p:cNvSpPr/>
          <p:nvPr/>
        </p:nvSpPr>
        <p:spPr>
          <a:xfrm>
            <a:off x="457200" y="1984248"/>
            <a:ext cx="640080" cy="640080"/>
          </a:xfrm>
          <a:prstGeom prst="ellipse">
            <a:avLst/>
          </a:prstGeom>
          <a:solidFill>
            <a:srgbClr val="1F4E5F"/>
          </a:solidFill>
          <a:ln/>
        </p:spPr>
      </p:sp>
      <p:pic>
        <p:nvPicPr>
          <p:cNvPr id="8" name="icon_170" descr="preencoded.png">    </p:cNvPr>
          <p:cNvPicPr>
            <a:picLocks noChangeAspect="1"/>
          </p:cNvPicPr>
          <p:nvPr/>
        </p:nvPicPr>
        <p:blipFill>
          <a:blip r:embed="rId2"/>
          <a:stretch>
            <a:fillRect/>
          </a:stretch>
        </p:blipFill>
        <p:spPr>
          <a:xfrm>
            <a:off x="617220" y="2144268"/>
            <a:ext cx="320040" cy="320040"/>
          </a:xfrm>
          <a:prstGeom prst="rect">
            <a:avLst/>
          </a:prstGeom>
        </p:spPr>
      </p:pic>
      <p:sp>
        <p:nvSpPr>
          <p:cNvPr id="9" name="text_171"/>
          <p:cNvSpPr txBox="1"/>
          <p:nvPr/>
        </p:nvSpPr>
        <p:spPr>
          <a:xfrm>
            <a:off x="1280160" y="2002536"/>
            <a:ext cx="3657600" cy="320040"/>
          </a:xfrm>
          <a:prstGeom prst="rect">
            <a:avLst/>
          </a:prstGeom>
          <a:noFill/>
          <a:ln/>
        </p:spPr>
        <p:txBody>
          <a:bodyPr wrap="square" lIns="0" tIns="0" rIns="0" bIns="0" rtlCol="0" anchor="t"/>
          <a:lstStyle/>
          <a:p>
            <a:pPr indent="0" marL="0">
              <a:buNone/>
            </a:pPr>
            <a:r>
              <a:rPr lang="en-US" sz="1700" b="1" dirty="0">
                <a:solidFill>
                  <a:schemeClr val="tx2"/>
                </a:solidFill>
              </a:rPr>
              <a:t>Learn by myself</a:t>
            </a:r>
            <a:endParaRPr lang="en-US" sz="1700" dirty="0"/>
          </a:p>
        </p:txBody>
      </p:sp>
      <p:sp>
        <p:nvSpPr>
          <p:cNvPr id="10" name="text_172"/>
          <p:cNvSpPr txBox="1"/>
          <p:nvPr/>
        </p:nvSpPr>
        <p:spPr>
          <a:xfrm>
            <a:off x="1280160" y="2322576"/>
            <a:ext cx="4023360" cy="320040"/>
          </a:xfrm>
          <a:prstGeom prst="rect">
            <a:avLst/>
          </a:prstGeom>
          <a:noFill/>
          <a:ln/>
        </p:spPr>
        <p:txBody>
          <a:bodyPr wrap="square" lIns="0" tIns="0" rIns="0" bIns="0" rtlCol="0" anchor="t"/>
          <a:lstStyle/>
          <a:p>
            <a:pPr indent="0" marL="0">
              <a:buNone/>
            </a:pPr>
            <a:r>
              <a:rPr lang="en-US" sz="1400" dirty="0">
                <a:solidFill>
                  <a:schemeClr val="tx1"/>
                </a:solidFill>
              </a:rPr>
              <a:t>I found many answers in English guides</a:t>
            </a:r>
            <a:endParaRPr lang="en-US" sz="1400" dirty="0"/>
          </a:p>
        </p:txBody>
      </p:sp>
      <p:sp>
        <p:nvSpPr>
          <p:cNvPr id="11" name="icon-bg_173"/>
          <p:cNvSpPr/>
          <p:nvPr/>
        </p:nvSpPr>
        <p:spPr>
          <a:xfrm>
            <a:off x="457200" y="2825496"/>
            <a:ext cx="640080" cy="640080"/>
          </a:xfrm>
          <a:prstGeom prst="ellipse">
            <a:avLst/>
          </a:prstGeom>
          <a:solidFill>
            <a:srgbClr val="1F4E5F"/>
          </a:solidFill>
          <a:ln/>
        </p:spPr>
      </p:sp>
      <p:pic>
        <p:nvPicPr>
          <p:cNvPr id="12" name="icon_174" descr="preencoded.png">    </p:cNvPr>
          <p:cNvPicPr>
            <a:picLocks noChangeAspect="1"/>
          </p:cNvPicPr>
          <p:nvPr/>
        </p:nvPicPr>
        <p:blipFill>
          <a:blip r:embed="rId3"/>
          <a:stretch>
            <a:fillRect/>
          </a:stretch>
        </p:blipFill>
        <p:spPr>
          <a:xfrm>
            <a:off x="617220" y="2985516"/>
            <a:ext cx="320040" cy="320040"/>
          </a:xfrm>
          <a:prstGeom prst="rect">
            <a:avLst/>
          </a:prstGeom>
        </p:spPr>
      </p:pic>
      <p:sp>
        <p:nvSpPr>
          <p:cNvPr id="13" name="text_175"/>
          <p:cNvSpPr txBox="1"/>
          <p:nvPr/>
        </p:nvSpPr>
        <p:spPr>
          <a:xfrm>
            <a:off x="1280160" y="2843784"/>
            <a:ext cx="3657600" cy="320040"/>
          </a:xfrm>
          <a:prstGeom prst="rect">
            <a:avLst/>
          </a:prstGeom>
          <a:noFill/>
          <a:ln/>
        </p:spPr>
        <p:txBody>
          <a:bodyPr wrap="square" lIns="0" tIns="0" rIns="0" bIns="0" rtlCol="0" anchor="t"/>
          <a:lstStyle/>
          <a:p>
            <a:pPr indent="0" marL="0">
              <a:buNone/>
            </a:pPr>
            <a:r>
              <a:rPr lang="en-US" sz="1700" b="1" dirty="0">
                <a:solidFill>
                  <a:schemeClr val="tx2"/>
                </a:solidFill>
              </a:rPr>
              <a:t>Write clearly</a:t>
            </a:r>
            <a:endParaRPr lang="en-US" sz="1700" dirty="0"/>
          </a:p>
        </p:txBody>
      </p:sp>
      <p:sp>
        <p:nvSpPr>
          <p:cNvPr id="14" name="text_176"/>
          <p:cNvSpPr txBox="1"/>
          <p:nvPr/>
        </p:nvSpPr>
        <p:spPr>
          <a:xfrm>
            <a:off x="1280160" y="3163824"/>
            <a:ext cx="4023360" cy="320040"/>
          </a:xfrm>
          <a:prstGeom prst="rect">
            <a:avLst/>
          </a:prstGeom>
          <a:noFill/>
          <a:ln/>
        </p:spPr>
        <p:txBody>
          <a:bodyPr wrap="square" lIns="0" tIns="0" rIns="0" bIns="0" rtlCol="0" anchor="t"/>
          <a:lstStyle/>
          <a:p>
            <a:pPr indent="0" marL="0">
              <a:buNone/>
            </a:pPr>
            <a:r>
              <a:rPr lang="en-US" sz="1400" dirty="0">
                <a:solidFill>
                  <a:schemeClr val="tx1"/>
                </a:solidFill>
              </a:rPr>
              <a:t>Writing guides taught me to explain ideas simply</a:t>
            </a:r>
            <a:endParaRPr lang="en-US" sz="1400" dirty="0"/>
          </a:p>
        </p:txBody>
      </p:sp>
      <p:sp>
        <p:nvSpPr>
          <p:cNvPr id="15" name="icon-bg_177"/>
          <p:cNvSpPr/>
          <p:nvPr/>
        </p:nvSpPr>
        <p:spPr>
          <a:xfrm>
            <a:off x="457200" y="3666744"/>
            <a:ext cx="640080" cy="640080"/>
          </a:xfrm>
          <a:prstGeom prst="ellipse">
            <a:avLst/>
          </a:prstGeom>
          <a:solidFill>
            <a:srgbClr val="1F4E5F"/>
          </a:solidFill>
          <a:ln/>
        </p:spPr>
      </p:sp>
      <p:pic>
        <p:nvPicPr>
          <p:cNvPr id="16" name="icon_178" descr="preencoded.png">    </p:cNvPr>
          <p:cNvPicPr>
            <a:picLocks noChangeAspect="1"/>
          </p:cNvPicPr>
          <p:nvPr/>
        </p:nvPicPr>
        <p:blipFill>
          <a:blip r:embed="rId4"/>
          <a:stretch>
            <a:fillRect/>
          </a:stretch>
        </p:blipFill>
        <p:spPr>
          <a:xfrm>
            <a:off x="617220" y="3826764"/>
            <a:ext cx="320040" cy="320040"/>
          </a:xfrm>
          <a:prstGeom prst="rect">
            <a:avLst/>
          </a:prstGeom>
        </p:spPr>
      </p:pic>
      <p:sp>
        <p:nvSpPr>
          <p:cNvPr id="17" name="text_179"/>
          <p:cNvSpPr txBox="1"/>
          <p:nvPr/>
        </p:nvSpPr>
        <p:spPr>
          <a:xfrm>
            <a:off x="1280160" y="3685032"/>
            <a:ext cx="3657600" cy="320040"/>
          </a:xfrm>
          <a:prstGeom prst="rect">
            <a:avLst/>
          </a:prstGeom>
          <a:noFill/>
          <a:ln/>
        </p:spPr>
        <p:txBody>
          <a:bodyPr wrap="square" lIns="0" tIns="0" rIns="0" bIns="0" rtlCol="0" anchor="t"/>
          <a:lstStyle/>
          <a:p>
            <a:pPr indent="0" marL="0">
              <a:buNone/>
            </a:pPr>
            <a:r>
              <a:rPr lang="en-US" sz="1700" b="1" dirty="0">
                <a:solidFill>
                  <a:schemeClr val="tx2"/>
                </a:solidFill>
              </a:rPr>
              <a:t>Manage my time</a:t>
            </a:r>
            <a:endParaRPr lang="en-US" sz="1700" dirty="0"/>
          </a:p>
        </p:txBody>
      </p:sp>
      <p:sp>
        <p:nvSpPr>
          <p:cNvPr id="18" name="text_180"/>
          <p:cNvSpPr txBox="1"/>
          <p:nvPr/>
        </p:nvSpPr>
        <p:spPr>
          <a:xfrm>
            <a:off x="1280160" y="4005072"/>
            <a:ext cx="4023360" cy="320040"/>
          </a:xfrm>
          <a:prstGeom prst="rect">
            <a:avLst/>
          </a:prstGeom>
          <a:noFill/>
          <a:ln/>
        </p:spPr>
        <p:txBody>
          <a:bodyPr wrap="square" lIns="0" tIns="0" rIns="0" bIns="0" rtlCol="0" anchor="t"/>
          <a:lstStyle/>
          <a:p>
            <a:pPr indent="0" marL="0">
              <a:buNone/>
            </a:pPr>
            <a:r>
              <a:rPr lang="en-US" sz="1400" dirty="0">
                <a:solidFill>
                  <a:schemeClr val="tx1"/>
                </a:solidFill>
              </a:rPr>
              <a:t>Small stages kept me motivated every week</a:t>
            </a:r>
            <a:endParaRPr lang="en-US" sz="1400" dirty="0"/>
          </a:p>
        </p:txBody>
      </p:sp>
      <p:sp>
        <p:nvSpPr>
          <p:cNvPr id="19" name="card_181"/>
          <p:cNvSpPr/>
          <p:nvPr/>
        </p:nvSpPr>
        <p:spPr>
          <a:xfrm>
            <a:off x="5669280" y="1143000"/>
            <a:ext cx="3017520" cy="3337560"/>
          </a:xfrm>
          <a:prstGeom prst="roundRect">
            <a:avLst>
              <a:gd name="adj" fmla="val 2424"/>
            </a:avLst>
          </a:prstGeom>
          <a:solidFill>
            <a:schemeClr val="accent5"/>
          </a:solidFill>
          <a:ln/>
        </p:spPr>
      </p:sp>
      <p:sp>
        <p:nvSpPr>
          <p:cNvPr id="20" name="text_182"/>
          <p:cNvSpPr txBox="1"/>
          <p:nvPr/>
        </p:nvSpPr>
        <p:spPr>
          <a:xfrm>
            <a:off x="5897880" y="1280160"/>
            <a:ext cx="2560320" cy="365760"/>
          </a:xfrm>
          <a:prstGeom prst="rect">
            <a:avLst/>
          </a:prstGeom>
          <a:noFill/>
          <a:ln/>
        </p:spPr>
        <p:txBody>
          <a:bodyPr wrap="square" lIns="0" tIns="0" rIns="0" bIns="0" rtlCol="0" anchor="t"/>
          <a:lstStyle/>
          <a:p>
            <a:pPr indent="0" marL="0">
              <a:buNone/>
            </a:pPr>
            <a:r>
              <a:rPr lang="en-US" sz="1800" b="1" dirty="0">
                <a:solidFill>
                  <a:schemeClr val="tx2"/>
                </a:solidFill>
              </a:rPr>
              <a:t>Next steps</a:t>
            </a:r>
            <a:endParaRPr lang="en-US" sz="1800" dirty="0"/>
          </a:p>
        </p:txBody>
      </p:sp>
      <p:sp>
        <p:nvSpPr>
          <p:cNvPr id="21" name="text_183"/>
          <p:cNvSpPr txBox="1"/>
          <p:nvPr/>
        </p:nvSpPr>
        <p:spPr>
          <a:xfrm>
            <a:off x="5897880" y="1783080"/>
            <a:ext cx="2606040" cy="25603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Automatic tests</a:t>
            </a:r>
            <a:endParaRPr lang="en-US" sz="1500" dirty="0"/>
          </a:p>
          <a:p>
            <a:pPr marL="342900" indent="-342900">
              <a:spcAft>
                <a:spcPts val="1000"/>
              </a:spcAft>
              <a:buSzPct val="100000"/>
              <a:buChar char="•"/>
            </a:pPr>
            <a:r>
              <a:rPr lang="en-US" sz="1500" dirty="0">
                <a:solidFill>
                  <a:schemeClr val="tx1"/>
                </a:solidFill>
              </a:rPr>
              <a:t>Waiting list with email alerts</a:t>
            </a:r>
            <a:endParaRPr lang="en-US" sz="1500" dirty="0"/>
          </a:p>
          <a:p>
            <a:pPr marL="342900" indent="-342900">
              <a:spcAft>
                <a:spcPts val="1000"/>
              </a:spcAft>
              <a:buSzPct val="100000"/>
              <a:buChar char="•"/>
            </a:pPr>
            <a:r>
              <a:rPr lang="en-US" sz="1500" dirty="0">
                <a:solidFill>
                  <a:schemeClr val="tx1"/>
                </a:solidFill>
              </a:rPr>
              <a:t>Check for required courses</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371600"/>
          </a:xfrm>
          <a:prstGeom prst="rect">
            <a:avLst/>
          </a:prstGeom>
          <a:noFill/>
          <a:ln/>
        </p:spPr>
        <p:txBody>
          <a:bodyPr wrap="square"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Thank you!</a:t>
            </a:r>
            <a:endParaRPr lang="en-US" sz="4000" dirty="0"/>
          </a:p>
        </p:txBody>
      </p:sp>
      <p:sp>
        <p:nvSpPr>
          <p:cNvPr id="3" name="Text 0"/>
          <p:cNvSpPr/>
          <p:nvPr>
            <p:ph idx="101" type="body" hasCustomPrompt="1"/>
          </p:nvPr>
        </p:nvSpPr>
        <p:spPr>
          <a:xfrm>
            <a:off x="548640" y="2834640"/>
            <a:ext cx="8046720" cy="822960"/>
          </a:xfrm>
          <a:prstGeom prst="rect">
            <a:avLst/>
          </a:prstGeom>
          <a:noFill/>
          <a:ln/>
        </p:spPr>
        <p:txBody>
          <a:bodyPr wrap="square" rtlCol="0" anchor="t"/>
          <a:lstStyle/>
          <a:p>
            <a:pPr indent="0" marL="0">
              <a:buNone/>
            </a:pPr>
            <a:r>
              <a:rPr lang="en-US" sz="1800" dirty="0">
                <a:solidFill>
                  <a:schemeClr val="accent5"/>
                </a:solidFill>
              </a:rPr>
              <a:t>Questions and feedback are very welcome</a:t>
            </a:r>
            <a:endParaRPr lang="en-US" sz="1800" dirty="0"/>
          </a:p>
        </p:txBody>
      </p:sp>
      <p:sp>
        <p:nvSpPr>
          <p:cNvPr id="4" name="icon-bg_184"/>
          <p:cNvSpPr/>
          <p:nvPr/>
        </p:nvSpPr>
        <p:spPr>
          <a:xfrm>
            <a:off x="7635240" y="502920"/>
            <a:ext cx="914400" cy="914400"/>
          </a:xfrm>
          <a:prstGeom prst="ellipse">
            <a:avLst/>
          </a:prstGeom>
          <a:solidFill>
            <a:srgbClr val="1F4E5F"/>
          </a:solidFill>
          <a:ln/>
        </p:spPr>
      </p:sp>
      <p:pic>
        <p:nvPicPr>
          <p:cNvPr id="5" name="icon_185" descr="preencoded.png">    </p:cNvPr>
          <p:cNvPicPr>
            <a:picLocks noChangeAspect="1"/>
          </p:cNvPicPr>
          <p:nvPr/>
        </p:nvPicPr>
        <p:blipFill>
          <a:blip r:embed="rId1"/>
          <a:stretch>
            <a:fillRect/>
          </a:stretch>
        </p:blipFill>
        <p:spPr>
          <a:xfrm>
            <a:off x="7863840" y="731520"/>
            <a:ext cx="457200" cy="457200"/>
          </a:xfrm>
          <a:prstGeom prst="rect">
            <a:avLst/>
          </a:prstGeom>
        </p:spPr>
      </p:pic>
      <p:sp>
        <p:nvSpPr>
          <p:cNvPr id="6" name="text_186"/>
          <p:cNvSpPr txBox="1"/>
          <p:nvPr/>
        </p:nvSpPr>
        <p:spPr>
          <a:xfrm>
            <a:off x="640080" y="4251960"/>
            <a:ext cx="7955280" cy="365760"/>
          </a:xfrm>
          <a:prstGeom prst="rect">
            <a:avLst/>
          </a:prstGeom>
          <a:noFill/>
          <a:ln/>
        </p:spPr>
        <p:txBody>
          <a:bodyPr wrap="square" lIns="0" tIns="0" rIns="0" bIns="0" rtlCol="0" anchor="t"/>
          <a:lstStyle/>
          <a:p>
            <a:pPr indent="0" marL="0">
              <a:buNone/>
            </a:pPr>
            <a:r>
              <a:rPr lang="en-US" sz="1400" dirty="0">
                <a:solidFill>
                  <a:schemeClr val="bg1"/>
                </a:solidFill>
              </a:rPr>
              <a:t>Your Name  ·  English Writing &amp; Presentation Skills</a:t>
            </a:r>
            <a:endParaRPr lang="en-US" sz="1400" dirty="0"/>
          </a:p>
        </p:txBody>
      </p:sp>
    </p:spTree>
  </p:cSld>
  <p:clrMapOvr>
    <a:masterClrMapping/>
  </p:clrMapOvr>
</p:sld>
</file>

<file path=ppt/theme/theme1.xml><?xml version="1.0" encoding="utf-8"?>
<a:theme xmlns:a="http://schemas.openxmlformats.org/drawingml/2006/main" name="Course Registration">
  <a:themeElements>
    <a:clrScheme name="Course Registration">
      <a:dk1>
        <a:srgbClr val="1B2328"/>
      </a:dk1>
      <a:lt1>
        <a:srgbClr val="FFFFFF"/>
      </a:lt1>
      <a:dk2>
        <a:srgbClr val="1F4E5F"/>
      </a:dk2>
      <a:lt2>
        <a:srgbClr val="F3F6F7"/>
      </a:lt2>
      <a:accent1>
        <a:srgbClr val="1F4E5F"/>
      </a:accent1>
      <a:accent2>
        <a:srgbClr val="E07A2F"/>
      </a:accent2>
      <a:accent3>
        <a:srgbClr val="3A8C8C"/>
      </a:accent3>
      <a:accent4>
        <a:srgbClr val="5B6B73"/>
      </a:accent4>
      <a:accent5>
        <a:srgbClr val="DCE8EB"/>
      </a:accent5>
      <a:accent6>
        <a:srgbClr val="17323D"/>
      </a:accent6>
      <a:hlink>
        <a:srgbClr val="1F4E5F"/>
      </a:hlink>
      <a:folHlink>
        <a:srgbClr val="5B6B73"/>
      </a:folHlink>
    </a:clrScheme>
    <a:fontScheme name="Course Registra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Management &amp; Registration System</dc:title>
  <dc:subject>PptxGenJS Presentation</dc:subject>
  <dc:creator>Student</dc:creator>
  <cp:lastModifiedBy>Student</cp:lastModifiedBy>
  <cp:revision>1</cp:revision>
  <dcterms:created xsi:type="dcterms:W3CDTF">2026-10-07T09:40:09Z</dcterms:created>
  <dcterms:modified xsi:type="dcterms:W3CDTF">2026-10-07T09:40:09Z</dcterms:modified>
</cp:coreProperties>
</file>