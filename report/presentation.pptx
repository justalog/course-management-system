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4aad71-0d2f-a5c2-ac54-9dd84e1f107f}">
          <p14:sldIdLst>
            <p14:sldId id="256"/>
          </p14:sldIdLst>
        </p14:section>
        <p14:section name="Context" id="{3107c312-559a-afaa-75bc-0c80b9063319}">
          <p14:sldIdLst>
            <p14:sldId id="257"/>
            <p14:sldId id="258"/>
            <p14:sldId id="259"/>
          </p14:sldIdLst>
        </p14:section>
        <p14:section name="Solution" id="{b3cca349-d7ca-7435-f37c-16a9cf6fb68f}">
          <p14:sldIdLst>
            <p14:sldId id="260"/>
            <p14:sldId id="261"/>
            <p14:sldId id="262"/>
          </p14:sldIdLst>
        </p14:section>
        <p14:section name="Hard part" id="{a7a00222-03df-c221-5acd-2a80124e208c}">
          <p14:sldIdLst>
            <p14:sldId id="263"/>
            <p14:sldId id="264"/>
          </p14:sldIdLst>
        </p14:section>
        <p14:section name="Journey" id="{b507da08-0e7c-ee31-1407-ea7e71134d17}">
          <p14:sldIdLst>
            <p14:sldId id="265"/>
            <p14:sldId id="266"/>
          </p14:sldIdLst>
        </p14:section>
        <p14:section name="Closing" id="{a921c2a5-a2e8-7ba8-d161-c98c460637a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[your name]. Today, I would like to tell you about a project that I have worked on: a course registration system for university students. I will explain why I built it, what it does, the biggest challenges I faced, and what I learned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presentation is divided into four parts. First, I will talk about why I chose this project. Second, I will show you what the system does and how it works. Third, I will focus on the two hardest problems I had to solve. And finally, I will share what I learned. The presentation will take about eight minutes, and I will be happy to answer your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I am sure many of you remember registration day. Everyone clicks at the same time, so seats disappear in minutes. It is easy to choose two classes that are at the same time. The registration period is very short. And on the other side, the academic office often manages everything in spreadsheets. I experienced this stress myself, and that is exactly why I chose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project at a glance. The system has two portals: one for students and one for administrators. It checks nine rules every time a student signs up for a class. I built it in about three months, from January to March 2026, and I designed and developed it by myself. My main goal was simple: the system must be fair, reliable and easy to use, even on the busiest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move on to what the system actually does. Rather than just describing it, I would like to show you some real screenshots. This is the student portal. On the left is the registration page: students can see every class, its timetable and how many seats are left, and they can register or cancel with just one click. On the right, you can see the weekly timetable, which is built automatically, and the grades page with the student's GPA.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administrator portal. Here, the academic office can open new classes and assign lecturers and rooms. They can also set the registration period for each semester and see the schedule of every room in one view. Each user only sees the portal that matches their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does it work? Like most web applications, it has three parts. The front end is what users see in their browser; I built it with React. The back end is the 'brain': it checks who the user is and applies all the rules. And the database stores all the information. Finally, I packaged everything with a tool called Docker, so the whole system can be started with a single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the most interesting part: the challenges. The first one is what I call 'the last seat'. Imagine a class with forty seats and thirty-nine students. Two students click Register at exactly the same moment. Without protection, both see one free seat, both are accepted, and the class ends up with forty-one students. To solve this, I made the sign-up 'all or nothing', and I lock the class for a very short moment, so the second student has to wait. When it is their turn, the system correctly says the class is full. As a final safety net, the database itself refuses more students than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challenge was timetable clashes. It sounds easy, but some classes only meet in odd weeks, and others only in even weeks. So I defined a clear rule: two classes clash only if all three conditions on this slide are true: the same day, overlapping periods, and compatible weeks. And when there is a clash, the system does not just say 'Error'. It tells the student exactly which class is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briefly describe how I built the project. I worked in five stages. In January, I analysed the real process and wrote down nine rules. In March, I built the database and the back end, then reorganised the code, built the two websites, and finally prepared the release with Docker and documentation. I used Git the whole time, so I could always go back if I made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did I learn? Of course, I improved my technical skills. But more importantly, I learned four skills that are useful in any job. First, plan before acting: writing the rules first saved me a lot of time. Second, learn independently: many answers were only in English documentation. Third, write clearly: writing documentation taught me to explain ideas simply. And fourth, manage my time by working in small stages. In the future, I would like to add automatic tests, a waiting list, and a prerequisite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this project started from a problem I experienced myself and became a complete, working system. It taught me that good software is not only about code, but about understanding people's problems. Thank you very much for listening. I would be happy to answer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732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834640"/>
            <a:ext cx="8046720" cy="82296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_IMAGE">
    <p:bg>
      <p:bgPr>
        <a:solidFill>
          <a:srgbClr val="1732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4114800" cy="160020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ph idx="101" type="body" hasCustomPrompt="1"/>
          </p:nvPr>
        </p:nvSpPr>
        <p:spPr>
          <a:xfrm>
            <a:off x="548640" y="2834640"/>
            <a:ext cx="4023360" cy="91440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Course Management &amp; Registration System</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_1"/>
          <p:cNvSpPr txBox="1"/>
          <p:nvPr/>
        </p:nvSpPr>
        <p:spPr>
          <a:xfrm>
            <a:off x="640080" y="685800"/>
            <a:ext cx="4023360" cy="365760"/>
          </a:xfrm>
          <a:prstGeom prst="rect">
            <a:avLst/>
          </a:prstGeom>
          <a:noFill/>
          <a:ln/>
        </p:spPr>
        <p:txBody>
          <a:bodyPr wrap="square" lIns="0" tIns="0" rIns="0" bIns="0" rtlCol="0" anchor="t"/>
          <a:lstStyle/>
          <a:p>
            <a:pPr indent="0" marL="0">
              <a:buNone/>
            </a:pPr>
            <a:r>
              <a:rPr lang="en-US" sz="1100" b="1" spc="100" kern="0" dirty="0">
                <a:solidFill>
                  <a:schemeClr val="accent2"/>
                </a:solidFill>
              </a:rPr>
              <a:t>DESCRIBE A PROJECT WHICH I HAVE WORKED ON</a:t>
            </a:r>
            <a:endParaRPr lang="en-US" sz="1100" dirty="0"/>
          </a:p>
        </p:txBody>
      </p:sp>
      <p:sp>
        <p:nvSpPr>
          <p:cNvPr id="3" name="shot-frame_2"/>
          <p:cNvSpPr/>
          <p:nvPr/>
        </p:nvSpPr>
        <p:spPr>
          <a:xfrm>
            <a:off x="4828032" y="1216152"/>
            <a:ext cx="3877056" cy="2331263"/>
          </a:xfrm>
          <a:prstGeom prst="rect">
            <a:avLst/>
          </a:prstGeom>
          <a:solidFill>
            <a:srgbClr val="FFFFFF"/>
          </a:solidFill>
          <a:ln w="9525">
            <a:solidFill>
              <a:srgbClr val="C9D6DA"/>
            </a:solidFill>
            <a:prstDash val="solid"/>
          </a:ln>
          <a:effectLst>
            <a:outerShdw sx="100000" sy="100000" kx="0" ky="0" algn="bl" rotWithShape="0" blurRad="76200" dist="25400" dir="5400000">
              <a:srgbClr val="000000">
                <a:alpha val="12000"/>
              </a:srgbClr>
            </a:outerShdw>
          </a:effectLst>
        </p:spPr>
      </p:sp>
      <p:pic>
        <p:nvPicPr>
          <p:cNvPr id="4" name="screenshot_3" descr="Screenshot of the system">    </p:cNvPr>
          <p:cNvPicPr>
            <a:picLocks noChangeAspect="1"/>
          </p:cNvPicPr>
          <p:nvPr/>
        </p:nvPicPr>
        <p:blipFill>
          <a:blip r:embed="rId1"/>
          <a:stretch>
            <a:fillRect/>
          </a:stretch>
        </p:blipFill>
        <p:spPr>
          <a:xfrm>
            <a:off x="4846320" y="1234440"/>
            <a:ext cx="3840480" cy="2294687"/>
          </a:xfrm>
          <a:prstGeom prst="rect">
            <a:avLst/>
          </a:prstGeom>
        </p:spPr>
      </p:pic>
      <p:sp>
        <p:nvSpPr>
          <p:cNvPr id="5" name="Text 0"/>
          <p:cNvSpPr/>
          <p:nvPr>
            <p:ph idx="100" type="title" hasCustomPrompt="1"/>
          </p:nvPr>
        </p:nvSpPr>
        <p:spPr>
          <a:xfrm>
            <a:off x="548640" y="1188720"/>
            <a:ext cx="4114800" cy="1600200"/>
          </a:xfrm>
          <a:prstGeom prst="rect">
            <a:avLst/>
          </a:prstGeom>
          <a:noFill/>
          <a:ln/>
        </p:spPr>
        <p:txBody>
          <a:bodyPr wrap="square" rtlCol="0" anchor="t"/>
          <a:lstStyle/>
          <a:p>
            <a:pPr algn="l" indent="0" marL="0">
              <a:buNone/>
            </a:pPr>
            <a:r>
              <a:rPr lang="en-US" sz="3400" b="1" dirty="0">
                <a:solidFill>
                  <a:schemeClr val="bg1"/>
                </a:solidFill>
                <a:latin typeface="Cambria" pitchFamily="34" charset="0"/>
                <a:ea typeface="Cambria" pitchFamily="34" charset="-122"/>
                <a:cs typeface="Cambria" pitchFamily="34" charset="-120"/>
              </a:rPr>
              <a:t>Course Management &amp; Registration System</a:t>
            </a:r>
            <a:endParaRPr lang="en-US" sz="3400" dirty="0"/>
          </a:p>
        </p:txBody>
      </p:sp>
      <p:sp>
        <p:nvSpPr>
          <p:cNvPr id="6" name="Text 0"/>
          <p:cNvSpPr/>
          <p:nvPr>
            <p:ph idx="101" type="body" hasCustomPrompt="1"/>
          </p:nvPr>
        </p:nvSpPr>
        <p:spPr>
          <a:xfrm>
            <a:off x="548640" y="2834640"/>
            <a:ext cx="4023360" cy="914400"/>
          </a:xfrm>
          <a:prstGeom prst="rect">
            <a:avLst/>
          </a:prstGeom>
          <a:noFill/>
          <a:ln/>
        </p:spPr>
        <p:txBody>
          <a:bodyPr wrap="square" rtlCol="0" anchor="t"/>
          <a:lstStyle/>
          <a:p>
            <a:pPr indent="0" marL="0">
              <a:buNone/>
            </a:pPr>
            <a:r>
              <a:rPr lang="en-US" sz="1600" dirty="0">
                <a:solidFill>
                  <a:schemeClr val="accent5"/>
                </a:solidFill>
              </a:rPr>
              <a:t>A web application that makes course registration fair, reliable and simple</a:t>
            </a:r>
            <a:endParaRPr lang="en-US" sz="1600" dirty="0"/>
          </a:p>
        </p:txBody>
      </p:sp>
      <p:sp>
        <p:nvSpPr>
          <p:cNvPr id="7" name="text_4"/>
          <p:cNvSpPr txBox="1"/>
          <p:nvPr/>
        </p:nvSpPr>
        <p:spPr>
          <a:xfrm>
            <a:off x="640080" y="4251960"/>
            <a:ext cx="7955280" cy="365760"/>
          </a:xfrm>
          <a:prstGeom prst="rect">
            <a:avLst/>
          </a:prstGeom>
          <a:noFill/>
          <a:ln/>
        </p:spPr>
        <p:txBody>
          <a:bodyPr wrap="square" lIns="0" tIns="0" rIns="0" bIns="0" rtlCol="0" anchor="t"/>
          <a:lstStyle/>
          <a:p>
            <a:pPr indent="0" marL="0">
              <a:buNone/>
            </a:pPr>
            <a:r>
              <a:rPr lang="en-US" sz="1400" dirty="0">
                <a:solidFill>
                  <a:schemeClr val="bg1"/>
                </a:solidFill>
              </a:rPr>
              <a:t>Your Name  ·  Student ID  ·  English Writing &amp; Presentation Skills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I will talk about</a:t>
            </a:r>
            <a:endParaRPr lang="en-US" sz="3000" dirty="0"/>
          </a:p>
        </p:txBody>
      </p:sp>
      <p:sp>
        <p:nvSpPr>
          <p:cNvPr id="3" name="card_5"/>
          <p:cNvSpPr/>
          <p:nvPr/>
        </p:nvSpPr>
        <p:spPr>
          <a:xfrm>
            <a:off x="457200" y="1371600"/>
            <a:ext cx="1920240" cy="2834640"/>
          </a:xfrm>
          <a:prstGeom prst="roundRect">
            <a:avLst>
              <a:gd name="adj" fmla="val 3810"/>
            </a:avLst>
          </a:prstGeom>
          <a:solidFill>
            <a:schemeClr val="bg2"/>
          </a:solidFill>
          <a:ln/>
        </p:spPr>
      </p:sp>
      <p:sp>
        <p:nvSpPr>
          <p:cNvPr id="4" name="text_6"/>
          <p:cNvSpPr txBox="1"/>
          <p:nvPr/>
        </p:nvSpPr>
        <p:spPr>
          <a:xfrm>
            <a:off x="68580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01</a:t>
            </a:r>
            <a:endParaRPr lang="en-US" sz="4000" dirty="0"/>
          </a:p>
        </p:txBody>
      </p:sp>
      <p:sp>
        <p:nvSpPr>
          <p:cNvPr id="5" name="text_7"/>
          <p:cNvSpPr txBox="1"/>
          <p:nvPr/>
        </p:nvSpPr>
        <p:spPr>
          <a:xfrm>
            <a:off x="68580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Why</a:t>
            </a:r>
            <a:endParaRPr lang="en-US" sz="1800" dirty="0"/>
          </a:p>
        </p:txBody>
      </p:sp>
      <p:sp>
        <p:nvSpPr>
          <p:cNvPr id="6" name="text_8"/>
          <p:cNvSpPr txBox="1"/>
          <p:nvPr/>
        </p:nvSpPr>
        <p:spPr>
          <a:xfrm>
            <a:off x="68580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The problem that inspired this project</a:t>
            </a:r>
            <a:endParaRPr lang="en-US" sz="1400" dirty="0"/>
          </a:p>
        </p:txBody>
      </p:sp>
      <p:sp>
        <p:nvSpPr>
          <p:cNvPr id="7" name="card_9"/>
          <p:cNvSpPr/>
          <p:nvPr/>
        </p:nvSpPr>
        <p:spPr>
          <a:xfrm>
            <a:off x="2560320" y="1371600"/>
            <a:ext cx="1920240" cy="2834640"/>
          </a:xfrm>
          <a:prstGeom prst="roundRect">
            <a:avLst>
              <a:gd name="adj" fmla="val 3810"/>
            </a:avLst>
          </a:prstGeom>
          <a:solidFill>
            <a:schemeClr val="bg2"/>
          </a:solidFill>
          <a:ln/>
        </p:spPr>
      </p:sp>
      <p:sp>
        <p:nvSpPr>
          <p:cNvPr id="8" name="text_10"/>
          <p:cNvSpPr txBox="1"/>
          <p:nvPr/>
        </p:nvSpPr>
        <p:spPr>
          <a:xfrm>
            <a:off x="278892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02</a:t>
            </a:r>
            <a:endParaRPr lang="en-US" sz="4000" dirty="0"/>
          </a:p>
        </p:txBody>
      </p:sp>
      <p:sp>
        <p:nvSpPr>
          <p:cNvPr id="9" name="text_11"/>
          <p:cNvSpPr txBox="1"/>
          <p:nvPr/>
        </p:nvSpPr>
        <p:spPr>
          <a:xfrm>
            <a:off x="278892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What</a:t>
            </a:r>
            <a:endParaRPr lang="en-US" sz="1800" dirty="0"/>
          </a:p>
        </p:txBody>
      </p:sp>
      <p:sp>
        <p:nvSpPr>
          <p:cNvPr id="10" name="text_12"/>
          <p:cNvSpPr txBox="1"/>
          <p:nvPr/>
        </p:nvSpPr>
        <p:spPr>
          <a:xfrm>
            <a:off x="278892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What the system does and how it works</a:t>
            </a:r>
            <a:endParaRPr lang="en-US" sz="1400" dirty="0"/>
          </a:p>
        </p:txBody>
      </p:sp>
      <p:sp>
        <p:nvSpPr>
          <p:cNvPr id="11" name="card_13"/>
          <p:cNvSpPr/>
          <p:nvPr/>
        </p:nvSpPr>
        <p:spPr>
          <a:xfrm>
            <a:off x="4663440" y="1371600"/>
            <a:ext cx="1920240" cy="2834640"/>
          </a:xfrm>
          <a:prstGeom prst="roundRect">
            <a:avLst>
              <a:gd name="adj" fmla="val 3810"/>
            </a:avLst>
          </a:prstGeom>
          <a:solidFill>
            <a:schemeClr val="bg2"/>
          </a:solidFill>
          <a:ln/>
        </p:spPr>
      </p:sp>
      <p:sp>
        <p:nvSpPr>
          <p:cNvPr id="12" name="text_14"/>
          <p:cNvSpPr txBox="1"/>
          <p:nvPr/>
        </p:nvSpPr>
        <p:spPr>
          <a:xfrm>
            <a:off x="489204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03</a:t>
            </a:r>
            <a:endParaRPr lang="en-US" sz="4000" dirty="0"/>
          </a:p>
        </p:txBody>
      </p:sp>
      <p:sp>
        <p:nvSpPr>
          <p:cNvPr id="13" name="text_15"/>
          <p:cNvSpPr txBox="1"/>
          <p:nvPr/>
        </p:nvSpPr>
        <p:spPr>
          <a:xfrm>
            <a:off x="489204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Challenges</a:t>
            </a:r>
            <a:endParaRPr lang="en-US" sz="1800" dirty="0"/>
          </a:p>
        </p:txBody>
      </p:sp>
      <p:sp>
        <p:nvSpPr>
          <p:cNvPr id="14" name="text_16"/>
          <p:cNvSpPr txBox="1"/>
          <p:nvPr/>
        </p:nvSpPr>
        <p:spPr>
          <a:xfrm>
            <a:off x="489204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The two hardest problems I solved</a:t>
            </a:r>
            <a:endParaRPr lang="en-US" sz="1400" dirty="0"/>
          </a:p>
        </p:txBody>
      </p:sp>
      <p:sp>
        <p:nvSpPr>
          <p:cNvPr id="15" name="card_17"/>
          <p:cNvSpPr/>
          <p:nvPr/>
        </p:nvSpPr>
        <p:spPr>
          <a:xfrm>
            <a:off x="6766560" y="1371600"/>
            <a:ext cx="1920240" cy="2834640"/>
          </a:xfrm>
          <a:prstGeom prst="roundRect">
            <a:avLst>
              <a:gd name="adj" fmla="val 3810"/>
            </a:avLst>
          </a:prstGeom>
          <a:solidFill>
            <a:schemeClr val="bg2"/>
          </a:solidFill>
          <a:ln/>
        </p:spPr>
      </p:sp>
      <p:sp>
        <p:nvSpPr>
          <p:cNvPr id="16" name="text_18"/>
          <p:cNvSpPr txBox="1"/>
          <p:nvPr/>
        </p:nvSpPr>
        <p:spPr>
          <a:xfrm>
            <a:off x="699516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04</a:t>
            </a:r>
            <a:endParaRPr lang="en-US" sz="4000" dirty="0"/>
          </a:p>
        </p:txBody>
      </p:sp>
      <p:sp>
        <p:nvSpPr>
          <p:cNvPr id="17" name="text_19"/>
          <p:cNvSpPr txBox="1"/>
          <p:nvPr/>
        </p:nvSpPr>
        <p:spPr>
          <a:xfrm>
            <a:off x="699516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Lessons</a:t>
            </a:r>
            <a:endParaRPr lang="en-US" sz="1800" dirty="0"/>
          </a:p>
        </p:txBody>
      </p:sp>
      <p:sp>
        <p:nvSpPr>
          <p:cNvPr id="18" name="text_20"/>
          <p:cNvSpPr txBox="1"/>
          <p:nvPr/>
        </p:nvSpPr>
        <p:spPr>
          <a:xfrm>
            <a:off x="699516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How I built it and what I learned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Registration day is stressful</a:t>
            </a:r>
            <a:endParaRPr lang="en-US" sz="3000" dirty="0"/>
          </a:p>
        </p:txBody>
      </p:sp>
      <p:sp>
        <p:nvSpPr>
          <p:cNvPr id="3" name="card_21"/>
          <p:cNvSpPr/>
          <p:nvPr/>
        </p:nvSpPr>
        <p:spPr>
          <a:xfrm>
            <a:off x="457200" y="1234440"/>
            <a:ext cx="4023360" cy="1463040"/>
          </a:xfrm>
          <a:prstGeom prst="roundRect">
            <a:avLst>
              <a:gd name="adj" fmla="val 5000"/>
            </a:avLst>
          </a:prstGeom>
          <a:solidFill>
            <a:schemeClr val="bg2"/>
          </a:solidFill>
          <a:ln/>
        </p:spPr>
      </p:sp>
      <p:sp>
        <p:nvSpPr>
          <p:cNvPr id="4" name="icon-bg_22"/>
          <p:cNvSpPr/>
          <p:nvPr/>
        </p:nvSpPr>
        <p:spPr>
          <a:xfrm>
            <a:off x="731520" y="1600200"/>
            <a:ext cx="731520" cy="731520"/>
          </a:xfrm>
          <a:prstGeom prst="ellipse">
            <a:avLst/>
          </a:prstGeom>
          <a:solidFill>
            <a:srgbClr val="1F4E5F"/>
          </a:solidFill>
          <a:ln/>
        </p:spPr>
      </p:sp>
      <p:pic>
        <p:nvPicPr>
          <p:cNvPr id="5" name="icon_23" descr="preencoded.png">    </p:cNvPr>
          <p:cNvPicPr>
            <a:picLocks noChangeAspect="1"/>
          </p:cNvPicPr>
          <p:nvPr/>
        </p:nvPicPr>
        <p:blipFill>
          <a:blip r:embed="rId1"/>
          <a:stretch>
            <a:fillRect/>
          </a:stretch>
        </p:blipFill>
        <p:spPr>
          <a:xfrm>
            <a:off x="914400" y="1783080"/>
            <a:ext cx="365760" cy="365760"/>
          </a:xfrm>
          <a:prstGeom prst="rect">
            <a:avLst/>
          </a:prstGeom>
        </p:spPr>
      </p:pic>
      <p:sp>
        <p:nvSpPr>
          <p:cNvPr id="6" name="text_24"/>
          <p:cNvSpPr txBox="1"/>
          <p:nvPr/>
        </p:nvSpPr>
        <p:spPr>
          <a:xfrm>
            <a:off x="1691640" y="1508760"/>
            <a:ext cx="2606040" cy="365760"/>
          </a:xfrm>
          <a:prstGeom prst="rect">
            <a:avLst/>
          </a:prstGeom>
          <a:noFill/>
          <a:ln/>
        </p:spPr>
        <p:txBody>
          <a:bodyPr wrap="square" lIns="0" tIns="0" rIns="0" bIns="0" rtlCol="0" anchor="t"/>
          <a:lstStyle/>
          <a:p>
            <a:pPr indent="0" marL="0">
              <a:buNone/>
            </a:pPr>
            <a:r>
              <a:rPr lang="en-US" sz="1800" b="1" dirty="0">
                <a:solidFill>
                  <a:schemeClr val="tx2"/>
                </a:solidFill>
              </a:rPr>
              <a:t>Limited seats</a:t>
            </a:r>
            <a:endParaRPr lang="en-US" sz="1800" dirty="0"/>
          </a:p>
        </p:txBody>
      </p:sp>
      <p:sp>
        <p:nvSpPr>
          <p:cNvPr id="7" name="text_25"/>
          <p:cNvSpPr txBox="1"/>
          <p:nvPr/>
        </p:nvSpPr>
        <p:spPr>
          <a:xfrm>
            <a:off x="1691640" y="1920240"/>
            <a:ext cx="2606040" cy="685800"/>
          </a:xfrm>
          <a:prstGeom prst="rect">
            <a:avLst/>
          </a:prstGeom>
          <a:noFill/>
          <a:ln/>
        </p:spPr>
        <p:txBody>
          <a:bodyPr wrap="square" lIns="0" tIns="0" rIns="0" bIns="0" rtlCol="0" anchor="t"/>
          <a:lstStyle/>
          <a:p>
            <a:pPr indent="0" marL="0">
              <a:buNone/>
            </a:pPr>
            <a:r>
              <a:rPr lang="en-US" sz="1400" dirty="0">
                <a:solidFill>
                  <a:schemeClr val="tx1"/>
                </a:solidFill>
              </a:rPr>
              <a:t>Hundreds of students compete for the last seats in the same minute</a:t>
            </a:r>
            <a:endParaRPr lang="en-US" sz="1400" dirty="0"/>
          </a:p>
        </p:txBody>
      </p:sp>
      <p:sp>
        <p:nvSpPr>
          <p:cNvPr id="8" name="card_26"/>
          <p:cNvSpPr/>
          <p:nvPr/>
        </p:nvSpPr>
        <p:spPr>
          <a:xfrm>
            <a:off x="4663440" y="1234440"/>
            <a:ext cx="4023360" cy="1463040"/>
          </a:xfrm>
          <a:prstGeom prst="roundRect">
            <a:avLst>
              <a:gd name="adj" fmla="val 5000"/>
            </a:avLst>
          </a:prstGeom>
          <a:solidFill>
            <a:schemeClr val="bg2"/>
          </a:solidFill>
          <a:ln/>
        </p:spPr>
      </p:sp>
      <p:sp>
        <p:nvSpPr>
          <p:cNvPr id="9" name="icon-bg_27"/>
          <p:cNvSpPr/>
          <p:nvPr/>
        </p:nvSpPr>
        <p:spPr>
          <a:xfrm>
            <a:off x="4937760" y="1600200"/>
            <a:ext cx="731520" cy="731520"/>
          </a:xfrm>
          <a:prstGeom prst="ellipse">
            <a:avLst/>
          </a:prstGeom>
          <a:solidFill>
            <a:srgbClr val="1F4E5F"/>
          </a:solidFill>
          <a:ln/>
        </p:spPr>
      </p:sp>
      <p:pic>
        <p:nvPicPr>
          <p:cNvPr id="10" name="icon_28" descr="preencoded.png">    </p:cNvPr>
          <p:cNvPicPr>
            <a:picLocks noChangeAspect="1"/>
          </p:cNvPicPr>
          <p:nvPr/>
        </p:nvPicPr>
        <p:blipFill>
          <a:blip r:embed="rId2"/>
          <a:stretch>
            <a:fillRect/>
          </a:stretch>
        </p:blipFill>
        <p:spPr>
          <a:xfrm>
            <a:off x="5120640" y="1783080"/>
            <a:ext cx="365760" cy="365760"/>
          </a:xfrm>
          <a:prstGeom prst="rect">
            <a:avLst/>
          </a:prstGeom>
        </p:spPr>
      </p:pic>
      <p:sp>
        <p:nvSpPr>
          <p:cNvPr id="11" name="text_29"/>
          <p:cNvSpPr txBox="1"/>
          <p:nvPr/>
        </p:nvSpPr>
        <p:spPr>
          <a:xfrm>
            <a:off x="5897880" y="1508760"/>
            <a:ext cx="2606040" cy="365760"/>
          </a:xfrm>
          <a:prstGeom prst="rect">
            <a:avLst/>
          </a:prstGeom>
          <a:noFill/>
          <a:ln/>
        </p:spPr>
        <p:txBody>
          <a:bodyPr wrap="square" lIns="0" tIns="0" rIns="0" bIns="0" rtlCol="0" anchor="t"/>
          <a:lstStyle/>
          <a:p>
            <a:pPr indent="0" marL="0">
              <a:buNone/>
            </a:pPr>
            <a:r>
              <a:rPr lang="en-US" sz="1800" b="1" dirty="0">
                <a:solidFill>
                  <a:schemeClr val="tx2"/>
                </a:solidFill>
              </a:rPr>
              <a:t>Timetable clashes</a:t>
            </a:r>
            <a:endParaRPr lang="en-US" sz="1800" dirty="0"/>
          </a:p>
        </p:txBody>
      </p:sp>
      <p:sp>
        <p:nvSpPr>
          <p:cNvPr id="12" name="text_30"/>
          <p:cNvSpPr txBox="1"/>
          <p:nvPr/>
        </p:nvSpPr>
        <p:spPr>
          <a:xfrm>
            <a:off x="5897880" y="1920240"/>
            <a:ext cx="2606040" cy="685800"/>
          </a:xfrm>
          <a:prstGeom prst="rect">
            <a:avLst/>
          </a:prstGeom>
          <a:noFill/>
          <a:ln/>
        </p:spPr>
        <p:txBody>
          <a:bodyPr wrap="square" lIns="0" tIns="0" rIns="0" bIns="0" rtlCol="0" anchor="t"/>
          <a:lstStyle/>
          <a:p>
            <a:pPr indent="0" marL="0">
              <a:buNone/>
            </a:pPr>
            <a:r>
              <a:rPr lang="en-US" sz="1400" dirty="0">
                <a:solidFill>
                  <a:schemeClr val="tx1"/>
                </a:solidFill>
              </a:rPr>
              <a:t>Two classes at the same time are easy to miss</a:t>
            </a:r>
            <a:endParaRPr lang="en-US" sz="1400" dirty="0"/>
          </a:p>
        </p:txBody>
      </p:sp>
      <p:sp>
        <p:nvSpPr>
          <p:cNvPr id="13" name="card_31"/>
          <p:cNvSpPr/>
          <p:nvPr/>
        </p:nvSpPr>
        <p:spPr>
          <a:xfrm>
            <a:off x="457200" y="2926080"/>
            <a:ext cx="4023360" cy="1463040"/>
          </a:xfrm>
          <a:prstGeom prst="roundRect">
            <a:avLst>
              <a:gd name="adj" fmla="val 5000"/>
            </a:avLst>
          </a:prstGeom>
          <a:solidFill>
            <a:schemeClr val="bg2"/>
          </a:solidFill>
          <a:ln/>
        </p:spPr>
      </p:sp>
      <p:sp>
        <p:nvSpPr>
          <p:cNvPr id="14" name="icon-bg_32"/>
          <p:cNvSpPr/>
          <p:nvPr/>
        </p:nvSpPr>
        <p:spPr>
          <a:xfrm>
            <a:off x="731520" y="3291840"/>
            <a:ext cx="731520" cy="731520"/>
          </a:xfrm>
          <a:prstGeom prst="ellipse">
            <a:avLst/>
          </a:prstGeom>
          <a:solidFill>
            <a:srgbClr val="1F4E5F"/>
          </a:solidFill>
          <a:ln/>
        </p:spPr>
      </p:sp>
      <p:pic>
        <p:nvPicPr>
          <p:cNvPr id="15" name="icon_33" descr="preencoded.png">    </p:cNvPr>
          <p:cNvPicPr>
            <a:picLocks noChangeAspect="1"/>
          </p:cNvPicPr>
          <p:nvPr/>
        </p:nvPicPr>
        <p:blipFill>
          <a:blip r:embed="rId3"/>
          <a:stretch>
            <a:fillRect/>
          </a:stretch>
        </p:blipFill>
        <p:spPr>
          <a:xfrm>
            <a:off x="914400" y="3474720"/>
            <a:ext cx="365760" cy="365760"/>
          </a:xfrm>
          <a:prstGeom prst="rect">
            <a:avLst/>
          </a:prstGeom>
        </p:spPr>
      </p:pic>
      <p:sp>
        <p:nvSpPr>
          <p:cNvPr id="16" name="text_34"/>
          <p:cNvSpPr txBox="1"/>
          <p:nvPr/>
        </p:nvSpPr>
        <p:spPr>
          <a:xfrm>
            <a:off x="1691640" y="3200400"/>
            <a:ext cx="2606040" cy="365760"/>
          </a:xfrm>
          <a:prstGeom prst="rect">
            <a:avLst/>
          </a:prstGeom>
          <a:noFill/>
          <a:ln/>
        </p:spPr>
        <p:txBody>
          <a:bodyPr wrap="square" lIns="0" tIns="0" rIns="0" bIns="0" rtlCol="0" anchor="t"/>
          <a:lstStyle/>
          <a:p>
            <a:pPr indent="0" marL="0">
              <a:buNone/>
            </a:pPr>
            <a:r>
              <a:rPr lang="en-US" sz="1800" b="1" dirty="0">
                <a:solidFill>
                  <a:schemeClr val="tx2"/>
                </a:solidFill>
              </a:rPr>
              <a:t>Strict time windows</a:t>
            </a:r>
            <a:endParaRPr lang="en-US" sz="1800" dirty="0"/>
          </a:p>
        </p:txBody>
      </p:sp>
      <p:sp>
        <p:nvSpPr>
          <p:cNvPr id="17" name="text_35"/>
          <p:cNvSpPr txBox="1"/>
          <p:nvPr/>
        </p:nvSpPr>
        <p:spPr>
          <a:xfrm>
            <a:off x="1691640" y="3611880"/>
            <a:ext cx="2606040" cy="685800"/>
          </a:xfrm>
          <a:prstGeom prst="rect">
            <a:avLst/>
          </a:prstGeom>
          <a:noFill/>
          <a:ln/>
        </p:spPr>
        <p:txBody>
          <a:bodyPr wrap="square" lIns="0" tIns="0" rIns="0" bIns="0" rtlCol="0" anchor="t"/>
          <a:lstStyle/>
          <a:p>
            <a:pPr indent="0" marL="0">
              <a:buNone/>
            </a:pPr>
            <a:r>
              <a:rPr lang="en-US" sz="1400" dirty="0">
                <a:solidFill>
                  <a:schemeClr val="tx1"/>
                </a:solidFill>
              </a:rPr>
              <a:t>Registration and cancellation are only open for a few days</a:t>
            </a:r>
            <a:endParaRPr lang="en-US" sz="1400" dirty="0"/>
          </a:p>
        </p:txBody>
      </p:sp>
      <p:sp>
        <p:nvSpPr>
          <p:cNvPr id="18" name="card_36"/>
          <p:cNvSpPr/>
          <p:nvPr/>
        </p:nvSpPr>
        <p:spPr>
          <a:xfrm>
            <a:off x="4663440" y="2926080"/>
            <a:ext cx="4023360" cy="1463040"/>
          </a:xfrm>
          <a:prstGeom prst="roundRect">
            <a:avLst>
              <a:gd name="adj" fmla="val 5000"/>
            </a:avLst>
          </a:prstGeom>
          <a:solidFill>
            <a:schemeClr val="bg2"/>
          </a:solidFill>
          <a:ln/>
        </p:spPr>
      </p:sp>
      <p:sp>
        <p:nvSpPr>
          <p:cNvPr id="19" name="icon-bg_37"/>
          <p:cNvSpPr/>
          <p:nvPr/>
        </p:nvSpPr>
        <p:spPr>
          <a:xfrm>
            <a:off x="4937760" y="3291840"/>
            <a:ext cx="731520" cy="731520"/>
          </a:xfrm>
          <a:prstGeom prst="ellipse">
            <a:avLst/>
          </a:prstGeom>
          <a:solidFill>
            <a:srgbClr val="1F4E5F"/>
          </a:solidFill>
          <a:ln/>
        </p:spPr>
      </p:sp>
      <p:pic>
        <p:nvPicPr>
          <p:cNvPr id="20" name="icon_38" descr="preencoded.png">    </p:cNvPr>
          <p:cNvPicPr>
            <a:picLocks noChangeAspect="1"/>
          </p:cNvPicPr>
          <p:nvPr/>
        </p:nvPicPr>
        <p:blipFill>
          <a:blip r:embed="rId4"/>
          <a:stretch>
            <a:fillRect/>
          </a:stretch>
        </p:blipFill>
        <p:spPr>
          <a:xfrm>
            <a:off x="5120640" y="3474720"/>
            <a:ext cx="365760" cy="365760"/>
          </a:xfrm>
          <a:prstGeom prst="rect">
            <a:avLst/>
          </a:prstGeom>
        </p:spPr>
      </p:pic>
      <p:sp>
        <p:nvSpPr>
          <p:cNvPr id="21" name="text_39"/>
          <p:cNvSpPr txBox="1"/>
          <p:nvPr/>
        </p:nvSpPr>
        <p:spPr>
          <a:xfrm>
            <a:off x="5897880" y="3200400"/>
            <a:ext cx="2606040" cy="365760"/>
          </a:xfrm>
          <a:prstGeom prst="rect">
            <a:avLst/>
          </a:prstGeom>
          <a:noFill/>
          <a:ln/>
        </p:spPr>
        <p:txBody>
          <a:bodyPr wrap="square" lIns="0" tIns="0" rIns="0" bIns="0" rtlCol="0" anchor="t"/>
          <a:lstStyle/>
          <a:p>
            <a:pPr indent="0" marL="0">
              <a:buNone/>
            </a:pPr>
            <a:r>
              <a:rPr lang="en-US" sz="1800" b="1" dirty="0">
                <a:solidFill>
                  <a:schemeClr val="tx2"/>
                </a:solidFill>
              </a:rPr>
              <a:t>Manual admin work</a:t>
            </a:r>
            <a:endParaRPr lang="en-US" sz="1800" dirty="0"/>
          </a:p>
        </p:txBody>
      </p:sp>
      <p:sp>
        <p:nvSpPr>
          <p:cNvPr id="22" name="text_40"/>
          <p:cNvSpPr txBox="1"/>
          <p:nvPr/>
        </p:nvSpPr>
        <p:spPr>
          <a:xfrm>
            <a:off x="5897880" y="3611880"/>
            <a:ext cx="2606040" cy="685800"/>
          </a:xfrm>
          <a:prstGeom prst="rect">
            <a:avLst/>
          </a:prstGeom>
          <a:noFill/>
          <a:ln/>
        </p:spPr>
        <p:txBody>
          <a:bodyPr wrap="square" lIns="0" tIns="0" rIns="0" bIns="0" rtlCol="0" anchor="t"/>
          <a:lstStyle/>
          <a:p>
            <a:pPr indent="0" marL="0">
              <a:buNone/>
            </a:pPr>
            <a:r>
              <a:rPr lang="en-US" sz="1400" dirty="0">
                <a:solidFill>
                  <a:schemeClr val="tx1"/>
                </a:solidFill>
              </a:rPr>
              <a:t>Courses, rooms and sections are often managed in spreadsheets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project at a glance</a:t>
            </a:r>
            <a:endParaRPr lang="en-US" sz="3000" dirty="0"/>
          </a:p>
        </p:txBody>
      </p:sp>
      <p:sp>
        <p:nvSpPr>
          <p:cNvPr id="3" name="text_41"/>
          <p:cNvSpPr txBox="1"/>
          <p:nvPr/>
        </p:nvSpPr>
        <p:spPr>
          <a:xfrm>
            <a:off x="45720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2</a:t>
            </a:r>
            <a:endParaRPr lang="en-US" sz="6000" dirty="0"/>
          </a:p>
        </p:txBody>
      </p:sp>
      <p:sp>
        <p:nvSpPr>
          <p:cNvPr id="4" name="text_42"/>
          <p:cNvSpPr txBox="1"/>
          <p:nvPr/>
        </p:nvSpPr>
        <p:spPr>
          <a:xfrm>
            <a:off x="45720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portals</a:t>
            </a:r>
            <a:endParaRPr lang="en-US" sz="1600" dirty="0"/>
          </a:p>
        </p:txBody>
      </p:sp>
      <p:sp>
        <p:nvSpPr>
          <p:cNvPr id="5" name="text_43"/>
          <p:cNvSpPr txBox="1"/>
          <p:nvPr/>
        </p:nvSpPr>
        <p:spPr>
          <a:xfrm>
            <a:off x="45720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students &amp; admins</a:t>
            </a:r>
            <a:endParaRPr lang="en-US" sz="1300" dirty="0"/>
          </a:p>
        </p:txBody>
      </p:sp>
      <p:sp>
        <p:nvSpPr>
          <p:cNvPr id="6" name="text_44"/>
          <p:cNvSpPr txBox="1"/>
          <p:nvPr/>
        </p:nvSpPr>
        <p:spPr>
          <a:xfrm>
            <a:off x="256032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a:t>
            </a:r>
            <a:endParaRPr lang="en-US" sz="6000" dirty="0"/>
          </a:p>
        </p:txBody>
      </p:sp>
      <p:sp>
        <p:nvSpPr>
          <p:cNvPr id="7" name="text_45"/>
          <p:cNvSpPr txBox="1"/>
          <p:nvPr/>
        </p:nvSpPr>
        <p:spPr>
          <a:xfrm>
            <a:off x="256032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rules</a:t>
            </a:r>
            <a:endParaRPr lang="en-US" sz="1600" dirty="0"/>
          </a:p>
        </p:txBody>
      </p:sp>
      <p:sp>
        <p:nvSpPr>
          <p:cNvPr id="8" name="text_46"/>
          <p:cNvSpPr txBox="1"/>
          <p:nvPr/>
        </p:nvSpPr>
        <p:spPr>
          <a:xfrm>
            <a:off x="256032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checked on every sign-up</a:t>
            </a:r>
            <a:endParaRPr lang="en-US" sz="1300" dirty="0"/>
          </a:p>
        </p:txBody>
      </p:sp>
      <p:sp>
        <p:nvSpPr>
          <p:cNvPr id="9" name="text_47"/>
          <p:cNvSpPr txBox="1"/>
          <p:nvPr/>
        </p:nvSpPr>
        <p:spPr>
          <a:xfrm>
            <a:off x="466344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3</a:t>
            </a:r>
            <a:endParaRPr lang="en-US" sz="6000" dirty="0"/>
          </a:p>
        </p:txBody>
      </p:sp>
      <p:sp>
        <p:nvSpPr>
          <p:cNvPr id="10" name="text_48"/>
          <p:cNvSpPr txBox="1"/>
          <p:nvPr/>
        </p:nvSpPr>
        <p:spPr>
          <a:xfrm>
            <a:off x="466344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months</a:t>
            </a:r>
            <a:endParaRPr lang="en-US" sz="1600" dirty="0"/>
          </a:p>
        </p:txBody>
      </p:sp>
      <p:sp>
        <p:nvSpPr>
          <p:cNvPr id="11" name="text_49"/>
          <p:cNvSpPr txBox="1"/>
          <p:nvPr/>
        </p:nvSpPr>
        <p:spPr>
          <a:xfrm>
            <a:off x="466344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January – March 2026</a:t>
            </a:r>
            <a:endParaRPr lang="en-US" sz="1300" dirty="0"/>
          </a:p>
        </p:txBody>
      </p:sp>
      <p:sp>
        <p:nvSpPr>
          <p:cNvPr id="12" name="text_50"/>
          <p:cNvSpPr txBox="1"/>
          <p:nvPr/>
        </p:nvSpPr>
        <p:spPr>
          <a:xfrm>
            <a:off x="676656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1</a:t>
            </a:r>
            <a:endParaRPr lang="en-US" sz="6000" dirty="0"/>
          </a:p>
        </p:txBody>
      </p:sp>
      <p:sp>
        <p:nvSpPr>
          <p:cNvPr id="13" name="text_51"/>
          <p:cNvSpPr txBox="1"/>
          <p:nvPr/>
        </p:nvSpPr>
        <p:spPr>
          <a:xfrm>
            <a:off x="676656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developer</a:t>
            </a:r>
            <a:endParaRPr lang="en-US" sz="1600" dirty="0"/>
          </a:p>
        </p:txBody>
      </p:sp>
      <p:sp>
        <p:nvSpPr>
          <p:cNvPr id="14" name="text_52"/>
          <p:cNvSpPr txBox="1"/>
          <p:nvPr/>
        </p:nvSpPr>
        <p:spPr>
          <a:xfrm>
            <a:off x="676656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designed and built by me</a:t>
            </a:r>
            <a:endParaRPr lang="en-US" sz="1300" dirty="0"/>
          </a:p>
        </p:txBody>
      </p:sp>
      <p:sp>
        <p:nvSpPr>
          <p:cNvPr id="15" name="card_53"/>
          <p:cNvSpPr/>
          <p:nvPr/>
        </p:nvSpPr>
        <p:spPr>
          <a:xfrm>
            <a:off x="457200" y="3246120"/>
            <a:ext cx="8229600" cy="1188720"/>
          </a:xfrm>
          <a:prstGeom prst="roundRect">
            <a:avLst>
              <a:gd name="adj" fmla="val 6154"/>
            </a:avLst>
          </a:prstGeom>
          <a:solidFill>
            <a:schemeClr val="accent5"/>
          </a:solidFill>
          <a:ln/>
        </p:spPr>
      </p:sp>
      <p:sp>
        <p:nvSpPr>
          <p:cNvPr id="16" name="text_54"/>
          <p:cNvSpPr txBox="1"/>
          <p:nvPr/>
        </p:nvSpPr>
        <p:spPr>
          <a:xfrm>
            <a:off x="731520" y="3429000"/>
            <a:ext cx="7680960" cy="868680"/>
          </a:xfrm>
          <a:prstGeom prst="rect">
            <a:avLst/>
          </a:prstGeom>
          <a:noFill/>
          <a:ln/>
        </p:spPr>
        <p:txBody>
          <a:bodyPr wrap="square" lIns="0" tIns="0" rIns="0" bIns="0" rtlCol="0" anchor="ctr"/>
          <a:lstStyle/>
          <a:p>
            <a:pPr indent="0" marL="0">
              <a:buNone/>
            </a:pPr>
            <a:r>
              <a:rPr lang="en-US" sz="1600" b="1" dirty="0">
                <a:solidFill>
                  <a:schemeClr val="tx2"/>
                </a:solidFill>
              </a:rPr>
              <a:t>My goal: </a:t>
            </a:r>
            <a:pPr indent="0" marL="0">
              <a:buNone/>
            </a:pPr>
            <a:r>
              <a:rPr lang="en-US" sz="1600" dirty="0">
                <a:solidFill>
                  <a:schemeClr val="tx1"/>
                </a:solidFill>
              </a:rPr>
              <a:t>a system that is fair, reliable and easy to use, even when hundreds of students click “Register” at the same moment.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student portal</a:t>
            </a:r>
            <a:endParaRPr lang="en-US" sz="3000" dirty="0"/>
          </a:p>
        </p:txBody>
      </p:sp>
      <p:sp>
        <p:nvSpPr>
          <p:cNvPr id="3" name="shot-frame_55"/>
          <p:cNvSpPr/>
          <p:nvPr/>
        </p:nvSpPr>
        <p:spPr>
          <a:xfrm>
            <a:off x="438912" y="1124712"/>
            <a:ext cx="5294376" cy="3178112"/>
          </a:xfrm>
          <a:prstGeom prst="rect">
            <a:avLst/>
          </a:prstGeom>
          <a:solidFill>
            <a:srgbClr val="FFFFFF"/>
          </a:solidFill>
          <a:ln w="9525">
            <a:solidFill>
              <a:srgbClr val="C9D6DA"/>
            </a:solidFill>
            <a:prstDash val="solid"/>
          </a:ln>
          <a:effectLst>
            <a:outerShdw sx="100000" sy="100000" kx="0" ky="0" algn="bl" rotWithShape="0" blurRad="76200" dist="25400" dir="5400000">
              <a:srgbClr val="000000">
                <a:alpha val="12000"/>
              </a:srgbClr>
            </a:outerShdw>
          </a:effectLst>
        </p:spPr>
      </p:sp>
      <p:pic>
        <p:nvPicPr>
          <p:cNvPr id="4" name="screenshot_56" descr="Register or cancel with one click">    </p:cNvPr>
          <p:cNvPicPr>
            <a:picLocks noChangeAspect="1"/>
          </p:cNvPicPr>
          <p:nvPr/>
        </p:nvPicPr>
        <p:blipFill>
          <a:blip r:embed="rId1"/>
          <a:stretch>
            <a:fillRect/>
          </a:stretch>
        </p:blipFill>
        <p:spPr>
          <a:xfrm>
            <a:off x="457200" y="1143000"/>
            <a:ext cx="5257800" cy="3141536"/>
          </a:xfrm>
          <a:prstGeom prst="rect">
            <a:avLst/>
          </a:prstGeom>
        </p:spPr>
      </p:pic>
      <p:sp>
        <p:nvSpPr>
          <p:cNvPr id="5" name="caption-bg_57"/>
          <p:cNvSpPr/>
          <p:nvPr/>
        </p:nvSpPr>
        <p:spPr>
          <a:xfrm>
            <a:off x="548640" y="3900488"/>
            <a:ext cx="2674620" cy="292608"/>
          </a:xfrm>
          <a:prstGeom prst="roundRect">
            <a:avLst>
              <a:gd name="adj" fmla="val 18750"/>
            </a:avLst>
          </a:prstGeom>
          <a:solidFill>
            <a:srgbClr val="17323D"/>
          </a:solidFill>
          <a:ln/>
        </p:spPr>
      </p:sp>
      <p:sp>
        <p:nvSpPr>
          <p:cNvPr id="6" name="caption_58"/>
          <p:cNvSpPr txBox="1"/>
          <p:nvPr/>
        </p:nvSpPr>
        <p:spPr>
          <a:xfrm>
            <a:off x="548640" y="3900488"/>
            <a:ext cx="2674620" cy="292608"/>
          </a:xfrm>
          <a:prstGeom prst="rect">
            <a:avLst/>
          </a:prstGeom>
          <a:noFill/>
          <a:ln/>
        </p:spPr>
        <p:txBody>
          <a:bodyPr wrap="square" lIns="0" tIns="0" rIns="0" bIns="0" rtlCol="0" anchor="ctr"/>
          <a:lstStyle/>
          <a:p>
            <a:pPr algn="ctr" indent="0" marL="0">
              <a:buNone/>
            </a:pPr>
            <a:r>
              <a:rPr lang="en-US" sz="1200" b="1" dirty="0">
                <a:solidFill>
                  <a:schemeClr val="bg1"/>
                </a:solidFill>
              </a:rPr>
              <a:t>Register or cancel with one click</a:t>
            </a:r>
            <a:endParaRPr lang="en-US" sz="1200" dirty="0"/>
          </a:p>
        </p:txBody>
      </p:sp>
      <p:sp>
        <p:nvSpPr>
          <p:cNvPr id="7" name="shot-frame_59"/>
          <p:cNvSpPr/>
          <p:nvPr/>
        </p:nvSpPr>
        <p:spPr>
          <a:xfrm>
            <a:off x="6016752" y="1124712"/>
            <a:ext cx="2688336" cy="1621003"/>
          </a:xfrm>
          <a:prstGeom prst="rect">
            <a:avLst/>
          </a:prstGeom>
          <a:solidFill>
            <a:srgbClr val="FFFFFF"/>
          </a:solidFill>
          <a:ln w="9525">
            <a:solidFill>
              <a:srgbClr val="C9D6DA"/>
            </a:solidFill>
            <a:prstDash val="solid"/>
          </a:ln>
          <a:effectLst>
            <a:outerShdw sx="100000" sy="100000" kx="0" ky="0" algn="bl" rotWithShape="0" blurRad="76200" dist="25400" dir="5400000">
              <a:srgbClr val="000000">
                <a:alpha val="12000"/>
              </a:srgbClr>
            </a:outerShdw>
          </a:effectLst>
        </p:spPr>
      </p:sp>
      <p:pic>
        <p:nvPicPr>
          <p:cNvPr id="8" name="screenshot_60" descr="Weekly timetable">    </p:cNvPr>
          <p:cNvPicPr>
            <a:picLocks noChangeAspect="1"/>
          </p:cNvPicPr>
          <p:nvPr/>
        </p:nvPicPr>
        <p:blipFill>
          <a:blip r:embed="rId2"/>
          <a:stretch>
            <a:fillRect/>
          </a:stretch>
        </p:blipFill>
        <p:spPr>
          <a:xfrm>
            <a:off x="6035040" y="1143000"/>
            <a:ext cx="2651760" cy="1584427"/>
          </a:xfrm>
          <a:prstGeom prst="rect">
            <a:avLst/>
          </a:prstGeom>
        </p:spPr>
      </p:pic>
      <p:sp>
        <p:nvSpPr>
          <p:cNvPr id="9" name="caption-bg_61"/>
          <p:cNvSpPr/>
          <p:nvPr/>
        </p:nvSpPr>
        <p:spPr>
          <a:xfrm>
            <a:off x="6126480" y="2343379"/>
            <a:ext cx="1353312" cy="292608"/>
          </a:xfrm>
          <a:prstGeom prst="roundRect">
            <a:avLst>
              <a:gd name="adj" fmla="val 18750"/>
            </a:avLst>
          </a:prstGeom>
          <a:solidFill>
            <a:srgbClr val="17323D"/>
          </a:solidFill>
          <a:ln/>
        </p:spPr>
      </p:sp>
      <p:sp>
        <p:nvSpPr>
          <p:cNvPr id="10" name="caption_62"/>
          <p:cNvSpPr txBox="1"/>
          <p:nvPr/>
        </p:nvSpPr>
        <p:spPr>
          <a:xfrm>
            <a:off x="6126480" y="2343379"/>
            <a:ext cx="1353312" cy="292608"/>
          </a:xfrm>
          <a:prstGeom prst="rect">
            <a:avLst/>
          </a:prstGeom>
          <a:noFill/>
          <a:ln/>
        </p:spPr>
        <p:txBody>
          <a:bodyPr wrap="square" lIns="0" tIns="0" rIns="0" bIns="0" rtlCol="0" anchor="ctr"/>
          <a:lstStyle/>
          <a:p>
            <a:pPr algn="ctr" indent="0" marL="0">
              <a:buNone/>
            </a:pPr>
            <a:r>
              <a:rPr lang="en-US" sz="1200" b="1" dirty="0">
                <a:solidFill>
                  <a:schemeClr val="bg1"/>
                </a:solidFill>
              </a:rPr>
              <a:t>Weekly timetable</a:t>
            </a:r>
            <a:endParaRPr lang="en-US" sz="1200" dirty="0"/>
          </a:p>
        </p:txBody>
      </p:sp>
      <p:sp>
        <p:nvSpPr>
          <p:cNvPr id="11" name="shot-frame_63"/>
          <p:cNvSpPr/>
          <p:nvPr/>
        </p:nvSpPr>
        <p:spPr>
          <a:xfrm>
            <a:off x="6016752" y="2937739"/>
            <a:ext cx="2688336" cy="1621003"/>
          </a:xfrm>
          <a:prstGeom prst="rect">
            <a:avLst/>
          </a:prstGeom>
          <a:solidFill>
            <a:srgbClr val="FFFFFF"/>
          </a:solidFill>
          <a:ln w="9525">
            <a:solidFill>
              <a:srgbClr val="C9D6DA"/>
            </a:solidFill>
            <a:prstDash val="solid"/>
          </a:ln>
          <a:effectLst>
            <a:outerShdw sx="100000" sy="100000" kx="0" ky="0" algn="bl" rotWithShape="0" blurRad="76200" dist="25400" dir="5400000">
              <a:srgbClr val="000000">
                <a:alpha val="12000"/>
              </a:srgbClr>
            </a:outerShdw>
          </a:effectLst>
        </p:spPr>
      </p:sp>
      <p:pic>
        <p:nvPicPr>
          <p:cNvPr id="12" name="screenshot_64" descr="Grades and GPA">    </p:cNvPr>
          <p:cNvPicPr>
            <a:picLocks noChangeAspect="1"/>
          </p:cNvPicPr>
          <p:nvPr/>
        </p:nvPicPr>
        <p:blipFill>
          <a:blip r:embed="rId3"/>
          <a:stretch>
            <a:fillRect/>
          </a:stretch>
        </p:blipFill>
        <p:spPr>
          <a:xfrm>
            <a:off x="6035040" y="2956027"/>
            <a:ext cx="2651760" cy="1584427"/>
          </a:xfrm>
          <a:prstGeom prst="rect">
            <a:avLst/>
          </a:prstGeom>
        </p:spPr>
      </p:pic>
      <p:sp>
        <p:nvSpPr>
          <p:cNvPr id="13" name="caption-bg_65"/>
          <p:cNvSpPr/>
          <p:nvPr/>
        </p:nvSpPr>
        <p:spPr>
          <a:xfrm>
            <a:off x="6126480" y="4156405"/>
            <a:ext cx="1197864" cy="292608"/>
          </a:xfrm>
          <a:prstGeom prst="roundRect">
            <a:avLst>
              <a:gd name="adj" fmla="val 18750"/>
            </a:avLst>
          </a:prstGeom>
          <a:solidFill>
            <a:srgbClr val="17323D"/>
          </a:solidFill>
          <a:ln/>
        </p:spPr>
      </p:sp>
      <p:sp>
        <p:nvSpPr>
          <p:cNvPr id="14" name="caption_66"/>
          <p:cNvSpPr txBox="1"/>
          <p:nvPr/>
        </p:nvSpPr>
        <p:spPr>
          <a:xfrm>
            <a:off x="6126480" y="4156405"/>
            <a:ext cx="1197864" cy="292608"/>
          </a:xfrm>
          <a:prstGeom prst="rect">
            <a:avLst/>
          </a:prstGeom>
          <a:noFill/>
          <a:ln/>
        </p:spPr>
        <p:txBody>
          <a:bodyPr wrap="square" lIns="0" tIns="0" rIns="0" bIns="0" rtlCol="0" anchor="ctr"/>
          <a:lstStyle/>
          <a:p>
            <a:pPr algn="ctr" indent="0" marL="0">
              <a:buNone/>
            </a:pPr>
            <a:r>
              <a:rPr lang="en-US" sz="1200" b="1" dirty="0">
                <a:solidFill>
                  <a:schemeClr val="bg1"/>
                </a:solidFill>
              </a:rPr>
              <a:t>Grades and GPA</a:t>
            </a:r>
            <a:endParaRPr lang="en-US" sz="1200" dirty="0"/>
          </a:p>
        </p:txBody>
      </p:sp>
      <p:sp>
        <p:nvSpPr>
          <p:cNvPr id="15" name="text_67"/>
          <p:cNvSpPr txBox="1"/>
          <p:nvPr/>
        </p:nvSpPr>
        <p:spPr>
          <a:xfrm>
            <a:off x="457200" y="4389120"/>
            <a:ext cx="5257800" cy="274320"/>
          </a:xfrm>
          <a:prstGeom prst="rect">
            <a:avLst/>
          </a:prstGeom>
          <a:noFill/>
          <a:ln/>
        </p:spPr>
        <p:txBody>
          <a:bodyPr wrap="square" lIns="0" tIns="0" rIns="0" bIns="0" rtlCol="0" anchor="t"/>
          <a:lstStyle/>
          <a:p>
            <a:pPr indent="0" marL="0">
              <a:buNone/>
            </a:pPr>
            <a:r>
              <a:rPr lang="en-US" sz="1200" i="1" dirty="0">
                <a:solidFill>
                  <a:schemeClr val="accent4"/>
                </a:solidFill>
              </a:rPr>
              <a:t>Real screenshots of the running system</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administrator portal</a:t>
            </a:r>
            <a:endParaRPr lang="en-US" sz="3000" dirty="0"/>
          </a:p>
        </p:txBody>
      </p:sp>
      <p:sp>
        <p:nvSpPr>
          <p:cNvPr id="3" name="shot-frame_68"/>
          <p:cNvSpPr/>
          <p:nvPr/>
        </p:nvSpPr>
        <p:spPr>
          <a:xfrm>
            <a:off x="438912" y="1124712"/>
            <a:ext cx="5294376" cy="3178112"/>
          </a:xfrm>
          <a:prstGeom prst="rect">
            <a:avLst/>
          </a:prstGeom>
          <a:solidFill>
            <a:srgbClr val="FFFFFF"/>
          </a:solidFill>
          <a:ln w="9525">
            <a:solidFill>
              <a:srgbClr val="C9D6DA"/>
            </a:solidFill>
            <a:prstDash val="solid"/>
          </a:ln>
          <a:effectLst>
            <a:outerShdw sx="100000" sy="100000" kx="0" ky="0" algn="bl" rotWithShape="0" blurRad="76200" dist="25400" dir="5400000">
              <a:srgbClr val="000000">
                <a:alpha val="12000"/>
              </a:srgbClr>
            </a:outerShdw>
          </a:effectLst>
        </p:spPr>
      </p:sp>
      <p:pic>
        <p:nvPicPr>
          <p:cNvPr id="4" name="screenshot_69" descr="Open classes, assign lecturers and rooms">    </p:cNvPr>
          <p:cNvPicPr>
            <a:picLocks noChangeAspect="1"/>
          </p:cNvPicPr>
          <p:nvPr/>
        </p:nvPicPr>
        <p:blipFill>
          <a:blip r:embed="rId1"/>
          <a:stretch>
            <a:fillRect/>
          </a:stretch>
        </p:blipFill>
        <p:spPr>
          <a:xfrm>
            <a:off x="457200" y="1143000"/>
            <a:ext cx="5257800" cy="3141536"/>
          </a:xfrm>
          <a:prstGeom prst="rect">
            <a:avLst/>
          </a:prstGeom>
        </p:spPr>
      </p:pic>
      <p:sp>
        <p:nvSpPr>
          <p:cNvPr id="5" name="caption-bg_70"/>
          <p:cNvSpPr/>
          <p:nvPr/>
        </p:nvSpPr>
        <p:spPr>
          <a:xfrm>
            <a:off x="548640" y="3900488"/>
            <a:ext cx="3218688" cy="292608"/>
          </a:xfrm>
          <a:prstGeom prst="roundRect">
            <a:avLst>
              <a:gd name="adj" fmla="val 18750"/>
            </a:avLst>
          </a:prstGeom>
          <a:solidFill>
            <a:srgbClr val="17323D"/>
          </a:solidFill>
          <a:ln/>
        </p:spPr>
      </p:sp>
      <p:sp>
        <p:nvSpPr>
          <p:cNvPr id="6" name="caption_71"/>
          <p:cNvSpPr txBox="1"/>
          <p:nvPr/>
        </p:nvSpPr>
        <p:spPr>
          <a:xfrm>
            <a:off x="548640" y="3900488"/>
            <a:ext cx="3218688" cy="292608"/>
          </a:xfrm>
          <a:prstGeom prst="rect">
            <a:avLst/>
          </a:prstGeom>
          <a:noFill/>
          <a:ln/>
        </p:spPr>
        <p:txBody>
          <a:bodyPr wrap="square" lIns="0" tIns="0" rIns="0" bIns="0" rtlCol="0" anchor="ctr"/>
          <a:lstStyle/>
          <a:p>
            <a:pPr algn="ctr" indent="0" marL="0">
              <a:buNone/>
            </a:pPr>
            <a:r>
              <a:rPr lang="en-US" sz="1200" b="1" dirty="0">
                <a:solidFill>
                  <a:schemeClr val="bg1"/>
                </a:solidFill>
              </a:rPr>
              <a:t>Open classes, assign lecturers and rooms</a:t>
            </a:r>
            <a:endParaRPr lang="en-US" sz="1200" dirty="0"/>
          </a:p>
        </p:txBody>
      </p:sp>
      <p:sp>
        <p:nvSpPr>
          <p:cNvPr id="7" name="shot-frame_72"/>
          <p:cNvSpPr/>
          <p:nvPr/>
        </p:nvSpPr>
        <p:spPr>
          <a:xfrm>
            <a:off x="6016752" y="1124712"/>
            <a:ext cx="2688336" cy="1621003"/>
          </a:xfrm>
          <a:prstGeom prst="rect">
            <a:avLst/>
          </a:prstGeom>
          <a:solidFill>
            <a:srgbClr val="FFFFFF"/>
          </a:solidFill>
          <a:ln w="9525">
            <a:solidFill>
              <a:srgbClr val="C9D6DA"/>
            </a:solidFill>
            <a:prstDash val="solid"/>
          </a:ln>
          <a:effectLst>
            <a:outerShdw sx="100000" sy="100000" kx="0" ky="0" algn="bl" rotWithShape="0" blurRad="76200" dist="25400" dir="5400000">
              <a:srgbClr val="000000">
                <a:alpha val="12000"/>
              </a:srgbClr>
            </a:outerShdw>
          </a:effectLst>
        </p:spPr>
      </p:sp>
      <p:pic>
        <p:nvPicPr>
          <p:cNvPr id="8" name="screenshot_73" descr="Registration periods">    </p:cNvPr>
          <p:cNvPicPr>
            <a:picLocks noChangeAspect="1"/>
          </p:cNvPicPr>
          <p:nvPr/>
        </p:nvPicPr>
        <p:blipFill>
          <a:blip r:embed="rId2"/>
          <a:stretch>
            <a:fillRect/>
          </a:stretch>
        </p:blipFill>
        <p:spPr>
          <a:xfrm>
            <a:off x="6035040" y="1143000"/>
            <a:ext cx="2651760" cy="1584427"/>
          </a:xfrm>
          <a:prstGeom prst="rect">
            <a:avLst/>
          </a:prstGeom>
        </p:spPr>
      </p:pic>
      <p:sp>
        <p:nvSpPr>
          <p:cNvPr id="9" name="caption-bg_74"/>
          <p:cNvSpPr/>
          <p:nvPr/>
        </p:nvSpPr>
        <p:spPr>
          <a:xfrm>
            <a:off x="6126480" y="2343379"/>
            <a:ext cx="1664208" cy="292608"/>
          </a:xfrm>
          <a:prstGeom prst="roundRect">
            <a:avLst>
              <a:gd name="adj" fmla="val 18750"/>
            </a:avLst>
          </a:prstGeom>
          <a:solidFill>
            <a:srgbClr val="17323D"/>
          </a:solidFill>
          <a:ln/>
        </p:spPr>
      </p:sp>
      <p:sp>
        <p:nvSpPr>
          <p:cNvPr id="10" name="caption_75"/>
          <p:cNvSpPr txBox="1"/>
          <p:nvPr/>
        </p:nvSpPr>
        <p:spPr>
          <a:xfrm>
            <a:off x="6126480" y="2343379"/>
            <a:ext cx="1664208" cy="292608"/>
          </a:xfrm>
          <a:prstGeom prst="rect">
            <a:avLst/>
          </a:prstGeom>
          <a:noFill/>
          <a:ln/>
        </p:spPr>
        <p:txBody>
          <a:bodyPr wrap="square" lIns="0" tIns="0" rIns="0" bIns="0" rtlCol="0" anchor="ctr"/>
          <a:lstStyle/>
          <a:p>
            <a:pPr algn="ctr" indent="0" marL="0">
              <a:buNone/>
            </a:pPr>
            <a:r>
              <a:rPr lang="en-US" sz="1200" b="1" dirty="0">
                <a:solidFill>
                  <a:schemeClr val="bg1"/>
                </a:solidFill>
              </a:rPr>
              <a:t>Registration periods</a:t>
            </a:r>
            <a:endParaRPr lang="en-US" sz="1200" dirty="0"/>
          </a:p>
        </p:txBody>
      </p:sp>
      <p:sp>
        <p:nvSpPr>
          <p:cNvPr id="11" name="shot-frame_76"/>
          <p:cNvSpPr/>
          <p:nvPr/>
        </p:nvSpPr>
        <p:spPr>
          <a:xfrm>
            <a:off x="6016752" y="2937739"/>
            <a:ext cx="2688336" cy="1621003"/>
          </a:xfrm>
          <a:prstGeom prst="rect">
            <a:avLst/>
          </a:prstGeom>
          <a:solidFill>
            <a:srgbClr val="FFFFFF"/>
          </a:solidFill>
          <a:ln w="9525">
            <a:solidFill>
              <a:srgbClr val="C9D6DA"/>
            </a:solidFill>
            <a:prstDash val="solid"/>
          </a:ln>
          <a:effectLst>
            <a:outerShdw sx="100000" sy="100000" kx="0" ky="0" algn="bl" rotWithShape="0" blurRad="76200" dist="25400" dir="5400000">
              <a:srgbClr val="000000">
                <a:alpha val="12000"/>
              </a:srgbClr>
            </a:outerShdw>
          </a:effectLst>
        </p:spPr>
      </p:sp>
      <p:pic>
        <p:nvPicPr>
          <p:cNvPr id="12" name="screenshot_77" descr="Room schedule">    </p:cNvPr>
          <p:cNvPicPr>
            <a:picLocks noChangeAspect="1"/>
          </p:cNvPicPr>
          <p:nvPr/>
        </p:nvPicPr>
        <p:blipFill>
          <a:blip r:embed="rId3"/>
          <a:stretch>
            <a:fillRect/>
          </a:stretch>
        </p:blipFill>
        <p:spPr>
          <a:xfrm>
            <a:off x="6035040" y="2956027"/>
            <a:ext cx="2651760" cy="1584427"/>
          </a:xfrm>
          <a:prstGeom prst="rect">
            <a:avLst/>
          </a:prstGeom>
        </p:spPr>
      </p:pic>
      <p:sp>
        <p:nvSpPr>
          <p:cNvPr id="13" name="caption-bg_78"/>
          <p:cNvSpPr/>
          <p:nvPr/>
        </p:nvSpPr>
        <p:spPr>
          <a:xfrm>
            <a:off x="6126480" y="4156405"/>
            <a:ext cx="1120140" cy="292608"/>
          </a:xfrm>
          <a:prstGeom prst="roundRect">
            <a:avLst>
              <a:gd name="adj" fmla="val 18750"/>
            </a:avLst>
          </a:prstGeom>
          <a:solidFill>
            <a:srgbClr val="17323D"/>
          </a:solidFill>
          <a:ln/>
        </p:spPr>
      </p:sp>
      <p:sp>
        <p:nvSpPr>
          <p:cNvPr id="14" name="caption_79"/>
          <p:cNvSpPr txBox="1"/>
          <p:nvPr/>
        </p:nvSpPr>
        <p:spPr>
          <a:xfrm>
            <a:off x="6126480" y="4156405"/>
            <a:ext cx="1120140" cy="292608"/>
          </a:xfrm>
          <a:prstGeom prst="rect">
            <a:avLst/>
          </a:prstGeom>
          <a:noFill/>
          <a:ln/>
        </p:spPr>
        <p:txBody>
          <a:bodyPr wrap="square" lIns="0" tIns="0" rIns="0" bIns="0" rtlCol="0" anchor="ctr"/>
          <a:lstStyle/>
          <a:p>
            <a:pPr algn="ctr" indent="0" marL="0">
              <a:buNone/>
            </a:pPr>
            <a:r>
              <a:rPr lang="en-US" sz="1200" b="1" dirty="0">
                <a:solidFill>
                  <a:schemeClr val="bg1"/>
                </a:solidFill>
              </a:rPr>
              <a:t>Room schedule</a:t>
            </a:r>
            <a:endParaRPr lang="en-US" sz="1200" dirty="0"/>
          </a:p>
        </p:txBody>
      </p:sp>
      <p:sp>
        <p:nvSpPr>
          <p:cNvPr id="15" name="text_80"/>
          <p:cNvSpPr txBox="1"/>
          <p:nvPr/>
        </p:nvSpPr>
        <p:spPr>
          <a:xfrm>
            <a:off x="457200" y="4389120"/>
            <a:ext cx="5257800" cy="274320"/>
          </a:xfrm>
          <a:prstGeom prst="rect">
            <a:avLst/>
          </a:prstGeom>
          <a:noFill/>
          <a:ln/>
        </p:spPr>
        <p:txBody>
          <a:bodyPr wrap="square" lIns="0" tIns="0" rIns="0" bIns="0" rtlCol="0" anchor="t"/>
          <a:lstStyle/>
          <a:p>
            <a:pPr indent="0" marL="0">
              <a:buNone/>
            </a:pPr>
            <a:r>
              <a:rPr lang="en-US" sz="1200" i="1" dirty="0">
                <a:solidFill>
                  <a:schemeClr val="accent4"/>
                </a:solidFill>
              </a:rPr>
              <a:t>Real screenshots of the running system</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it works: three parts</a:t>
            </a:r>
            <a:endParaRPr lang="en-US" sz="3000" dirty="0"/>
          </a:p>
        </p:txBody>
      </p:sp>
      <p:sp>
        <p:nvSpPr>
          <p:cNvPr id="3" name="card_81"/>
          <p:cNvSpPr/>
          <p:nvPr/>
        </p:nvSpPr>
        <p:spPr>
          <a:xfrm>
            <a:off x="457200" y="1234440"/>
            <a:ext cx="2514600" cy="2514600"/>
          </a:xfrm>
          <a:prstGeom prst="roundRect">
            <a:avLst>
              <a:gd name="adj" fmla="val 2909"/>
            </a:avLst>
          </a:prstGeom>
          <a:solidFill>
            <a:schemeClr val="bg2"/>
          </a:solidFill>
          <a:ln/>
        </p:spPr>
      </p:sp>
      <p:sp>
        <p:nvSpPr>
          <p:cNvPr id="4" name="icon-bg_82"/>
          <p:cNvSpPr/>
          <p:nvPr/>
        </p:nvSpPr>
        <p:spPr>
          <a:xfrm>
            <a:off x="1325880" y="1463040"/>
            <a:ext cx="777240" cy="777240"/>
          </a:xfrm>
          <a:prstGeom prst="ellipse">
            <a:avLst/>
          </a:prstGeom>
          <a:solidFill>
            <a:srgbClr val="1F4E5F"/>
          </a:solidFill>
          <a:ln/>
        </p:spPr>
      </p:sp>
      <p:pic>
        <p:nvPicPr>
          <p:cNvPr id="5" name="icon_83" descr="preencoded.png">    </p:cNvPr>
          <p:cNvPicPr>
            <a:picLocks noChangeAspect="1"/>
          </p:cNvPicPr>
          <p:nvPr/>
        </p:nvPicPr>
        <p:blipFill>
          <a:blip r:embed="rId1"/>
          <a:stretch>
            <a:fillRect/>
          </a:stretch>
        </p:blipFill>
        <p:spPr>
          <a:xfrm>
            <a:off x="1520190" y="1657350"/>
            <a:ext cx="388620" cy="388620"/>
          </a:xfrm>
          <a:prstGeom prst="rect">
            <a:avLst/>
          </a:prstGeom>
        </p:spPr>
      </p:pic>
      <p:sp>
        <p:nvSpPr>
          <p:cNvPr id="6" name="text_84"/>
          <p:cNvSpPr txBox="1"/>
          <p:nvPr/>
        </p:nvSpPr>
        <p:spPr>
          <a:xfrm>
            <a:off x="594360" y="2377440"/>
            <a:ext cx="2240280" cy="365760"/>
          </a:xfrm>
          <a:prstGeom prst="rect">
            <a:avLst/>
          </a:prstGeom>
          <a:noFill/>
          <a:ln/>
        </p:spPr>
        <p:txBody>
          <a:bodyPr wrap="square" lIns="0" tIns="0" rIns="0" bIns="0" rtlCol="0" anchor="t"/>
          <a:lstStyle/>
          <a:p>
            <a:pPr algn="ctr" indent="0" marL="0">
              <a:buNone/>
            </a:pPr>
            <a:r>
              <a:rPr lang="en-US" sz="1900" b="1" dirty="0">
                <a:solidFill>
                  <a:schemeClr val="tx2"/>
                </a:solidFill>
              </a:rPr>
              <a:t>Front end</a:t>
            </a:r>
            <a:endParaRPr lang="en-US" sz="1900" dirty="0"/>
          </a:p>
        </p:txBody>
      </p:sp>
      <p:sp>
        <p:nvSpPr>
          <p:cNvPr id="7" name="text_85"/>
          <p:cNvSpPr txBox="1"/>
          <p:nvPr/>
        </p:nvSpPr>
        <p:spPr>
          <a:xfrm>
            <a:off x="640080" y="2788920"/>
            <a:ext cx="2148840" cy="594360"/>
          </a:xfrm>
          <a:prstGeom prst="rect">
            <a:avLst/>
          </a:prstGeom>
          <a:noFill/>
          <a:ln/>
        </p:spPr>
        <p:txBody>
          <a:bodyPr wrap="square" lIns="0" tIns="0" rIns="0" bIns="0" rtlCol="0" anchor="t"/>
          <a:lstStyle/>
          <a:p>
            <a:pPr algn="ctr" indent="0" marL="0">
              <a:buNone/>
            </a:pPr>
            <a:r>
              <a:rPr lang="en-US" sz="1400" dirty="0">
                <a:solidFill>
                  <a:schemeClr val="tx1"/>
                </a:solidFill>
              </a:rPr>
              <a:t>What users see and click in the browser</a:t>
            </a:r>
            <a:endParaRPr lang="en-US" sz="1400" dirty="0"/>
          </a:p>
        </p:txBody>
      </p:sp>
      <p:sp>
        <p:nvSpPr>
          <p:cNvPr id="8" name="text_86"/>
          <p:cNvSpPr txBox="1"/>
          <p:nvPr/>
        </p:nvSpPr>
        <p:spPr>
          <a:xfrm>
            <a:off x="594360" y="3383280"/>
            <a:ext cx="2240280" cy="274320"/>
          </a:xfrm>
          <a:prstGeom prst="rect">
            <a:avLst/>
          </a:prstGeom>
          <a:noFill/>
          <a:ln/>
        </p:spPr>
        <p:txBody>
          <a:bodyPr wrap="square" lIns="0" tIns="0" rIns="0" bIns="0" rtlCol="0" anchor="t"/>
          <a:lstStyle/>
          <a:p>
            <a:pPr algn="ctr" indent="0" marL="0">
              <a:buNone/>
            </a:pPr>
            <a:r>
              <a:rPr lang="en-US" sz="1300" i="1" dirty="0">
                <a:solidFill>
                  <a:schemeClr val="accent4"/>
                </a:solidFill>
              </a:rPr>
              <a:t>React</a:t>
            </a:r>
            <a:endParaRPr lang="en-US" sz="1300" dirty="0"/>
          </a:p>
        </p:txBody>
      </p:sp>
      <p:sp>
        <p:nvSpPr>
          <p:cNvPr id="9" name="arrow_87"/>
          <p:cNvSpPr/>
          <p:nvPr/>
        </p:nvSpPr>
        <p:spPr>
          <a:xfrm>
            <a:off x="3017520" y="2487168"/>
            <a:ext cx="274320" cy="0"/>
          </a:xfrm>
          <a:prstGeom prst="line">
            <a:avLst/>
          </a:prstGeom>
          <a:noFill/>
          <a:ln w="25400">
            <a:solidFill>
              <a:srgbClr val="5B6B73"/>
            </a:solidFill>
            <a:prstDash val="solid"/>
            <a:headEnd type="triangle"/>
            <a:tailEnd type="triangle"/>
          </a:ln>
        </p:spPr>
      </p:sp>
      <p:sp>
        <p:nvSpPr>
          <p:cNvPr id="10" name="card_88"/>
          <p:cNvSpPr/>
          <p:nvPr/>
        </p:nvSpPr>
        <p:spPr>
          <a:xfrm>
            <a:off x="3337560" y="1234440"/>
            <a:ext cx="2514600" cy="2514600"/>
          </a:xfrm>
          <a:prstGeom prst="roundRect">
            <a:avLst>
              <a:gd name="adj" fmla="val 2909"/>
            </a:avLst>
          </a:prstGeom>
          <a:solidFill>
            <a:schemeClr val="accent5"/>
          </a:solidFill>
          <a:ln/>
        </p:spPr>
      </p:sp>
      <p:sp>
        <p:nvSpPr>
          <p:cNvPr id="11" name="icon-bg_89"/>
          <p:cNvSpPr/>
          <p:nvPr/>
        </p:nvSpPr>
        <p:spPr>
          <a:xfrm>
            <a:off x="4206240" y="1463040"/>
            <a:ext cx="777240" cy="777240"/>
          </a:xfrm>
          <a:prstGeom prst="ellipse">
            <a:avLst/>
          </a:prstGeom>
          <a:solidFill>
            <a:srgbClr val="E07A2F"/>
          </a:solidFill>
          <a:ln/>
        </p:spPr>
      </p:sp>
      <p:pic>
        <p:nvPicPr>
          <p:cNvPr id="12" name="icon_90" descr="preencoded.png">    </p:cNvPr>
          <p:cNvPicPr>
            <a:picLocks noChangeAspect="1"/>
          </p:cNvPicPr>
          <p:nvPr/>
        </p:nvPicPr>
        <p:blipFill>
          <a:blip r:embed="rId2"/>
          <a:stretch>
            <a:fillRect/>
          </a:stretch>
        </p:blipFill>
        <p:spPr>
          <a:xfrm>
            <a:off x="4400550" y="1657350"/>
            <a:ext cx="388620" cy="388620"/>
          </a:xfrm>
          <a:prstGeom prst="rect">
            <a:avLst/>
          </a:prstGeom>
        </p:spPr>
      </p:pic>
      <p:sp>
        <p:nvSpPr>
          <p:cNvPr id="13" name="text_91"/>
          <p:cNvSpPr txBox="1"/>
          <p:nvPr/>
        </p:nvSpPr>
        <p:spPr>
          <a:xfrm>
            <a:off x="3474720" y="2377440"/>
            <a:ext cx="2240280" cy="365760"/>
          </a:xfrm>
          <a:prstGeom prst="rect">
            <a:avLst/>
          </a:prstGeom>
          <a:noFill/>
          <a:ln/>
        </p:spPr>
        <p:txBody>
          <a:bodyPr wrap="square" lIns="0" tIns="0" rIns="0" bIns="0" rtlCol="0" anchor="t"/>
          <a:lstStyle/>
          <a:p>
            <a:pPr algn="ctr" indent="0" marL="0">
              <a:buNone/>
            </a:pPr>
            <a:r>
              <a:rPr lang="en-US" sz="1900" b="1" dirty="0">
                <a:solidFill>
                  <a:schemeClr val="tx2"/>
                </a:solidFill>
              </a:rPr>
              <a:t>Back end</a:t>
            </a:r>
            <a:endParaRPr lang="en-US" sz="1900" dirty="0"/>
          </a:p>
        </p:txBody>
      </p:sp>
      <p:sp>
        <p:nvSpPr>
          <p:cNvPr id="14" name="text_92"/>
          <p:cNvSpPr txBox="1"/>
          <p:nvPr/>
        </p:nvSpPr>
        <p:spPr>
          <a:xfrm>
            <a:off x="3520440" y="2788920"/>
            <a:ext cx="2148840" cy="594360"/>
          </a:xfrm>
          <a:prstGeom prst="rect">
            <a:avLst/>
          </a:prstGeom>
          <a:noFill/>
          <a:ln/>
        </p:spPr>
        <p:txBody>
          <a:bodyPr wrap="square" lIns="0" tIns="0" rIns="0" bIns="0" rtlCol="0" anchor="t"/>
          <a:lstStyle/>
          <a:p>
            <a:pPr algn="ctr" indent="0" marL="0">
              <a:buNone/>
            </a:pPr>
            <a:r>
              <a:rPr lang="en-US" sz="1400" dirty="0">
                <a:solidFill>
                  <a:schemeClr val="tx1"/>
                </a:solidFill>
              </a:rPr>
              <a:t>Checks who you are and applies the rules</a:t>
            </a:r>
            <a:endParaRPr lang="en-US" sz="1400" dirty="0"/>
          </a:p>
        </p:txBody>
      </p:sp>
      <p:sp>
        <p:nvSpPr>
          <p:cNvPr id="15" name="text_93"/>
          <p:cNvSpPr txBox="1"/>
          <p:nvPr/>
        </p:nvSpPr>
        <p:spPr>
          <a:xfrm>
            <a:off x="3474720" y="3383280"/>
            <a:ext cx="2240280" cy="274320"/>
          </a:xfrm>
          <a:prstGeom prst="rect">
            <a:avLst/>
          </a:prstGeom>
          <a:noFill/>
          <a:ln/>
        </p:spPr>
        <p:txBody>
          <a:bodyPr wrap="square" lIns="0" tIns="0" rIns="0" bIns="0" rtlCol="0" anchor="t"/>
          <a:lstStyle/>
          <a:p>
            <a:pPr algn="ctr" indent="0" marL="0">
              <a:buNone/>
            </a:pPr>
            <a:r>
              <a:rPr lang="en-US" sz="1300" i="1" dirty="0">
                <a:solidFill>
                  <a:schemeClr val="accent4"/>
                </a:solidFill>
              </a:rPr>
              <a:t>Node.js + Express</a:t>
            </a:r>
            <a:endParaRPr lang="en-US" sz="1300" dirty="0"/>
          </a:p>
        </p:txBody>
      </p:sp>
      <p:sp>
        <p:nvSpPr>
          <p:cNvPr id="16" name="arrow_94"/>
          <p:cNvSpPr/>
          <p:nvPr/>
        </p:nvSpPr>
        <p:spPr>
          <a:xfrm>
            <a:off x="5897880" y="2487168"/>
            <a:ext cx="274320" cy="0"/>
          </a:xfrm>
          <a:prstGeom prst="line">
            <a:avLst/>
          </a:prstGeom>
          <a:noFill/>
          <a:ln w="25400">
            <a:solidFill>
              <a:srgbClr val="5B6B73"/>
            </a:solidFill>
            <a:prstDash val="solid"/>
            <a:headEnd type="triangle"/>
            <a:tailEnd type="triangle"/>
          </a:ln>
        </p:spPr>
      </p:sp>
      <p:sp>
        <p:nvSpPr>
          <p:cNvPr id="17" name="card_95"/>
          <p:cNvSpPr/>
          <p:nvPr/>
        </p:nvSpPr>
        <p:spPr>
          <a:xfrm>
            <a:off x="6217920" y="1234440"/>
            <a:ext cx="2514600" cy="2514600"/>
          </a:xfrm>
          <a:prstGeom prst="roundRect">
            <a:avLst>
              <a:gd name="adj" fmla="val 2909"/>
            </a:avLst>
          </a:prstGeom>
          <a:solidFill>
            <a:schemeClr val="bg2"/>
          </a:solidFill>
          <a:ln/>
        </p:spPr>
      </p:sp>
      <p:sp>
        <p:nvSpPr>
          <p:cNvPr id="18" name="icon-bg_96"/>
          <p:cNvSpPr/>
          <p:nvPr/>
        </p:nvSpPr>
        <p:spPr>
          <a:xfrm>
            <a:off x="7086600" y="1463040"/>
            <a:ext cx="777240" cy="777240"/>
          </a:xfrm>
          <a:prstGeom prst="ellipse">
            <a:avLst/>
          </a:prstGeom>
          <a:solidFill>
            <a:srgbClr val="1F4E5F"/>
          </a:solidFill>
          <a:ln/>
        </p:spPr>
      </p:sp>
      <p:pic>
        <p:nvPicPr>
          <p:cNvPr id="19" name="icon_97" descr="preencoded.png">    </p:cNvPr>
          <p:cNvPicPr>
            <a:picLocks noChangeAspect="1"/>
          </p:cNvPicPr>
          <p:nvPr/>
        </p:nvPicPr>
        <p:blipFill>
          <a:blip r:embed="rId3"/>
          <a:stretch>
            <a:fillRect/>
          </a:stretch>
        </p:blipFill>
        <p:spPr>
          <a:xfrm>
            <a:off x="7280910" y="1657350"/>
            <a:ext cx="388620" cy="388620"/>
          </a:xfrm>
          <a:prstGeom prst="rect">
            <a:avLst/>
          </a:prstGeom>
        </p:spPr>
      </p:pic>
      <p:sp>
        <p:nvSpPr>
          <p:cNvPr id="20" name="text_98"/>
          <p:cNvSpPr txBox="1"/>
          <p:nvPr/>
        </p:nvSpPr>
        <p:spPr>
          <a:xfrm>
            <a:off x="6355080" y="2377440"/>
            <a:ext cx="2240280" cy="365760"/>
          </a:xfrm>
          <a:prstGeom prst="rect">
            <a:avLst/>
          </a:prstGeom>
          <a:noFill/>
          <a:ln/>
        </p:spPr>
        <p:txBody>
          <a:bodyPr wrap="square" lIns="0" tIns="0" rIns="0" bIns="0" rtlCol="0" anchor="t"/>
          <a:lstStyle/>
          <a:p>
            <a:pPr algn="ctr" indent="0" marL="0">
              <a:buNone/>
            </a:pPr>
            <a:r>
              <a:rPr lang="en-US" sz="1900" b="1" dirty="0">
                <a:solidFill>
                  <a:schemeClr val="tx2"/>
                </a:solidFill>
              </a:rPr>
              <a:t>Database</a:t>
            </a:r>
            <a:endParaRPr lang="en-US" sz="1900" dirty="0"/>
          </a:p>
        </p:txBody>
      </p:sp>
      <p:sp>
        <p:nvSpPr>
          <p:cNvPr id="21" name="text_99"/>
          <p:cNvSpPr txBox="1"/>
          <p:nvPr/>
        </p:nvSpPr>
        <p:spPr>
          <a:xfrm>
            <a:off x="6400800" y="2788920"/>
            <a:ext cx="2148840" cy="594360"/>
          </a:xfrm>
          <a:prstGeom prst="rect">
            <a:avLst/>
          </a:prstGeom>
          <a:noFill/>
          <a:ln/>
        </p:spPr>
        <p:txBody>
          <a:bodyPr wrap="square" lIns="0" tIns="0" rIns="0" bIns="0" rtlCol="0" anchor="t"/>
          <a:lstStyle/>
          <a:p>
            <a:pPr algn="ctr" indent="0" marL="0">
              <a:buNone/>
            </a:pPr>
            <a:r>
              <a:rPr lang="en-US" sz="1400" dirty="0">
                <a:solidFill>
                  <a:schemeClr val="tx1"/>
                </a:solidFill>
              </a:rPr>
              <a:t>Stores students, classes, timetables and grades</a:t>
            </a:r>
            <a:endParaRPr lang="en-US" sz="1400" dirty="0"/>
          </a:p>
        </p:txBody>
      </p:sp>
      <p:sp>
        <p:nvSpPr>
          <p:cNvPr id="22" name="text_100"/>
          <p:cNvSpPr txBox="1"/>
          <p:nvPr/>
        </p:nvSpPr>
        <p:spPr>
          <a:xfrm>
            <a:off x="6355080" y="3383280"/>
            <a:ext cx="2240280" cy="274320"/>
          </a:xfrm>
          <a:prstGeom prst="rect">
            <a:avLst/>
          </a:prstGeom>
          <a:noFill/>
          <a:ln/>
        </p:spPr>
        <p:txBody>
          <a:bodyPr wrap="square" lIns="0" tIns="0" rIns="0" bIns="0" rtlCol="0" anchor="t"/>
          <a:lstStyle/>
          <a:p>
            <a:pPr algn="ctr" indent="0" marL="0">
              <a:buNone/>
            </a:pPr>
            <a:r>
              <a:rPr lang="en-US" sz="1300" i="1" dirty="0">
                <a:solidFill>
                  <a:schemeClr val="accent4"/>
                </a:solidFill>
              </a:rPr>
              <a:t>MySQL</a:t>
            </a:r>
            <a:endParaRPr lang="en-US" sz="1300" dirty="0"/>
          </a:p>
        </p:txBody>
      </p:sp>
      <p:sp>
        <p:nvSpPr>
          <p:cNvPr id="23" name="card_101"/>
          <p:cNvSpPr/>
          <p:nvPr/>
        </p:nvSpPr>
        <p:spPr>
          <a:xfrm>
            <a:off x="457200" y="3931920"/>
            <a:ext cx="8229600" cy="548640"/>
          </a:xfrm>
          <a:prstGeom prst="roundRect">
            <a:avLst>
              <a:gd name="adj" fmla="val 13333"/>
            </a:avLst>
          </a:prstGeom>
          <a:solidFill>
            <a:schemeClr val="accent5"/>
          </a:solidFill>
          <a:ln/>
        </p:spPr>
      </p:sp>
      <p:sp>
        <p:nvSpPr>
          <p:cNvPr id="24" name="icon-bg_102"/>
          <p:cNvSpPr/>
          <p:nvPr/>
        </p:nvSpPr>
        <p:spPr>
          <a:xfrm>
            <a:off x="594360" y="3995928"/>
            <a:ext cx="420624" cy="420624"/>
          </a:xfrm>
          <a:prstGeom prst="ellipse">
            <a:avLst/>
          </a:prstGeom>
          <a:solidFill>
            <a:srgbClr val="1F4E5F"/>
          </a:solidFill>
          <a:ln/>
        </p:spPr>
      </p:sp>
      <p:pic>
        <p:nvPicPr>
          <p:cNvPr id="25" name="icon_103" descr="preencoded.png">    </p:cNvPr>
          <p:cNvPicPr>
            <a:picLocks noChangeAspect="1"/>
          </p:cNvPicPr>
          <p:nvPr/>
        </p:nvPicPr>
        <p:blipFill>
          <a:blip r:embed="rId4"/>
          <a:stretch>
            <a:fillRect/>
          </a:stretch>
        </p:blipFill>
        <p:spPr>
          <a:xfrm>
            <a:off x="699516" y="4101084"/>
            <a:ext cx="210312" cy="210312"/>
          </a:xfrm>
          <a:prstGeom prst="rect">
            <a:avLst/>
          </a:prstGeom>
        </p:spPr>
      </p:pic>
      <p:sp>
        <p:nvSpPr>
          <p:cNvPr id="26" name="text_104"/>
          <p:cNvSpPr txBox="1"/>
          <p:nvPr/>
        </p:nvSpPr>
        <p:spPr>
          <a:xfrm>
            <a:off x="1188720" y="3931920"/>
            <a:ext cx="7315200" cy="548640"/>
          </a:xfrm>
          <a:prstGeom prst="rect">
            <a:avLst/>
          </a:prstGeom>
          <a:noFill/>
          <a:ln/>
        </p:spPr>
        <p:txBody>
          <a:bodyPr wrap="square" lIns="0" tIns="0" rIns="0" bIns="0" rtlCol="0" anchor="ctr"/>
          <a:lstStyle/>
          <a:p>
            <a:pPr indent="0" marL="0">
              <a:buNone/>
            </a:pPr>
            <a:r>
              <a:rPr lang="en-US" sz="1500" dirty="0">
                <a:solidFill>
                  <a:schemeClr val="tx2"/>
                </a:solidFill>
              </a:rPr>
              <a:t>Packaged with Docker: the whole system starts with one command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Challenge 1: the last seat</a:t>
            </a:r>
            <a:endParaRPr lang="en-US" sz="3000" dirty="0"/>
          </a:p>
        </p:txBody>
      </p:sp>
      <p:sp>
        <p:nvSpPr>
          <p:cNvPr id="3" name="card_105"/>
          <p:cNvSpPr/>
          <p:nvPr/>
        </p:nvSpPr>
        <p:spPr>
          <a:xfrm>
            <a:off x="457200" y="1188720"/>
            <a:ext cx="4023360" cy="3291840"/>
          </a:xfrm>
          <a:prstGeom prst="roundRect">
            <a:avLst>
              <a:gd name="adj" fmla="val 2222"/>
            </a:avLst>
          </a:prstGeom>
          <a:solidFill>
            <a:schemeClr val="bg2"/>
          </a:solidFill>
          <a:ln/>
        </p:spPr>
      </p:sp>
      <p:sp>
        <p:nvSpPr>
          <p:cNvPr id="4" name="text_106"/>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1800" b="1" dirty="0">
                <a:solidFill>
                  <a:schemeClr val="accent2"/>
                </a:solidFill>
              </a:rPr>
              <a:t>Without protection</a:t>
            </a:r>
            <a:endParaRPr lang="en-US" sz="1800" dirty="0"/>
          </a:p>
        </p:txBody>
      </p:sp>
      <p:sp>
        <p:nvSpPr>
          <p:cNvPr id="5" name="step_107"/>
          <p:cNvSpPr/>
          <p:nvPr/>
        </p:nvSpPr>
        <p:spPr>
          <a:xfrm>
            <a:off x="685800" y="1828800"/>
            <a:ext cx="411480" cy="411480"/>
          </a:xfrm>
          <a:prstGeom prst="ellipse">
            <a:avLst/>
          </a:prstGeom>
          <a:solidFill>
            <a:srgbClr val="5B6B73"/>
          </a:solidFill>
          <a:ln/>
        </p:spPr>
      </p:sp>
      <p:sp>
        <p:nvSpPr>
          <p:cNvPr id="6" name="text_108"/>
          <p:cNvSpPr txBox="1"/>
          <p:nvPr/>
        </p:nvSpPr>
        <p:spPr>
          <a:xfrm>
            <a:off x="685800" y="1828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_109"/>
          <p:cNvSpPr txBox="1"/>
          <p:nvPr/>
        </p:nvSpPr>
        <p:spPr>
          <a:xfrm>
            <a:off x="1280160" y="1828800"/>
            <a:ext cx="3017520" cy="411480"/>
          </a:xfrm>
          <a:prstGeom prst="rect">
            <a:avLst/>
          </a:prstGeom>
          <a:noFill/>
          <a:ln/>
        </p:spPr>
        <p:txBody>
          <a:bodyPr wrap="square" lIns="0" tIns="0" rIns="0" bIns="0" rtlCol="0" anchor="ctr"/>
          <a:lstStyle/>
          <a:p>
            <a:pPr indent="0" marL="0">
              <a:buNone/>
            </a:pPr>
            <a:r>
              <a:rPr lang="en-US" sz="1500" dirty="0">
                <a:solidFill>
                  <a:schemeClr val="tx1"/>
                </a:solidFill>
              </a:rPr>
              <a:t>Student A reads: 1 seat left</a:t>
            </a:r>
            <a:endParaRPr lang="en-US" sz="1500" dirty="0"/>
          </a:p>
        </p:txBody>
      </p:sp>
      <p:sp>
        <p:nvSpPr>
          <p:cNvPr id="8" name="step_110"/>
          <p:cNvSpPr/>
          <p:nvPr/>
        </p:nvSpPr>
        <p:spPr>
          <a:xfrm>
            <a:off x="685800" y="2450592"/>
            <a:ext cx="411480" cy="411480"/>
          </a:xfrm>
          <a:prstGeom prst="ellipse">
            <a:avLst/>
          </a:prstGeom>
          <a:solidFill>
            <a:srgbClr val="5B6B73"/>
          </a:solidFill>
          <a:ln/>
        </p:spPr>
      </p:sp>
      <p:sp>
        <p:nvSpPr>
          <p:cNvPr id="9" name="text_111"/>
          <p:cNvSpPr txBox="1"/>
          <p:nvPr/>
        </p:nvSpPr>
        <p:spPr>
          <a:xfrm>
            <a:off x="685800" y="245059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_112"/>
          <p:cNvSpPr txBox="1"/>
          <p:nvPr/>
        </p:nvSpPr>
        <p:spPr>
          <a:xfrm>
            <a:off x="1280160" y="2450592"/>
            <a:ext cx="3017520" cy="411480"/>
          </a:xfrm>
          <a:prstGeom prst="rect">
            <a:avLst/>
          </a:prstGeom>
          <a:noFill/>
          <a:ln/>
        </p:spPr>
        <p:txBody>
          <a:bodyPr wrap="square" lIns="0" tIns="0" rIns="0" bIns="0" rtlCol="0" anchor="ctr"/>
          <a:lstStyle/>
          <a:p>
            <a:pPr indent="0" marL="0">
              <a:buNone/>
            </a:pPr>
            <a:r>
              <a:rPr lang="en-US" sz="1500" dirty="0">
                <a:solidFill>
                  <a:schemeClr val="tx1"/>
                </a:solidFill>
              </a:rPr>
              <a:t>Student B reads: 1 seat left</a:t>
            </a:r>
            <a:endParaRPr lang="en-US" sz="1500" dirty="0"/>
          </a:p>
        </p:txBody>
      </p:sp>
      <p:sp>
        <p:nvSpPr>
          <p:cNvPr id="11" name="step_113"/>
          <p:cNvSpPr/>
          <p:nvPr/>
        </p:nvSpPr>
        <p:spPr>
          <a:xfrm>
            <a:off x="685800" y="3072384"/>
            <a:ext cx="411480" cy="411480"/>
          </a:xfrm>
          <a:prstGeom prst="ellipse">
            <a:avLst/>
          </a:prstGeom>
          <a:solidFill>
            <a:srgbClr val="5B6B73"/>
          </a:solidFill>
          <a:ln/>
        </p:spPr>
      </p:sp>
      <p:sp>
        <p:nvSpPr>
          <p:cNvPr id="12" name="text_114"/>
          <p:cNvSpPr txBox="1"/>
          <p:nvPr/>
        </p:nvSpPr>
        <p:spPr>
          <a:xfrm>
            <a:off x="685800" y="307238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_115"/>
          <p:cNvSpPr txBox="1"/>
          <p:nvPr/>
        </p:nvSpPr>
        <p:spPr>
          <a:xfrm>
            <a:off x="1280160" y="3072384"/>
            <a:ext cx="3017520" cy="411480"/>
          </a:xfrm>
          <a:prstGeom prst="rect">
            <a:avLst/>
          </a:prstGeom>
          <a:noFill/>
          <a:ln/>
        </p:spPr>
        <p:txBody>
          <a:bodyPr wrap="square" lIns="0" tIns="0" rIns="0" bIns="0" rtlCol="0" anchor="ctr"/>
          <a:lstStyle/>
          <a:p>
            <a:pPr indent="0" marL="0">
              <a:buNone/>
            </a:pPr>
            <a:r>
              <a:rPr lang="en-US" sz="1500" dirty="0">
                <a:solidFill>
                  <a:schemeClr val="tx1"/>
                </a:solidFill>
              </a:rPr>
              <a:t>Both are registered</a:t>
            </a:r>
            <a:endParaRPr lang="en-US" sz="1500" dirty="0"/>
          </a:p>
        </p:txBody>
      </p:sp>
      <p:sp>
        <p:nvSpPr>
          <p:cNvPr id="14" name="step_116"/>
          <p:cNvSpPr/>
          <p:nvPr/>
        </p:nvSpPr>
        <p:spPr>
          <a:xfrm>
            <a:off x="685800" y="3694176"/>
            <a:ext cx="411480" cy="411480"/>
          </a:xfrm>
          <a:prstGeom prst="ellipse">
            <a:avLst/>
          </a:prstGeom>
          <a:solidFill>
            <a:srgbClr val="E07A2F"/>
          </a:solidFill>
          <a:ln/>
        </p:spPr>
      </p:sp>
      <p:sp>
        <p:nvSpPr>
          <p:cNvPr id="15" name="text_117"/>
          <p:cNvSpPr txBox="1"/>
          <p:nvPr/>
        </p:nvSpPr>
        <p:spPr>
          <a:xfrm>
            <a:off x="685800" y="369417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_118"/>
          <p:cNvSpPr txBox="1"/>
          <p:nvPr/>
        </p:nvSpPr>
        <p:spPr>
          <a:xfrm>
            <a:off x="1280160" y="3694176"/>
            <a:ext cx="3017520" cy="411480"/>
          </a:xfrm>
          <a:prstGeom prst="rect">
            <a:avLst/>
          </a:prstGeom>
          <a:noFill/>
          <a:ln/>
        </p:spPr>
        <p:txBody>
          <a:bodyPr wrap="square" lIns="0" tIns="0" rIns="0" bIns="0" rtlCol="0" anchor="ctr"/>
          <a:lstStyle/>
          <a:p>
            <a:pPr indent="0" marL="0">
              <a:buNone/>
            </a:pPr>
            <a:r>
              <a:rPr lang="en-US" sz="1500" b="1" dirty="0">
                <a:solidFill>
                  <a:schemeClr val="tx1"/>
                </a:solidFill>
              </a:rPr>
              <a:t>Class is over-full: 41 / 40</a:t>
            </a:r>
            <a:endParaRPr lang="en-US" sz="1500" dirty="0"/>
          </a:p>
        </p:txBody>
      </p:sp>
      <p:sp>
        <p:nvSpPr>
          <p:cNvPr id="17" name="card_119"/>
          <p:cNvSpPr/>
          <p:nvPr/>
        </p:nvSpPr>
        <p:spPr>
          <a:xfrm>
            <a:off x="4663440" y="1188720"/>
            <a:ext cx="4023360" cy="3291840"/>
          </a:xfrm>
          <a:prstGeom prst="roundRect">
            <a:avLst>
              <a:gd name="adj" fmla="val 2222"/>
            </a:avLst>
          </a:prstGeom>
          <a:solidFill>
            <a:schemeClr val="accent5"/>
          </a:solidFill>
          <a:ln/>
        </p:spPr>
      </p:sp>
      <p:sp>
        <p:nvSpPr>
          <p:cNvPr id="18" name="text_120"/>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1800" b="1" dirty="0">
                <a:solidFill>
                  <a:schemeClr val="tx2"/>
                </a:solidFill>
              </a:rPr>
              <a:t>My solution</a:t>
            </a:r>
            <a:endParaRPr lang="en-US" sz="1800" dirty="0"/>
          </a:p>
        </p:txBody>
      </p:sp>
      <p:sp>
        <p:nvSpPr>
          <p:cNvPr id="19" name="text_121"/>
          <p:cNvSpPr txBox="1"/>
          <p:nvPr/>
        </p:nvSpPr>
        <p:spPr>
          <a:xfrm>
            <a:off x="4892040" y="1828800"/>
            <a:ext cx="3611880" cy="777240"/>
          </a:xfrm>
          <a:prstGeom prst="rect">
            <a:avLst/>
          </a:prstGeom>
          <a:noFill/>
          <a:ln/>
        </p:spPr>
        <p:txBody>
          <a:bodyPr wrap="square" lIns="0" tIns="0" rIns="0" bIns="0" rtlCol="0" anchor="t"/>
          <a:lstStyle/>
          <a:p>
            <a:pPr indent="0" marL="0">
              <a:buNone/>
            </a:pPr>
            <a:r>
              <a:rPr lang="en-US" sz="1400" b="1" dirty="0">
                <a:solidFill>
                  <a:schemeClr val="tx2"/>
                </a:solidFill>
              </a:rPr>
              <a:t>All or nothing</a:t>
            </a:r>
            <a:endParaRPr lang="en-US" sz="1400" dirty="0"/>
          </a:p>
          <a:p>
            <a:pPr indent="0" marL="0">
              <a:buNone/>
            </a:pPr>
            <a:r>
              <a:rPr lang="en-US" sz="1400" dirty="0">
                <a:solidFill>
                  <a:schemeClr val="tx1"/>
                </a:solidFill>
              </a:rPr>
              <a:t>every check and the sign-up succeed together, or nothing changes</a:t>
            </a:r>
            <a:endParaRPr lang="en-US" sz="1400" dirty="0"/>
          </a:p>
        </p:txBody>
      </p:sp>
      <p:sp>
        <p:nvSpPr>
          <p:cNvPr id="20" name="text_122"/>
          <p:cNvSpPr txBox="1"/>
          <p:nvPr/>
        </p:nvSpPr>
        <p:spPr>
          <a:xfrm>
            <a:off x="4892040" y="2697480"/>
            <a:ext cx="3611880" cy="777240"/>
          </a:xfrm>
          <a:prstGeom prst="rect">
            <a:avLst/>
          </a:prstGeom>
          <a:noFill/>
          <a:ln/>
        </p:spPr>
        <p:txBody>
          <a:bodyPr wrap="square" lIns="0" tIns="0" rIns="0" bIns="0" rtlCol="0" anchor="t"/>
          <a:lstStyle/>
          <a:p>
            <a:pPr indent="0" marL="0">
              <a:buNone/>
            </a:pPr>
            <a:r>
              <a:rPr lang="en-US" sz="1400" b="1" dirty="0">
                <a:solidFill>
                  <a:schemeClr val="tx2"/>
                </a:solidFill>
              </a:rPr>
              <a:t>A short lock</a:t>
            </a:r>
            <a:endParaRPr lang="en-US" sz="1400" dirty="0"/>
          </a:p>
          <a:p>
            <a:pPr indent="0" marL="0">
              <a:buNone/>
            </a:pPr>
            <a:r>
              <a:rPr lang="en-US" sz="1400" dirty="0">
                <a:solidFill>
                  <a:schemeClr val="tx1"/>
                </a:solidFill>
              </a:rPr>
              <a:t>the class is locked for a moment, so Student B waits for Student A</a:t>
            </a:r>
            <a:endParaRPr lang="en-US" sz="1400" dirty="0"/>
          </a:p>
        </p:txBody>
      </p:sp>
      <p:sp>
        <p:nvSpPr>
          <p:cNvPr id="21" name="text_123"/>
          <p:cNvSpPr txBox="1"/>
          <p:nvPr/>
        </p:nvSpPr>
        <p:spPr>
          <a:xfrm>
            <a:off x="4892040" y="3566160"/>
            <a:ext cx="3611880" cy="777240"/>
          </a:xfrm>
          <a:prstGeom prst="rect">
            <a:avLst/>
          </a:prstGeom>
          <a:noFill/>
          <a:ln/>
        </p:spPr>
        <p:txBody>
          <a:bodyPr wrap="square" lIns="0" tIns="0" rIns="0" bIns="0" rtlCol="0" anchor="t"/>
          <a:lstStyle/>
          <a:p>
            <a:pPr indent="0" marL="0">
              <a:buNone/>
            </a:pPr>
            <a:r>
              <a:rPr lang="en-US" sz="1400" b="1" dirty="0">
                <a:solidFill>
                  <a:schemeClr val="tx2"/>
                </a:solidFill>
              </a:rPr>
              <a:t>A safety rule</a:t>
            </a:r>
            <a:endParaRPr lang="en-US" sz="1400" dirty="0"/>
          </a:p>
          <a:p>
            <a:pPr indent="0" marL="0">
              <a:buNone/>
            </a:pPr>
            <a:r>
              <a:rPr lang="en-US" sz="1400" dirty="0">
                <a:solidFill>
                  <a:schemeClr val="tx1"/>
                </a:solidFill>
              </a:rPr>
              <a:t>the database itself refuses more students than seats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Challenge 2: timetable clashes</a:t>
            </a:r>
            <a:endParaRPr lang="en-US" sz="3000" dirty="0"/>
          </a:p>
        </p:txBody>
      </p:sp>
      <p:sp>
        <p:nvSpPr>
          <p:cNvPr id="3" name="text_124"/>
          <p:cNvSpPr txBox="1"/>
          <p:nvPr/>
        </p:nvSpPr>
        <p:spPr>
          <a:xfrm>
            <a:off x="457200" y="1097280"/>
            <a:ext cx="8229600" cy="365760"/>
          </a:xfrm>
          <a:prstGeom prst="rect">
            <a:avLst/>
          </a:prstGeom>
          <a:noFill/>
          <a:ln/>
        </p:spPr>
        <p:txBody>
          <a:bodyPr wrap="square" lIns="0" tIns="0" rIns="0" bIns="0" rtlCol="0" anchor="t"/>
          <a:lstStyle/>
          <a:p>
            <a:pPr indent="0" marL="0">
              <a:buNone/>
            </a:pPr>
            <a:r>
              <a:rPr lang="en-US" sz="1600" dirty="0">
                <a:solidFill>
                  <a:schemeClr val="accent4"/>
                </a:solidFill>
              </a:rPr>
              <a:t>Two classes clash only if all three conditions are true</a:t>
            </a:r>
            <a:endParaRPr lang="en-US" sz="1600" dirty="0"/>
          </a:p>
        </p:txBody>
      </p:sp>
      <p:sp>
        <p:nvSpPr>
          <p:cNvPr id="4" name="card_125"/>
          <p:cNvSpPr/>
          <p:nvPr/>
        </p:nvSpPr>
        <p:spPr>
          <a:xfrm>
            <a:off x="457200" y="1645920"/>
            <a:ext cx="2651760" cy="2011680"/>
          </a:xfrm>
          <a:prstGeom prst="roundRect">
            <a:avLst>
              <a:gd name="adj" fmla="val 3636"/>
            </a:avLst>
          </a:prstGeom>
          <a:solidFill>
            <a:schemeClr val="bg2"/>
          </a:solidFill>
          <a:ln/>
        </p:spPr>
      </p:sp>
      <p:sp>
        <p:nvSpPr>
          <p:cNvPr id="5" name="icon-bg_126"/>
          <p:cNvSpPr/>
          <p:nvPr/>
        </p:nvSpPr>
        <p:spPr>
          <a:xfrm>
            <a:off x="685800" y="1874520"/>
            <a:ext cx="640080" cy="640080"/>
          </a:xfrm>
          <a:prstGeom prst="ellipse">
            <a:avLst/>
          </a:prstGeom>
          <a:solidFill>
            <a:srgbClr val="1F4E5F"/>
          </a:solidFill>
          <a:ln/>
        </p:spPr>
      </p:sp>
      <p:pic>
        <p:nvPicPr>
          <p:cNvPr id="6" name="icon_127" descr="preencoded.png">    </p:cNvPr>
          <p:cNvPicPr>
            <a:picLocks noChangeAspect="1"/>
          </p:cNvPicPr>
          <p:nvPr/>
        </p:nvPicPr>
        <p:blipFill>
          <a:blip r:embed="rId1"/>
          <a:stretch>
            <a:fillRect/>
          </a:stretch>
        </p:blipFill>
        <p:spPr>
          <a:xfrm>
            <a:off x="845820" y="2034540"/>
            <a:ext cx="320040" cy="320040"/>
          </a:xfrm>
          <a:prstGeom prst="rect">
            <a:avLst/>
          </a:prstGeom>
        </p:spPr>
      </p:pic>
      <p:sp>
        <p:nvSpPr>
          <p:cNvPr id="7" name="text_128"/>
          <p:cNvSpPr txBox="1"/>
          <p:nvPr/>
        </p:nvSpPr>
        <p:spPr>
          <a:xfrm>
            <a:off x="68580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Same day</a:t>
            </a:r>
            <a:endParaRPr lang="en-US" sz="1700" dirty="0"/>
          </a:p>
        </p:txBody>
      </p:sp>
      <p:sp>
        <p:nvSpPr>
          <p:cNvPr id="8" name="text_129"/>
          <p:cNvSpPr txBox="1"/>
          <p:nvPr/>
        </p:nvSpPr>
        <p:spPr>
          <a:xfrm>
            <a:off x="68580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Both meet on, for example, Monday</a:t>
            </a:r>
            <a:endParaRPr lang="en-US" sz="1300" dirty="0"/>
          </a:p>
        </p:txBody>
      </p:sp>
      <p:sp>
        <p:nvSpPr>
          <p:cNvPr id="9" name="card_130"/>
          <p:cNvSpPr/>
          <p:nvPr/>
        </p:nvSpPr>
        <p:spPr>
          <a:xfrm>
            <a:off x="3246120" y="1645920"/>
            <a:ext cx="2651760" cy="2011680"/>
          </a:xfrm>
          <a:prstGeom prst="roundRect">
            <a:avLst>
              <a:gd name="adj" fmla="val 3636"/>
            </a:avLst>
          </a:prstGeom>
          <a:solidFill>
            <a:schemeClr val="bg2"/>
          </a:solidFill>
          <a:ln/>
        </p:spPr>
      </p:sp>
      <p:sp>
        <p:nvSpPr>
          <p:cNvPr id="10" name="icon-bg_131"/>
          <p:cNvSpPr/>
          <p:nvPr/>
        </p:nvSpPr>
        <p:spPr>
          <a:xfrm>
            <a:off x="3474720" y="1874520"/>
            <a:ext cx="640080" cy="640080"/>
          </a:xfrm>
          <a:prstGeom prst="ellipse">
            <a:avLst/>
          </a:prstGeom>
          <a:solidFill>
            <a:srgbClr val="1F4E5F"/>
          </a:solidFill>
          <a:ln/>
        </p:spPr>
      </p:sp>
      <p:pic>
        <p:nvPicPr>
          <p:cNvPr id="11" name="icon_132" descr="preencoded.png">    </p:cNvPr>
          <p:cNvPicPr>
            <a:picLocks noChangeAspect="1"/>
          </p:cNvPicPr>
          <p:nvPr/>
        </p:nvPicPr>
        <p:blipFill>
          <a:blip r:embed="rId2"/>
          <a:stretch>
            <a:fillRect/>
          </a:stretch>
        </p:blipFill>
        <p:spPr>
          <a:xfrm>
            <a:off x="3634740" y="2034540"/>
            <a:ext cx="320040" cy="320040"/>
          </a:xfrm>
          <a:prstGeom prst="rect">
            <a:avLst/>
          </a:prstGeom>
        </p:spPr>
      </p:pic>
      <p:sp>
        <p:nvSpPr>
          <p:cNvPr id="12" name="text_133"/>
          <p:cNvSpPr txBox="1"/>
          <p:nvPr/>
        </p:nvSpPr>
        <p:spPr>
          <a:xfrm>
            <a:off x="347472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Periods overlap</a:t>
            </a:r>
            <a:endParaRPr lang="en-US" sz="1700" dirty="0"/>
          </a:p>
        </p:txBody>
      </p:sp>
      <p:sp>
        <p:nvSpPr>
          <p:cNvPr id="13" name="text_134"/>
          <p:cNvSpPr txBox="1"/>
          <p:nvPr/>
        </p:nvSpPr>
        <p:spPr>
          <a:xfrm>
            <a:off x="347472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Their lesson times overlap, even by one period</a:t>
            </a:r>
            <a:endParaRPr lang="en-US" sz="1300" dirty="0"/>
          </a:p>
        </p:txBody>
      </p:sp>
      <p:sp>
        <p:nvSpPr>
          <p:cNvPr id="14" name="card_135"/>
          <p:cNvSpPr/>
          <p:nvPr/>
        </p:nvSpPr>
        <p:spPr>
          <a:xfrm>
            <a:off x="6035040" y="1645920"/>
            <a:ext cx="2651760" cy="2011680"/>
          </a:xfrm>
          <a:prstGeom prst="roundRect">
            <a:avLst>
              <a:gd name="adj" fmla="val 3636"/>
            </a:avLst>
          </a:prstGeom>
          <a:solidFill>
            <a:schemeClr val="bg2"/>
          </a:solidFill>
          <a:ln/>
        </p:spPr>
      </p:sp>
      <p:sp>
        <p:nvSpPr>
          <p:cNvPr id="15" name="icon-bg_136"/>
          <p:cNvSpPr/>
          <p:nvPr/>
        </p:nvSpPr>
        <p:spPr>
          <a:xfrm>
            <a:off x="6263640" y="1874520"/>
            <a:ext cx="640080" cy="640080"/>
          </a:xfrm>
          <a:prstGeom prst="ellipse">
            <a:avLst/>
          </a:prstGeom>
          <a:solidFill>
            <a:srgbClr val="1F4E5F"/>
          </a:solidFill>
          <a:ln/>
        </p:spPr>
      </p:sp>
      <p:pic>
        <p:nvPicPr>
          <p:cNvPr id="16" name="icon_137" descr="preencoded.png">    </p:cNvPr>
          <p:cNvPicPr>
            <a:picLocks noChangeAspect="1"/>
          </p:cNvPicPr>
          <p:nvPr/>
        </p:nvPicPr>
        <p:blipFill>
          <a:blip r:embed="rId3"/>
          <a:stretch>
            <a:fillRect/>
          </a:stretch>
        </p:blipFill>
        <p:spPr>
          <a:xfrm>
            <a:off x="6423660" y="2034540"/>
            <a:ext cx="320040" cy="320040"/>
          </a:xfrm>
          <a:prstGeom prst="rect">
            <a:avLst/>
          </a:prstGeom>
        </p:spPr>
      </p:pic>
      <p:sp>
        <p:nvSpPr>
          <p:cNvPr id="17" name="text_138"/>
          <p:cNvSpPr txBox="1"/>
          <p:nvPr/>
        </p:nvSpPr>
        <p:spPr>
          <a:xfrm>
            <a:off x="626364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Weeks match</a:t>
            </a:r>
            <a:endParaRPr lang="en-US" sz="1700" dirty="0"/>
          </a:p>
        </p:txBody>
      </p:sp>
      <p:sp>
        <p:nvSpPr>
          <p:cNvPr id="18" name="text_139"/>
          <p:cNvSpPr txBox="1"/>
          <p:nvPr/>
        </p:nvSpPr>
        <p:spPr>
          <a:xfrm>
            <a:off x="626364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An odd-week class never clashes with an even-week class</a:t>
            </a:r>
            <a:endParaRPr lang="en-US" sz="1300" dirty="0"/>
          </a:p>
        </p:txBody>
      </p:sp>
      <p:sp>
        <p:nvSpPr>
          <p:cNvPr id="19" name="card_140"/>
          <p:cNvSpPr/>
          <p:nvPr/>
        </p:nvSpPr>
        <p:spPr>
          <a:xfrm>
            <a:off x="457200" y="3840480"/>
            <a:ext cx="8229600" cy="640080"/>
          </a:xfrm>
          <a:prstGeom prst="roundRect">
            <a:avLst>
              <a:gd name="adj" fmla="val 11429"/>
            </a:avLst>
          </a:prstGeom>
          <a:solidFill>
            <a:schemeClr val="accent5"/>
          </a:solidFill>
          <a:ln/>
        </p:spPr>
      </p:sp>
      <p:sp>
        <p:nvSpPr>
          <p:cNvPr id="20" name="text_141"/>
          <p:cNvSpPr txBox="1"/>
          <p:nvPr/>
        </p:nvSpPr>
        <p:spPr>
          <a:xfrm>
            <a:off x="685800" y="3840480"/>
            <a:ext cx="7772400" cy="640080"/>
          </a:xfrm>
          <a:prstGeom prst="rect">
            <a:avLst/>
          </a:prstGeom>
          <a:noFill/>
          <a:ln/>
        </p:spPr>
        <p:txBody>
          <a:bodyPr wrap="square" lIns="0" tIns="0" rIns="0" bIns="0" rtlCol="0" anchor="ctr"/>
          <a:lstStyle/>
          <a:p>
            <a:pPr indent="0" marL="0">
              <a:buNone/>
            </a:pPr>
            <a:r>
              <a:rPr lang="en-US" sz="1500" b="1" dirty="0">
                <a:solidFill>
                  <a:schemeClr val="tx2"/>
                </a:solidFill>
              </a:rPr>
              <a:t>Result: </a:t>
            </a:r>
            <a:pPr indent="0" marL="0">
              <a:buNone/>
            </a:pPr>
            <a:r>
              <a:rPr lang="en-US" sz="1500" dirty="0">
                <a:solidFill>
                  <a:schemeClr val="tx1"/>
                </a:solidFill>
              </a:rPr>
              <a:t>a clear message that names the clashing class, so the student knows exactly what to change.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I built it</a:t>
            </a:r>
            <a:endParaRPr lang="en-US" sz="3000" dirty="0"/>
          </a:p>
        </p:txBody>
      </p:sp>
      <p:sp>
        <p:nvSpPr>
          <p:cNvPr id="3" name="timeline_142"/>
          <p:cNvSpPr/>
          <p:nvPr/>
        </p:nvSpPr>
        <p:spPr>
          <a:xfrm>
            <a:off x="1188720" y="1965960"/>
            <a:ext cx="6766560" cy="0"/>
          </a:xfrm>
          <a:prstGeom prst="line">
            <a:avLst/>
          </a:prstGeom>
          <a:noFill/>
          <a:ln w="38100">
            <a:solidFill>
              <a:srgbClr val="C9D6DA"/>
            </a:solidFill>
            <a:prstDash val="solid"/>
          </a:ln>
        </p:spPr>
      </p:sp>
      <p:sp>
        <p:nvSpPr>
          <p:cNvPr id="4" name="dot_143"/>
          <p:cNvSpPr/>
          <p:nvPr/>
        </p:nvSpPr>
        <p:spPr>
          <a:xfrm>
            <a:off x="1005840" y="1783080"/>
            <a:ext cx="365760" cy="365760"/>
          </a:xfrm>
          <a:prstGeom prst="ellipse">
            <a:avLst/>
          </a:prstGeom>
          <a:solidFill>
            <a:srgbClr val="E07A2F"/>
          </a:solidFill>
          <a:ln w="38100">
            <a:solidFill>
              <a:srgbClr val="FFFFFF"/>
            </a:solidFill>
            <a:prstDash val="solid"/>
          </a:ln>
        </p:spPr>
      </p:sp>
      <p:sp>
        <p:nvSpPr>
          <p:cNvPr id="5" name="text_144"/>
          <p:cNvSpPr txBox="1"/>
          <p:nvPr/>
        </p:nvSpPr>
        <p:spPr>
          <a:xfrm>
            <a:off x="45720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Jan 2026</a:t>
            </a:r>
            <a:endParaRPr lang="en-US" sz="1200" dirty="0"/>
          </a:p>
        </p:txBody>
      </p:sp>
      <p:sp>
        <p:nvSpPr>
          <p:cNvPr id="6" name="text_145"/>
          <p:cNvSpPr txBox="1"/>
          <p:nvPr/>
        </p:nvSpPr>
        <p:spPr>
          <a:xfrm>
            <a:off x="45720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Analysis</a:t>
            </a:r>
            <a:endParaRPr lang="en-US" sz="1700" dirty="0"/>
          </a:p>
        </p:txBody>
      </p:sp>
      <p:sp>
        <p:nvSpPr>
          <p:cNvPr id="7" name="text_146"/>
          <p:cNvSpPr txBox="1"/>
          <p:nvPr/>
        </p:nvSpPr>
        <p:spPr>
          <a:xfrm>
            <a:off x="45720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Studied the real process, wrote the 9 rules</a:t>
            </a:r>
            <a:endParaRPr lang="en-US" sz="1300" dirty="0"/>
          </a:p>
        </p:txBody>
      </p:sp>
      <p:sp>
        <p:nvSpPr>
          <p:cNvPr id="8" name="dot_147"/>
          <p:cNvSpPr/>
          <p:nvPr/>
        </p:nvSpPr>
        <p:spPr>
          <a:xfrm>
            <a:off x="2697480" y="1783080"/>
            <a:ext cx="365760" cy="365760"/>
          </a:xfrm>
          <a:prstGeom prst="ellipse">
            <a:avLst/>
          </a:prstGeom>
          <a:solidFill>
            <a:srgbClr val="1F4E5F"/>
          </a:solidFill>
          <a:ln w="38100">
            <a:solidFill>
              <a:srgbClr val="FFFFFF"/>
            </a:solidFill>
            <a:prstDash val="solid"/>
          </a:ln>
        </p:spPr>
      </p:sp>
      <p:sp>
        <p:nvSpPr>
          <p:cNvPr id="9" name="text_148"/>
          <p:cNvSpPr txBox="1"/>
          <p:nvPr/>
        </p:nvSpPr>
        <p:spPr>
          <a:xfrm>
            <a:off x="214884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0" name="text_149"/>
          <p:cNvSpPr txBox="1"/>
          <p:nvPr/>
        </p:nvSpPr>
        <p:spPr>
          <a:xfrm>
            <a:off x="214884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Back end</a:t>
            </a:r>
            <a:endParaRPr lang="en-US" sz="1700" dirty="0"/>
          </a:p>
        </p:txBody>
      </p:sp>
      <p:sp>
        <p:nvSpPr>
          <p:cNvPr id="11" name="text_150"/>
          <p:cNvSpPr txBox="1"/>
          <p:nvPr/>
        </p:nvSpPr>
        <p:spPr>
          <a:xfrm>
            <a:off x="214884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Database and all the registration rules</a:t>
            </a:r>
            <a:endParaRPr lang="en-US" sz="1300" dirty="0"/>
          </a:p>
        </p:txBody>
      </p:sp>
      <p:sp>
        <p:nvSpPr>
          <p:cNvPr id="12" name="dot_151"/>
          <p:cNvSpPr/>
          <p:nvPr/>
        </p:nvSpPr>
        <p:spPr>
          <a:xfrm>
            <a:off x="4389120" y="1783080"/>
            <a:ext cx="365760" cy="365760"/>
          </a:xfrm>
          <a:prstGeom prst="ellipse">
            <a:avLst/>
          </a:prstGeom>
          <a:solidFill>
            <a:srgbClr val="1F4E5F"/>
          </a:solidFill>
          <a:ln w="38100">
            <a:solidFill>
              <a:srgbClr val="FFFFFF"/>
            </a:solidFill>
            <a:prstDash val="solid"/>
          </a:ln>
        </p:spPr>
      </p:sp>
      <p:sp>
        <p:nvSpPr>
          <p:cNvPr id="13" name="text_152"/>
          <p:cNvSpPr txBox="1"/>
          <p:nvPr/>
        </p:nvSpPr>
        <p:spPr>
          <a:xfrm>
            <a:off x="384048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4" name="text_153"/>
          <p:cNvSpPr txBox="1"/>
          <p:nvPr/>
        </p:nvSpPr>
        <p:spPr>
          <a:xfrm>
            <a:off x="384048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Reorganise</a:t>
            </a:r>
            <a:endParaRPr lang="en-US" sz="1700" dirty="0"/>
          </a:p>
        </p:txBody>
      </p:sp>
      <p:sp>
        <p:nvSpPr>
          <p:cNvPr id="15" name="text_154"/>
          <p:cNvSpPr txBox="1"/>
          <p:nvPr/>
        </p:nvSpPr>
        <p:spPr>
          <a:xfrm>
            <a:off x="384048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One clean project for all the code</a:t>
            </a:r>
            <a:endParaRPr lang="en-US" sz="1300" dirty="0"/>
          </a:p>
        </p:txBody>
      </p:sp>
      <p:sp>
        <p:nvSpPr>
          <p:cNvPr id="16" name="dot_155"/>
          <p:cNvSpPr/>
          <p:nvPr/>
        </p:nvSpPr>
        <p:spPr>
          <a:xfrm>
            <a:off x="6080760" y="1783080"/>
            <a:ext cx="365760" cy="365760"/>
          </a:xfrm>
          <a:prstGeom prst="ellipse">
            <a:avLst/>
          </a:prstGeom>
          <a:solidFill>
            <a:srgbClr val="1F4E5F"/>
          </a:solidFill>
          <a:ln w="38100">
            <a:solidFill>
              <a:srgbClr val="FFFFFF"/>
            </a:solidFill>
            <a:prstDash val="solid"/>
          </a:ln>
        </p:spPr>
      </p:sp>
      <p:sp>
        <p:nvSpPr>
          <p:cNvPr id="17" name="text_156"/>
          <p:cNvSpPr txBox="1"/>
          <p:nvPr/>
        </p:nvSpPr>
        <p:spPr>
          <a:xfrm>
            <a:off x="553212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8" name="text_157"/>
          <p:cNvSpPr txBox="1"/>
          <p:nvPr/>
        </p:nvSpPr>
        <p:spPr>
          <a:xfrm>
            <a:off x="553212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Front end</a:t>
            </a:r>
            <a:endParaRPr lang="en-US" sz="1700" dirty="0"/>
          </a:p>
        </p:txBody>
      </p:sp>
      <p:sp>
        <p:nvSpPr>
          <p:cNvPr id="19" name="text_158"/>
          <p:cNvSpPr txBox="1"/>
          <p:nvPr/>
        </p:nvSpPr>
        <p:spPr>
          <a:xfrm>
            <a:off x="553212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Student and admin websites, dark mode</a:t>
            </a:r>
            <a:endParaRPr lang="en-US" sz="1300" dirty="0"/>
          </a:p>
        </p:txBody>
      </p:sp>
      <p:sp>
        <p:nvSpPr>
          <p:cNvPr id="20" name="dot_159"/>
          <p:cNvSpPr/>
          <p:nvPr/>
        </p:nvSpPr>
        <p:spPr>
          <a:xfrm>
            <a:off x="7772400" y="1783080"/>
            <a:ext cx="365760" cy="365760"/>
          </a:xfrm>
          <a:prstGeom prst="ellipse">
            <a:avLst/>
          </a:prstGeom>
          <a:solidFill>
            <a:srgbClr val="1F4E5F"/>
          </a:solidFill>
          <a:ln w="38100">
            <a:solidFill>
              <a:srgbClr val="FFFFFF"/>
            </a:solidFill>
            <a:prstDash val="solid"/>
          </a:ln>
        </p:spPr>
      </p:sp>
      <p:sp>
        <p:nvSpPr>
          <p:cNvPr id="21" name="text_160"/>
          <p:cNvSpPr txBox="1"/>
          <p:nvPr/>
        </p:nvSpPr>
        <p:spPr>
          <a:xfrm>
            <a:off x="722376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22" name="text_161"/>
          <p:cNvSpPr txBox="1"/>
          <p:nvPr/>
        </p:nvSpPr>
        <p:spPr>
          <a:xfrm>
            <a:off x="722376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Release</a:t>
            </a:r>
            <a:endParaRPr lang="en-US" sz="1700" dirty="0"/>
          </a:p>
        </p:txBody>
      </p:sp>
      <p:sp>
        <p:nvSpPr>
          <p:cNvPr id="23" name="text_162"/>
          <p:cNvSpPr txBox="1"/>
          <p:nvPr/>
        </p:nvSpPr>
        <p:spPr>
          <a:xfrm>
            <a:off x="722376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Docker setup and documentation</a:t>
            </a:r>
            <a:endParaRPr lang="en-US" sz="1300" dirty="0"/>
          </a:p>
        </p:txBody>
      </p:sp>
      <p:sp>
        <p:nvSpPr>
          <p:cNvPr id="24" name="card_163"/>
          <p:cNvSpPr/>
          <p:nvPr/>
        </p:nvSpPr>
        <p:spPr>
          <a:xfrm>
            <a:off x="457200" y="3931920"/>
            <a:ext cx="8229600" cy="548640"/>
          </a:xfrm>
          <a:prstGeom prst="roundRect">
            <a:avLst>
              <a:gd name="adj" fmla="val 13333"/>
            </a:avLst>
          </a:prstGeom>
          <a:solidFill>
            <a:schemeClr val="accent5"/>
          </a:solidFill>
          <a:ln/>
        </p:spPr>
      </p:sp>
      <p:sp>
        <p:nvSpPr>
          <p:cNvPr id="25" name="text_164"/>
          <p:cNvSpPr txBox="1"/>
          <p:nvPr/>
        </p:nvSpPr>
        <p:spPr>
          <a:xfrm>
            <a:off x="685800" y="3931920"/>
            <a:ext cx="7772400" cy="548640"/>
          </a:xfrm>
          <a:prstGeom prst="rect">
            <a:avLst/>
          </a:prstGeom>
          <a:noFill/>
          <a:ln/>
        </p:spPr>
        <p:txBody>
          <a:bodyPr wrap="square" lIns="0" tIns="0" rIns="0" bIns="0" rtlCol="0" anchor="ctr"/>
          <a:lstStyle/>
          <a:p>
            <a:pPr indent="0" marL="0">
              <a:buNone/>
            </a:pPr>
            <a:r>
              <a:rPr lang="en-US" sz="1400" dirty="0">
                <a:solidFill>
                  <a:schemeClr val="tx2"/>
                </a:solidFill>
              </a:rPr>
              <a:t>Every step saved with Git, so I could always go back after a mistake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I learned</a:t>
            </a:r>
            <a:endParaRPr lang="en-US" sz="3000" dirty="0"/>
          </a:p>
        </p:txBody>
      </p:sp>
      <p:sp>
        <p:nvSpPr>
          <p:cNvPr id="3" name="icon-bg_165"/>
          <p:cNvSpPr/>
          <p:nvPr/>
        </p:nvSpPr>
        <p:spPr>
          <a:xfrm>
            <a:off x="457200" y="1143000"/>
            <a:ext cx="640080" cy="640080"/>
          </a:xfrm>
          <a:prstGeom prst="ellipse">
            <a:avLst/>
          </a:prstGeom>
          <a:solidFill>
            <a:srgbClr val="1F4E5F"/>
          </a:solidFill>
          <a:ln/>
        </p:spPr>
      </p:sp>
      <p:pic>
        <p:nvPicPr>
          <p:cNvPr id="4" name="icon_166" descr="preencoded.png">    </p:cNvPr>
          <p:cNvPicPr>
            <a:picLocks noChangeAspect="1"/>
          </p:cNvPicPr>
          <p:nvPr/>
        </p:nvPicPr>
        <p:blipFill>
          <a:blip r:embed="rId1"/>
          <a:stretch>
            <a:fillRect/>
          </a:stretch>
        </p:blipFill>
        <p:spPr>
          <a:xfrm>
            <a:off x="617220" y="1303020"/>
            <a:ext cx="320040" cy="320040"/>
          </a:xfrm>
          <a:prstGeom prst="rect">
            <a:avLst/>
          </a:prstGeom>
        </p:spPr>
      </p:pic>
      <p:sp>
        <p:nvSpPr>
          <p:cNvPr id="5" name="text_167"/>
          <p:cNvSpPr txBox="1"/>
          <p:nvPr/>
        </p:nvSpPr>
        <p:spPr>
          <a:xfrm>
            <a:off x="1280160" y="1161288"/>
            <a:ext cx="3657600" cy="320040"/>
          </a:xfrm>
          <a:prstGeom prst="rect">
            <a:avLst/>
          </a:prstGeom>
          <a:noFill/>
          <a:ln/>
        </p:spPr>
        <p:txBody>
          <a:bodyPr wrap="square" lIns="0" tIns="0" rIns="0" bIns="0" rtlCol="0" anchor="t"/>
          <a:lstStyle/>
          <a:p>
            <a:pPr indent="0" marL="0">
              <a:buNone/>
            </a:pPr>
            <a:r>
              <a:rPr lang="en-US" sz="1700" b="1" dirty="0">
                <a:solidFill>
                  <a:schemeClr val="tx2"/>
                </a:solidFill>
              </a:rPr>
              <a:t>Plan before acting</a:t>
            </a:r>
            <a:endParaRPr lang="en-US" sz="1700" dirty="0"/>
          </a:p>
        </p:txBody>
      </p:sp>
      <p:sp>
        <p:nvSpPr>
          <p:cNvPr id="6" name="text_168"/>
          <p:cNvSpPr txBox="1"/>
          <p:nvPr/>
        </p:nvSpPr>
        <p:spPr>
          <a:xfrm>
            <a:off x="1280160" y="1481328"/>
            <a:ext cx="4023360" cy="320040"/>
          </a:xfrm>
          <a:prstGeom prst="rect">
            <a:avLst/>
          </a:prstGeom>
          <a:noFill/>
          <a:ln/>
        </p:spPr>
        <p:txBody>
          <a:bodyPr wrap="square" lIns="0" tIns="0" rIns="0" bIns="0" rtlCol="0" anchor="t"/>
          <a:lstStyle/>
          <a:p>
            <a:pPr indent="0" marL="0">
              <a:buNone/>
            </a:pPr>
            <a:r>
              <a:rPr lang="en-US" sz="1400" dirty="0">
                <a:solidFill>
                  <a:schemeClr val="tx1"/>
                </a:solidFill>
              </a:rPr>
              <a:t>Writing the nine rules first saved me a lot of time</a:t>
            </a:r>
            <a:endParaRPr lang="en-US" sz="1400" dirty="0"/>
          </a:p>
        </p:txBody>
      </p:sp>
      <p:sp>
        <p:nvSpPr>
          <p:cNvPr id="7" name="icon-bg_169"/>
          <p:cNvSpPr/>
          <p:nvPr/>
        </p:nvSpPr>
        <p:spPr>
          <a:xfrm>
            <a:off x="457200" y="1984248"/>
            <a:ext cx="640080" cy="640080"/>
          </a:xfrm>
          <a:prstGeom prst="ellipse">
            <a:avLst/>
          </a:prstGeom>
          <a:solidFill>
            <a:srgbClr val="1F4E5F"/>
          </a:solidFill>
          <a:ln/>
        </p:spPr>
      </p:sp>
      <p:pic>
        <p:nvPicPr>
          <p:cNvPr id="8" name="icon_170" descr="preencoded.png">    </p:cNvPr>
          <p:cNvPicPr>
            <a:picLocks noChangeAspect="1"/>
          </p:cNvPicPr>
          <p:nvPr/>
        </p:nvPicPr>
        <p:blipFill>
          <a:blip r:embed="rId2"/>
          <a:stretch>
            <a:fillRect/>
          </a:stretch>
        </p:blipFill>
        <p:spPr>
          <a:xfrm>
            <a:off x="617220" y="2144268"/>
            <a:ext cx="320040" cy="320040"/>
          </a:xfrm>
          <a:prstGeom prst="rect">
            <a:avLst/>
          </a:prstGeom>
        </p:spPr>
      </p:pic>
      <p:sp>
        <p:nvSpPr>
          <p:cNvPr id="9" name="text_171"/>
          <p:cNvSpPr txBox="1"/>
          <p:nvPr/>
        </p:nvSpPr>
        <p:spPr>
          <a:xfrm>
            <a:off x="1280160" y="2002536"/>
            <a:ext cx="3657600" cy="320040"/>
          </a:xfrm>
          <a:prstGeom prst="rect">
            <a:avLst/>
          </a:prstGeom>
          <a:noFill/>
          <a:ln/>
        </p:spPr>
        <p:txBody>
          <a:bodyPr wrap="square" lIns="0" tIns="0" rIns="0" bIns="0" rtlCol="0" anchor="t"/>
          <a:lstStyle/>
          <a:p>
            <a:pPr indent="0" marL="0">
              <a:buNone/>
            </a:pPr>
            <a:r>
              <a:rPr lang="en-US" sz="1700" b="1" dirty="0">
                <a:solidFill>
                  <a:schemeClr val="tx2"/>
                </a:solidFill>
              </a:rPr>
              <a:t>Learn independently</a:t>
            </a:r>
            <a:endParaRPr lang="en-US" sz="1700" dirty="0"/>
          </a:p>
        </p:txBody>
      </p:sp>
      <p:sp>
        <p:nvSpPr>
          <p:cNvPr id="10" name="text_172"/>
          <p:cNvSpPr txBox="1"/>
          <p:nvPr/>
        </p:nvSpPr>
        <p:spPr>
          <a:xfrm>
            <a:off x="1280160" y="2322576"/>
            <a:ext cx="4023360" cy="320040"/>
          </a:xfrm>
          <a:prstGeom prst="rect">
            <a:avLst/>
          </a:prstGeom>
          <a:noFill/>
          <a:ln/>
        </p:spPr>
        <p:txBody>
          <a:bodyPr wrap="square" lIns="0" tIns="0" rIns="0" bIns="0" rtlCol="0" anchor="t"/>
          <a:lstStyle/>
          <a:p>
            <a:pPr indent="0" marL="0">
              <a:buNone/>
            </a:pPr>
            <a:r>
              <a:rPr lang="en-US" sz="1400" dirty="0">
                <a:solidFill>
                  <a:schemeClr val="tx1"/>
                </a:solidFill>
              </a:rPr>
              <a:t>I found many answers in English documentation</a:t>
            </a:r>
            <a:endParaRPr lang="en-US" sz="1400" dirty="0"/>
          </a:p>
        </p:txBody>
      </p:sp>
      <p:sp>
        <p:nvSpPr>
          <p:cNvPr id="11" name="icon-bg_173"/>
          <p:cNvSpPr/>
          <p:nvPr/>
        </p:nvSpPr>
        <p:spPr>
          <a:xfrm>
            <a:off x="457200" y="2825496"/>
            <a:ext cx="640080" cy="640080"/>
          </a:xfrm>
          <a:prstGeom prst="ellipse">
            <a:avLst/>
          </a:prstGeom>
          <a:solidFill>
            <a:srgbClr val="1F4E5F"/>
          </a:solidFill>
          <a:ln/>
        </p:spPr>
      </p:sp>
      <p:pic>
        <p:nvPicPr>
          <p:cNvPr id="12" name="icon_174" descr="preencoded.png">    </p:cNvPr>
          <p:cNvPicPr>
            <a:picLocks noChangeAspect="1"/>
          </p:cNvPicPr>
          <p:nvPr/>
        </p:nvPicPr>
        <p:blipFill>
          <a:blip r:embed="rId3"/>
          <a:stretch>
            <a:fillRect/>
          </a:stretch>
        </p:blipFill>
        <p:spPr>
          <a:xfrm>
            <a:off x="617220" y="2985516"/>
            <a:ext cx="320040" cy="320040"/>
          </a:xfrm>
          <a:prstGeom prst="rect">
            <a:avLst/>
          </a:prstGeom>
        </p:spPr>
      </p:pic>
      <p:sp>
        <p:nvSpPr>
          <p:cNvPr id="13" name="text_175"/>
          <p:cNvSpPr txBox="1"/>
          <p:nvPr/>
        </p:nvSpPr>
        <p:spPr>
          <a:xfrm>
            <a:off x="1280160" y="2843784"/>
            <a:ext cx="3657600" cy="320040"/>
          </a:xfrm>
          <a:prstGeom prst="rect">
            <a:avLst/>
          </a:prstGeom>
          <a:noFill/>
          <a:ln/>
        </p:spPr>
        <p:txBody>
          <a:bodyPr wrap="square" lIns="0" tIns="0" rIns="0" bIns="0" rtlCol="0" anchor="t"/>
          <a:lstStyle/>
          <a:p>
            <a:pPr indent="0" marL="0">
              <a:buNone/>
            </a:pPr>
            <a:r>
              <a:rPr lang="en-US" sz="1700" b="1" dirty="0">
                <a:solidFill>
                  <a:schemeClr val="tx2"/>
                </a:solidFill>
              </a:rPr>
              <a:t>Write clearly</a:t>
            </a:r>
            <a:endParaRPr lang="en-US" sz="1700" dirty="0"/>
          </a:p>
        </p:txBody>
      </p:sp>
      <p:sp>
        <p:nvSpPr>
          <p:cNvPr id="14" name="text_176"/>
          <p:cNvSpPr txBox="1"/>
          <p:nvPr/>
        </p:nvSpPr>
        <p:spPr>
          <a:xfrm>
            <a:off x="1280160" y="3163824"/>
            <a:ext cx="4023360" cy="320040"/>
          </a:xfrm>
          <a:prstGeom prst="rect">
            <a:avLst/>
          </a:prstGeom>
          <a:noFill/>
          <a:ln/>
        </p:spPr>
        <p:txBody>
          <a:bodyPr wrap="square" lIns="0" tIns="0" rIns="0" bIns="0" rtlCol="0" anchor="t"/>
          <a:lstStyle/>
          <a:p>
            <a:pPr indent="0" marL="0">
              <a:buNone/>
            </a:pPr>
            <a:r>
              <a:rPr lang="en-US" sz="1400" dirty="0">
                <a:solidFill>
                  <a:schemeClr val="tx1"/>
                </a:solidFill>
              </a:rPr>
              <a:t>Documentation taught me to explain ideas simply</a:t>
            </a:r>
            <a:endParaRPr lang="en-US" sz="1400" dirty="0"/>
          </a:p>
        </p:txBody>
      </p:sp>
      <p:sp>
        <p:nvSpPr>
          <p:cNvPr id="15" name="icon-bg_177"/>
          <p:cNvSpPr/>
          <p:nvPr/>
        </p:nvSpPr>
        <p:spPr>
          <a:xfrm>
            <a:off x="457200" y="3666744"/>
            <a:ext cx="640080" cy="640080"/>
          </a:xfrm>
          <a:prstGeom prst="ellipse">
            <a:avLst/>
          </a:prstGeom>
          <a:solidFill>
            <a:srgbClr val="1F4E5F"/>
          </a:solidFill>
          <a:ln/>
        </p:spPr>
      </p:sp>
      <p:pic>
        <p:nvPicPr>
          <p:cNvPr id="16" name="icon_178" descr="preencoded.png">    </p:cNvPr>
          <p:cNvPicPr>
            <a:picLocks noChangeAspect="1"/>
          </p:cNvPicPr>
          <p:nvPr/>
        </p:nvPicPr>
        <p:blipFill>
          <a:blip r:embed="rId4"/>
          <a:stretch>
            <a:fillRect/>
          </a:stretch>
        </p:blipFill>
        <p:spPr>
          <a:xfrm>
            <a:off x="617220" y="3826764"/>
            <a:ext cx="320040" cy="320040"/>
          </a:xfrm>
          <a:prstGeom prst="rect">
            <a:avLst/>
          </a:prstGeom>
        </p:spPr>
      </p:pic>
      <p:sp>
        <p:nvSpPr>
          <p:cNvPr id="17" name="text_179"/>
          <p:cNvSpPr txBox="1"/>
          <p:nvPr/>
        </p:nvSpPr>
        <p:spPr>
          <a:xfrm>
            <a:off x="1280160" y="3685032"/>
            <a:ext cx="3657600" cy="320040"/>
          </a:xfrm>
          <a:prstGeom prst="rect">
            <a:avLst/>
          </a:prstGeom>
          <a:noFill/>
          <a:ln/>
        </p:spPr>
        <p:txBody>
          <a:bodyPr wrap="square" lIns="0" tIns="0" rIns="0" bIns="0" rtlCol="0" anchor="t"/>
          <a:lstStyle/>
          <a:p>
            <a:pPr indent="0" marL="0">
              <a:buNone/>
            </a:pPr>
            <a:r>
              <a:rPr lang="en-US" sz="1700" b="1" dirty="0">
                <a:solidFill>
                  <a:schemeClr val="tx2"/>
                </a:solidFill>
              </a:rPr>
              <a:t>Manage my time</a:t>
            </a:r>
            <a:endParaRPr lang="en-US" sz="1700" dirty="0"/>
          </a:p>
        </p:txBody>
      </p:sp>
      <p:sp>
        <p:nvSpPr>
          <p:cNvPr id="18" name="text_180"/>
          <p:cNvSpPr txBox="1"/>
          <p:nvPr/>
        </p:nvSpPr>
        <p:spPr>
          <a:xfrm>
            <a:off x="1280160" y="4005072"/>
            <a:ext cx="4023360" cy="320040"/>
          </a:xfrm>
          <a:prstGeom prst="rect">
            <a:avLst/>
          </a:prstGeom>
          <a:noFill/>
          <a:ln/>
        </p:spPr>
        <p:txBody>
          <a:bodyPr wrap="square" lIns="0" tIns="0" rIns="0" bIns="0" rtlCol="0" anchor="t"/>
          <a:lstStyle/>
          <a:p>
            <a:pPr indent="0" marL="0">
              <a:buNone/>
            </a:pPr>
            <a:r>
              <a:rPr lang="en-US" sz="1400" dirty="0">
                <a:solidFill>
                  <a:schemeClr val="tx1"/>
                </a:solidFill>
              </a:rPr>
              <a:t>Small stages kept me motivated and on track</a:t>
            </a:r>
            <a:endParaRPr lang="en-US" sz="1400" dirty="0"/>
          </a:p>
        </p:txBody>
      </p:sp>
      <p:sp>
        <p:nvSpPr>
          <p:cNvPr id="19" name="card_181"/>
          <p:cNvSpPr/>
          <p:nvPr/>
        </p:nvSpPr>
        <p:spPr>
          <a:xfrm>
            <a:off x="5669280" y="1143000"/>
            <a:ext cx="3017520" cy="3337560"/>
          </a:xfrm>
          <a:prstGeom prst="roundRect">
            <a:avLst>
              <a:gd name="adj" fmla="val 2424"/>
            </a:avLst>
          </a:prstGeom>
          <a:solidFill>
            <a:schemeClr val="accent5"/>
          </a:solidFill>
          <a:ln/>
        </p:spPr>
      </p:sp>
      <p:sp>
        <p:nvSpPr>
          <p:cNvPr id="20" name="text_182"/>
          <p:cNvSpPr txBox="1"/>
          <p:nvPr/>
        </p:nvSpPr>
        <p:spPr>
          <a:xfrm>
            <a:off x="5897880" y="1280160"/>
            <a:ext cx="2560320" cy="365760"/>
          </a:xfrm>
          <a:prstGeom prst="rect">
            <a:avLst/>
          </a:prstGeom>
          <a:noFill/>
          <a:ln/>
        </p:spPr>
        <p:txBody>
          <a:bodyPr wrap="square" lIns="0" tIns="0" rIns="0" bIns="0" rtlCol="0" anchor="t"/>
          <a:lstStyle/>
          <a:p>
            <a:pPr indent="0" marL="0">
              <a:buNone/>
            </a:pPr>
            <a:r>
              <a:rPr lang="en-US" sz="1800" b="1" dirty="0">
                <a:solidFill>
                  <a:schemeClr val="tx2"/>
                </a:solidFill>
              </a:rPr>
              <a:t>Next steps</a:t>
            </a:r>
            <a:endParaRPr lang="en-US" sz="1800" dirty="0"/>
          </a:p>
        </p:txBody>
      </p:sp>
      <p:sp>
        <p:nvSpPr>
          <p:cNvPr id="21" name="text_183"/>
          <p:cNvSpPr txBox="1"/>
          <p:nvPr/>
        </p:nvSpPr>
        <p:spPr>
          <a:xfrm>
            <a:off x="5897880" y="1783080"/>
            <a:ext cx="260604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Automatic tests</a:t>
            </a:r>
            <a:endParaRPr lang="en-US" sz="1500" dirty="0"/>
          </a:p>
          <a:p>
            <a:pPr marL="342900" indent="-342900">
              <a:spcAft>
                <a:spcPts val="1000"/>
              </a:spcAft>
              <a:buSzPct val="100000"/>
              <a:buChar char="•"/>
            </a:pPr>
            <a:r>
              <a:rPr lang="en-US" sz="1500" dirty="0">
                <a:solidFill>
                  <a:schemeClr val="tx1"/>
                </a:solidFill>
              </a:rPr>
              <a:t>Waiting list with email alerts</a:t>
            </a:r>
            <a:endParaRPr lang="en-US" sz="1500" dirty="0"/>
          </a:p>
          <a:p>
            <a:pPr marL="342900" indent="-342900">
              <a:spcAft>
                <a:spcPts val="1000"/>
              </a:spcAft>
              <a:buSzPct val="100000"/>
              <a:buChar char="•"/>
            </a:pPr>
            <a:r>
              <a:rPr lang="en-US" sz="1500" dirty="0">
                <a:solidFill>
                  <a:schemeClr val="tx1"/>
                </a:solidFill>
              </a:rPr>
              <a:t>Automatic prerequisite check</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Thank you!</a:t>
            </a:r>
            <a:endParaRPr lang="en-US" sz="4000" dirty="0"/>
          </a:p>
        </p:txBody>
      </p:sp>
      <p:sp>
        <p:nvSpPr>
          <p:cNvPr id="3" name="Text 0"/>
          <p:cNvSpPr/>
          <p:nvPr>
            <p:ph idx="101" type="body" hasCustomPrompt="1"/>
          </p:nvPr>
        </p:nvSpPr>
        <p:spPr>
          <a:xfrm>
            <a:off x="548640" y="2834640"/>
            <a:ext cx="8046720" cy="822960"/>
          </a:xfrm>
          <a:prstGeom prst="rect">
            <a:avLst/>
          </a:prstGeom>
          <a:noFill/>
          <a:ln/>
        </p:spPr>
        <p:txBody>
          <a:bodyPr wrap="square" rtlCol="0" anchor="t"/>
          <a:lstStyle/>
          <a:p>
            <a:pPr indent="0" marL="0">
              <a:buNone/>
            </a:pPr>
            <a:r>
              <a:rPr lang="en-US" sz="1800" dirty="0">
                <a:solidFill>
                  <a:schemeClr val="accent5"/>
                </a:solidFill>
              </a:rPr>
              <a:t>Questions and feedback are very welcome</a:t>
            </a:r>
            <a:endParaRPr lang="en-US" sz="1800" dirty="0"/>
          </a:p>
        </p:txBody>
      </p:sp>
      <p:sp>
        <p:nvSpPr>
          <p:cNvPr id="4" name="icon-bg_184"/>
          <p:cNvSpPr/>
          <p:nvPr/>
        </p:nvSpPr>
        <p:spPr>
          <a:xfrm>
            <a:off x="7635240" y="502920"/>
            <a:ext cx="914400" cy="914400"/>
          </a:xfrm>
          <a:prstGeom prst="ellipse">
            <a:avLst/>
          </a:prstGeom>
          <a:solidFill>
            <a:srgbClr val="1F4E5F"/>
          </a:solidFill>
          <a:ln/>
        </p:spPr>
      </p:sp>
      <p:pic>
        <p:nvPicPr>
          <p:cNvPr id="5" name="icon_185" descr="preencoded.png">    </p:cNvPr>
          <p:cNvPicPr>
            <a:picLocks noChangeAspect="1"/>
          </p:cNvPicPr>
          <p:nvPr/>
        </p:nvPicPr>
        <p:blipFill>
          <a:blip r:embed="rId1"/>
          <a:stretch>
            <a:fillRect/>
          </a:stretch>
        </p:blipFill>
        <p:spPr>
          <a:xfrm>
            <a:off x="7863840" y="731520"/>
            <a:ext cx="457200" cy="457200"/>
          </a:xfrm>
          <a:prstGeom prst="rect">
            <a:avLst/>
          </a:prstGeom>
        </p:spPr>
      </p:pic>
      <p:sp>
        <p:nvSpPr>
          <p:cNvPr id="6" name="text_186"/>
          <p:cNvSpPr txBox="1"/>
          <p:nvPr/>
        </p:nvSpPr>
        <p:spPr>
          <a:xfrm>
            <a:off x="640080" y="4251960"/>
            <a:ext cx="7955280" cy="365760"/>
          </a:xfrm>
          <a:prstGeom prst="rect">
            <a:avLst/>
          </a:prstGeom>
          <a:noFill/>
          <a:ln/>
        </p:spPr>
        <p:txBody>
          <a:bodyPr wrap="square" lIns="0" tIns="0" rIns="0" bIns="0" rtlCol="0" anchor="t"/>
          <a:lstStyle/>
          <a:p>
            <a:pPr indent="0" marL="0">
              <a:buNone/>
            </a:pPr>
            <a:r>
              <a:rPr lang="en-US" sz="1400" dirty="0">
                <a:solidFill>
                  <a:schemeClr val="bg1"/>
                </a:solidFill>
              </a:rPr>
              <a:t>Your Name  ·  English Writing &amp; Presentation Skills</a:t>
            </a:r>
            <a:endParaRPr lang="en-US" sz="1400" dirty="0"/>
          </a:p>
        </p:txBody>
      </p:sp>
    </p:spTree>
  </p:cSld>
  <p:clrMapOvr>
    <a:masterClrMapping/>
  </p:clrMapOvr>
</p:sld>
</file>

<file path=ppt/theme/theme1.xml><?xml version="1.0" encoding="utf-8"?>
<a:theme xmlns:a="http://schemas.openxmlformats.org/drawingml/2006/main" name="Course Registration">
  <a:themeElements>
    <a:clrScheme name="Course Registration">
      <a:dk1>
        <a:srgbClr val="1B2328"/>
      </a:dk1>
      <a:lt1>
        <a:srgbClr val="FFFFFF"/>
      </a:lt1>
      <a:dk2>
        <a:srgbClr val="1F4E5F"/>
      </a:dk2>
      <a:lt2>
        <a:srgbClr val="F3F6F7"/>
      </a:lt2>
      <a:accent1>
        <a:srgbClr val="1F4E5F"/>
      </a:accent1>
      <a:accent2>
        <a:srgbClr val="E07A2F"/>
      </a:accent2>
      <a:accent3>
        <a:srgbClr val="3A8C8C"/>
      </a:accent3>
      <a:accent4>
        <a:srgbClr val="5B6B73"/>
      </a:accent4>
      <a:accent5>
        <a:srgbClr val="DCE8EB"/>
      </a:accent5>
      <a:accent6>
        <a:srgbClr val="17323D"/>
      </a:accent6>
      <a:hlink>
        <a:srgbClr val="1F4E5F"/>
      </a:hlink>
      <a:folHlink>
        <a:srgbClr val="5B6B73"/>
      </a:folHlink>
    </a:clrScheme>
    <a:fontScheme name="Course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Management &amp; Registration System</dc:title>
  <dc:subject>PptxGenJS Presentation</dc:subject>
  <dc:creator>Student</dc:creator>
  <cp:lastModifiedBy>Student</cp:lastModifiedBy>
  <cp:revision>1</cp:revision>
  <dcterms:created xsi:type="dcterms:W3CDTF">2026-10-06T16:14:57Z</dcterms:created>
  <dcterms:modified xsi:type="dcterms:W3CDTF">2026-10-06T16:14:57Z</dcterms:modified>
</cp:coreProperties>
</file>