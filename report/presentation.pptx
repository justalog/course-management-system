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19e8b66-6d4f-2688-dc88-880a172dbefd}">
          <p14:sldIdLst>
            <p14:sldId id="256"/>
          </p14:sldIdLst>
        </p14:section>
        <p14:section name="Context" id="{ee7c636d-c5b1-83b7-aa20-e4fcdb68d796}">
          <p14:sldIdLst>
            <p14:sldId id="257"/>
            <p14:sldId id="258"/>
            <p14:sldId id="259"/>
          </p14:sldIdLst>
        </p14:section>
        <p14:section name="Solution" id="{ba0598cd-89ca-06f1-a10b-84a043fbe966}">
          <p14:sldIdLst>
            <p14:sldId id="260"/>
            <p14:sldId id="261"/>
            <p14:sldId id="262"/>
            <p14:sldId id="263"/>
          </p14:sldIdLst>
        </p14:section>
        <p14:section name="Hard part" id="{f45e7e84-78d6-5911-fa2c-8e58bd082c9b}">
          <p14:sldIdLst>
            <p14:sldId id="264"/>
            <p14:sldId id="265"/>
            <p14:sldId id="266"/>
          </p14:sldIdLst>
        </p14:section>
        <p14:section name="Journey" id="{7c1b6afc-9836-2d60-c635-681ebba81e11}">
          <p14:sldIdLst>
            <p14:sldId id="267"/>
            <p14:sldId id="268"/>
          </p14:sldIdLst>
        </p14:section>
        <p14:section name="Closing" id="{ca8b9cc5-339c-1307-00c2-2074cf14e4b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I'd like to describe a project I have worked on: a Course Management and Registration System. It is a full-stack web application that lets students register for their classes online, and lets the academic office manage courses, semesters and class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presentation has four parts. First, the problem. Second, the solution: the features, the technologies and the architecture. Third, the most interesting technical part, the business rules. And finally, how I built it and what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I choose this project? Every semester, students rush to register when the window opens. Seats are limited, so many students try to take the last seat at the same time. It is easy to choose two classes that clash. The time window is short. And on the other side, staff often manage everything with spreadsheets. I wanted to build a system that solves these problems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project at a glance. There are two portals, one for students and one for administrators. The database has eight tables. I defined nine business rules for registration and cancellation. And the whole system runs in three Docker containers. My main goal was correctness: the server must enforce the rules, even when many students register at the same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has two portals. Students can see their information, register for or cancel classes with one click, view a weekly timetable, and check their grades. Administrators manage courses, semesters, class sections and schedules, and they can track registrations. Both portals share one login, and the token decides which portal opens. I also added a dark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technology: the frontend uses React with Vite and React Router. The backend is Node.js with Express, and I used the Sequelize ORM to talk to a MySQL 8 database. For security I used JWT tokens and bcrypt password hashing. And everything is packaged with Docker Compose, with Nginx serving the frontend.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The React client sends JSON requests with a JWT token to the Express API. Inside the API there are five layers, and each layer has one job. Routes map URLs to controllers. Middleware checks the token, the user's role and the input. Controllers handle the request and response. Services, highlighted in orange, contain the business rules. And models map objects to MySQL tables. This separation made the code much easier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has eight tables. A course can be opened as several sections in a semester. Each section has schedules, meaning the day and periods it meets. Students register for sections through the enrollments table. I didn't rely only on code: the database also has safety nets. A unique index prevents duplicate registrations, and a check constraint ensures a class never has more students than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writing code, I wrote down nine business rules. Rules one to six apply when a student registers: no duplicates, the class must have seats, it must be inside the registration window, there must be no timetable clash, the student must not be suspended, and the class must be open. Rules seven to nine apply to cancellation. The two highlighted rules, two and four, were the hardest, so let me explain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challenge is the last seat. Imagine a class with forty seats and thirty-nine students. Student A and Student B click Register at the same moment. Both read 'one seat left', both get registered, and now the class has forty-one students. To fix this, I run the whole registration inside a database transaction, and I lock the section's row. Student B has to wait until Student A finishes, and then B correctly sees that the class is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challenge is timetable clashes. When a student registers, the system compares the new class with every class the student already has in that semester. Two classes clash only when three things are true: same day, overlapping periods, and compatible weeks. For example, a class held only in odd weeks never clashes with one held only in even weeks. If there is a clash, the server returns error 409 with the name of the conflicting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the project in five stages. In January I analysed the real registration process and wrote the rules. In March I built the database and the backend API, then reorganised the project into a monorepo so I could start everything with one command. Next I built the student and admin websites, and finally I packaged everything with Docker and wrote the documentation. I used Git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taught me a lot. First, correctness needs the database: transactions and locks really matter. Second, thinking before coding: writing the rules first made the code much clearer. Third, a clean layered architecture makes changes safe. And fourth, professional habits like Git, documentation and Docker. In the future, I want to check prerequisites automatically, add automated tests, add a waiting list with email alerts, and add caching for peak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this project solves a real problem that every student knows, and it works from end to end. It is the project I am most proud of so far. Thank you for listening. I'm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732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834640"/>
            <a:ext cx="8046720" cy="82296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Course Management &amp; Registration System</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_1"/>
          <p:cNvSpPr txBox="1"/>
          <p:nvPr/>
        </p:nvSpPr>
        <p:spPr>
          <a:xfrm>
            <a:off x="640080" y="914400"/>
            <a:ext cx="7955280" cy="365760"/>
          </a:xfrm>
          <a:prstGeom prst="rect">
            <a:avLst/>
          </a:prstGeom>
          <a:noFill/>
          <a:ln/>
        </p:spPr>
        <p:txBody>
          <a:bodyPr wrap="square" lIns="0" tIns="0" rIns="0" bIns="0" rtlCol="0" anchor="t"/>
          <a:lstStyle/>
          <a:p>
            <a:pPr indent="0" marL="0">
              <a:buNone/>
            </a:pPr>
            <a:r>
              <a:rPr lang="en-US" sz="1300" b="1" spc="200" kern="0" dirty="0">
                <a:solidFill>
                  <a:schemeClr val="accent2"/>
                </a:solidFill>
              </a:rPr>
              <a:t>DESCRIBE A PROJECT WHICH I HAVE WORKED ON</a:t>
            </a:r>
            <a:endParaRPr lang="en-US" sz="1300" dirty="0"/>
          </a:p>
        </p:txBody>
      </p:sp>
      <p:sp>
        <p:nvSpPr>
          <p:cNvPr id="3" name="Text 0"/>
          <p:cNvSpPr/>
          <p:nvPr>
            <p:ph idx="100" type="title" hasCustomPrompt="1"/>
          </p:nvPr>
        </p:nvSpPr>
        <p:spPr>
          <a:xfrm>
            <a:off x="548640" y="1417320"/>
            <a:ext cx="8046720" cy="1371600"/>
          </a:xfrm>
          <a:prstGeom prst="rect">
            <a:avLst/>
          </a:prstGeom>
          <a:noFill/>
          <a:ln/>
        </p:spPr>
        <p:txBody>
          <a:bodyPr wrap="square"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Course Management &amp; Registration System</a:t>
            </a:r>
            <a:endParaRPr lang="en-US" sz="4000" dirty="0"/>
          </a:p>
        </p:txBody>
      </p:sp>
      <p:sp>
        <p:nvSpPr>
          <p:cNvPr id="4" name="Text 0"/>
          <p:cNvSpPr/>
          <p:nvPr>
            <p:ph idx="101" type="body" hasCustomPrompt="1"/>
          </p:nvPr>
        </p:nvSpPr>
        <p:spPr>
          <a:xfrm>
            <a:off x="548640" y="2834640"/>
            <a:ext cx="8046720" cy="822960"/>
          </a:xfrm>
          <a:prstGeom prst="rect">
            <a:avLst/>
          </a:prstGeom>
          <a:noFill/>
          <a:ln/>
        </p:spPr>
        <p:txBody>
          <a:bodyPr wrap="square" rtlCol="0" anchor="t"/>
          <a:lstStyle/>
          <a:p>
            <a:pPr indent="0" marL="0">
              <a:buNone/>
            </a:pPr>
            <a:r>
              <a:rPr lang="en-US" sz="1800" dirty="0">
                <a:solidFill>
                  <a:schemeClr val="accent5"/>
                </a:solidFill>
              </a:rPr>
              <a:t>A full-stack web app that helps students register for classes, and helps the academic office run them</a:t>
            </a:r>
            <a:endParaRPr lang="en-US" sz="1800" dirty="0"/>
          </a:p>
        </p:txBody>
      </p:sp>
      <p:sp>
        <p:nvSpPr>
          <p:cNvPr id="5" name="text_2"/>
          <p:cNvSpPr txBox="1"/>
          <p:nvPr/>
        </p:nvSpPr>
        <p:spPr>
          <a:xfrm>
            <a:off x="640080" y="4251960"/>
            <a:ext cx="7955280" cy="365760"/>
          </a:xfrm>
          <a:prstGeom prst="rect">
            <a:avLst/>
          </a:prstGeom>
          <a:noFill/>
          <a:ln/>
        </p:spPr>
        <p:txBody>
          <a:bodyPr wrap="square" lIns="0" tIns="0" rIns="0" bIns="0" rtlCol="0" anchor="t"/>
          <a:lstStyle/>
          <a:p>
            <a:pPr indent="0" marL="0">
              <a:buNone/>
            </a:pPr>
            <a:r>
              <a:rPr lang="en-US" sz="1400" dirty="0">
                <a:solidFill>
                  <a:schemeClr val="bg1"/>
                </a:solidFill>
              </a:rPr>
              <a:t>Your Name  ·  Student ID  ·  Course Name</a:t>
            </a:r>
            <a:endParaRPr lang="en-US" sz="1400" dirty="0"/>
          </a:p>
        </p:txBody>
      </p:sp>
      <p:sp>
        <p:nvSpPr>
          <p:cNvPr id="6" name="icon-bg_3"/>
          <p:cNvSpPr/>
          <p:nvPr/>
        </p:nvSpPr>
        <p:spPr>
          <a:xfrm>
            <a:off x="7635240" y="502920"/>
            <a:ext cx="914400" cy="914400"/>
          </a:xfrm>
          <a:prstGeom prst="ellipse">
            <a:avLst/>
          </a:prstGeom>
          <a:solidFill>
            <a:srgbClr val="1F4E5F"/>
          </a:solidFill>
          <a:ln/>
        </p:spPr>
      </p:sp>
      <p:pic>
        <p:nvPicPr>
          <p:cNvPr id="7" name="icon_4" descr="preencoded.png">    </p:cNvPr>
          <p:cNvPicPr>
            <a:picLocks noChangeAspect="1"/>
          </p:cNvPicPr>
          <p:nvPr/>
        </p:nvPicPr>
        <p:blipFill>
          <a:blip r:embed="rId1"/>
          <a:stretch>
            <a:fillRect/>
          </a:stretch>
        </p:blipFill>
        <p:spPr>
          <a:xfrm>
            <a:off x="7863840" y="73152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I will talk about</a:t>
            </a:r>
            <a:endParaRPr lang="en-US" sz="3000" dirty="0"/>
          </a:p>
        </p:txBody>
      </p:sp>
      <p:sp>
        <p:nvSpPr>
          <p:cNvPr id="3" name="card_5"/>
          <p:cNvSpPr/>
          <p:nvPr/>
        </p:nvSpPr>
        <p:spPr>
          <a:xfrm>
            <a:off x="457200" y="1371600"/>
            <a:ext cx="1920240" cy="2834640"/>
          </a:xfrm>
          <a:prstGeom prst="roundRect">
            <a:avLst>
              <a:gd name="adj" fmla="val 3810"/>
            </a:avLst>
          </a:prstGeom>
          <a:solidFill>
            <a:schemeClr val="bg2"/>
          </a:solidFill>
          <a:ln/>
        </p:spPr>
      </p:sp>
      <p:sp>
        <p:nvSpPr>
          <p:cNvPr id="4" name="text_6"/>
          <p:cNvSpPr txBox="1"/>
          <p:nvPr/>
        </p:nvSpPr>
        <p:spPr>
          <a:xfrm>
            <a:off x="68580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01</a:t>
            </a:r>
            <a:endParaRPr lang="en-US" sz="4000" dirty="0"/>
          </a:p>
        </p:txBody>
      </p:sp>
      <p:sp>
        <p:nvSpPr>
          <p:cNvPr id="5" name="text_7"/>
          <p:cNvSpPr txBox="1"/>
          <p:nvPr/>
        </p:nvSpPr>
        <p:spPr>
          <a:xfrm>
            <a:off x="68580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The problem</a:t>
            </a:r>
            <a:endParaRPr lang="en-US" sz="1800" dirty="0"/>
          </a:p>
        </p:txBody>
      </p:sp>
      <p:sp>
        <p:nvSpPr>
          <p:cNvPr id="6" name="text_8"/>
          <p:cNvSpPr txBox="1"/>
          <p:nvPr/>
        </p:nvSpPr>
        <p:spPr>
          <a:xfrm>
            <a:off x="68580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Why course registration is harder than it looks</a:t>
            </a:r>
            <a:endParaRPr lang="en-US" sz="1400" dirty="0"/>
          </a:p>
        </p:txBody>
      </p:sp>
      <p:sp>
        <p:nvSpPr>
          <p:cNvPr id="7" name="card_9"/>
          <p:cNvSpPr/>
          <p:nvPr/>
        </p:nvSpPr>
        <p:spPr>
          <a:xfrm>
            <a:off x="2560320" y="1371600"/>
            <a:ext cx="1920240" cy="2834640"/>
          </a:xfrm>
          <a:prstGeom prst="roundRect">
            <a:avLst>
              <a:gd name="adj" fmla="val 3810"/>
            </a:avLst>
          </a:prstGeom>
          <a:solidFill>
            <a:schemeClr val="bg2"/>
          </a:solidFill>
          <a:ln/>
        </p:spPr>
      </p:sp>
      <p:sp>
        <p:nvSpPr>
          <p:cNvPr id="8" name="text_10"/>
          <p:cNvSpPr txBox="1"/>
          <p:nvPr/>
        </p:nvSpPr>
        <p:spPr>
          <a:xfrm>
            <a:off x="278892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02</a:t>
            </a:r>
            <a:endParaRPr lang="en-US" sz="4000" dirty="0"/>
          </a:p>
        </p:txBody>
      </p:sp>
      <p:sp>
        <p:nvSpPr>
          <p:cNvPr id="9" name="text_11"/>
          <p:cNvSpPr txBox="1"/>
          <p:nvPr/>
        </p:nvSpPr>
        <p:spPr>
          <a:xfrm>
            <a:off x="278892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The solution</a:t>
            </a:r>
            <a:endParaRPr lang="en-US" sz="1800" dirty="0"/>
          </a:p>
        </p:txBody>
      </p:sp>
      <p:sp>
        <p:nvSpPr>
          <p:cNvPr id="10" name="text_12"/>
          <p:cNvSpPr txBox="1"/>
          <p:nvPr/>
        </p:nvSpPr>
        <p:spPr>
          <a:xfrm>
            <a:off x="278892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Features, technology and architecture</a:t>
            </a:r>
            <a:endParaRPr lang="en-US" sz="1400" dirty="0"/>
          </a:p>
        </p:txBody>
      </p:sp>
      <p:sp>
        <p:nvSpPr>
          <p:cNvPr id="11" name="card_13"/>
          <p:cNvSpPr/>
          <p:nvPr/>
        </p:nvSpPr>
        <p:spPr>
          <a:xfrm>
            <a:off x="4663440" y="1371600"/>
            <a:ext cx="1920240" cy="2834640"/>
          </a:xfrm>
          <a:prstGeom prst="roundRect">
            <a:avLst>
              <a:gd name="adj" fmla="val 3810"/>
            </a:avLst>
          </a:prstGeom>
          <a:solidFill>
            <a:schemeClr val="bg2"/>
          </a:solidFill>
          <a:ln/>
        </p:spPr>
      </p:sp>
      <p:sp>
        <p:nvSpPr>
          <p:cNvPr id="12" name="text_14"/>
          <p:cNvSpPr txBox="1"/>
          <p:nvPr/>
        </p:nvSpPr>
        <p:spPr>
          <a:xfrm>
            <a:off x="489204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03</a:t>
            </a:r>
            <a:endParaRPr lang="en-US" sz="4000" dirty="0"/>
          </a:p>
        </p:txBody>
      </p:sp>
      <p:sp>
        <p:nvSpPr>
          <p:cNvPr id="13" name="text_15"/>
          <p:cNvSpPr txBox="1"/>
          <p:nvPr/>
        </p:nvSpPr>
        <p:spPr>
          <a:xfrm>
            <a:off x="489204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The hard part</a:t>
            </a:r>
            <a:endParaRPr lang="en-US" sz="1800" dirty="0"/>
          </a:p>
        </p:txBody>
      </p:sp>
      <p:sp>
        <p:nvSpPr>
          <p:cNvPr id="14" name="text_16"/>
          <p:cNvSpPr txBox="1"/>
          <p:nvPr/>
        </p:nvSpPr>
        <p:spPr>
          <a:xfrm>
            <a:off x="489204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Business rules, race conditions and timetable clashes</a:t>
            </a:r>
            <a:endParaRPr lang="en-US" sz="1400" dirty="0"/>
          </a:p>
        </p:txBody>
      </p:sp>
      <p:sp>
        <p:nvSpPr>
          <p:cNvPr id="15" name="card_17"/>
          <p:cNvSpPr/>
          <p:nvPr/>
        </p:nvSpPr>
        <p:spPr>
          <a:xfrm>
            <a:off x="6766560" y="1371600"/>
            <a:ext cx="1920240" cy="2834640"/>
          </a:xfrm>
          <a:prstGeom prst="roundRect">
            <a:avLst>
              <a:gd name="adj" fmla="val 3810"/>
            </a:avLst>
          </a:prstGeom>
          <a:solidFill>
            <a:schemeClr val="bg2"/>
          </a:solidFill>
          <a:ln/>
        </p:spPr>
      </p:sp>
      <p:sp>
        <p:nvSpPr>
          <p:cNvPr id="16" name="text_18"/>
          <p:cNvSpPr txBox="1"/>
          <p:nvPr/>
        </p:nvSpPr>
        <p:spPr>
          <a:xfrm>
            <a:off x="6995160" y="1645920"/>
            <a:ext cx="146304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04</a:t>
            </a:r>
            <a:endParaRPr lang="en-US" sz="4000" dirty="0"/>
          </a:p>
        </p:txBody>
      </p:sp>
      <p:sp>
        <p:nvSpPr>
          <p:cNvPr id="17" name="text_19"/>
          <p:cNvSpPr txBox="1"/>
          <p:nvPr/>
        </p:nvSpPr>
        <p:spPr>
          <a:xfrm>
            <a:off x="6995160" y="2468880"/>
            <a:ext cx="1554480" cy="457200"/>
          </a:xfrm>
          <a:prstGeom prst="rect">
            <a:avLst/>
          </a:prstGeom>
          <a:noFill/>
          <a:ln/>
        </p:spPr>
        <p:txBody>
          <a:bodyPr wrap="square" lIns="0" tIns="0" rIns="0" bIns="0" rtlCol="0" anchor="t"/>
          <a:lstStyle/>
          <a:p>
            <a:pPr indent="0" marL="0">
              <a:buNone/>
            </a:pPr>
            <a:r>
              <a:rPr lang="en-US" sz="1800" b="1" dirty="0">
                <a:solidFill>
                  <a:schemeClr val="tx2"/>
                </a:solidFill>
              </a:rPr>
              <a:t>The journey</a:t>
            </a:r>
            <a:endParaRPr lang="en-US" sz="1800" dirty="0"/>
          </a:p>
        </p:txBody>
      </p:sp>
      <p:sp>
        <p:nvSpPr>
          <p:cNvPr id="18" name="text_20"/>
          <p:cNvSpPr txBox="1"/>
          <p:nvPr/>
        </p:nvSpPr>
        <p:spPr>
          <a:xfrm>
            <a:off x="6995160" y="3017520"/>
            <a:ext cx="1554480" cy="1005840"/>
          </a:xfrm>
          <a:prstGeom prst="rect">
            <a:avLst/>
          </a:prstGeom>
          <a:noFill/>
          <a:ln/>
        </p:spPr>
        <p:txBody>
          <a:bodyPr wrap="square" lIns="0" tIns="0" rIns="0" bIns="0" rtlCol="0" anchor="t"/>
          <a:lstStyle/>
          <a:p>
            <a:pPr indent="0" marL="0">
              <a:buNone/>
            </a:pPr>
            <a:r>
              <a:rPr lang="en-US" sz="1400" dirty="0">
                <a:solidFill>
                  <a:schemeClr val="tx1"/>
                </a:solidFill>
              </a:rPr>
              <a:t>How I built it, challenges and lessons learned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Registration day is stressful</a:t>
            </a:r>
            <a:endParaRPr lang="en-US" sz="3000" dirty="0"/>
          </a:p>
        </p:txBody>
      </p:sp>
      <p:sp>
        <p:nvSpPr>
          <p:cNvPr id="3" name="card_21"/>
          <p:cNvSpPr/>
          <p:nvPr/>
        </p:nvSpPr>
        <p:spPr>
          <a:xfrm>
            <a:off x="457200" y="1234440"/>
            <a:ext cx="4023360" cy="1463040"/>
          </a:xfrm>
          <a:prstGeom prst="roundRect">
            <a:avLst>
              <a:gd name="adj" fmla="val 5000"/>
            </a:avLst>
          </a:prstGeom>
          <a:solidFill>
            <a:schemeClr val="bg2"/>
          </a:solidFill>
          <a:ln/>
        </p:spPr>
      </p:sp>
      <p:sp>
        <p:nvSpPr>
          <p:cNvPr id="4" name="icon-bg_22"/>
          <p:cNvSpPr/>
          <p:nvPr/>
        </p:nvSpPr>
        <p:spPr>
          <a:xfrm>
            <a:off x="731520" y="1600200"/>
            <a:ext cx="731520" cy="731520"/>
          </a:xfrm>
          <a:prstGeom prst="ellipse">
            <a:avLst/>
          </a:prstGeom>
          <a:solidFill>
            <a:srgbClr val="1F4E5F"/>
          </a:solidFill>
          <a:ln/>
        </p:spPr>
      </p:sp>
      <p:pic>
        <p:nvPicPr>
          <p:cNvPr id="5" name="icon_23" descr="preencoded.png">    </p:cNvPr>
          <p:cNvPicPr>
            <a:picLocks noChangeAspect="1"/>
          </p:cNvPicPr>
          <p:nvPr/>
        </p:nvPicPr>
        <p:blipFill>
          <a:blip r:embed="rId1"/>
          <a:stretch>
            <a:fillRect/>
          </a:stretch>
        </p:blipFill>
        <p:spPr>
          <a:xfrm>
            <a:off x="914400" y="1783080"/>
            <a:ext cx="365760" cy="365760"/>
          </a:xfrm>
          <a:prstGeom prst="rect">
            <a:avLst/>
          </a:prstGeom>
        </p:spPr>
      </p:pic>
      <p:sp>
        <p:nvSpPr>
          <p:cNvPr id="6" name="text_24"/>
          <p:cNvSpPr txBox="1"/>
          <p:nvPr/>
        </p:nvSpPr>
        <p:spPr>
          <a:xfrm>
            <a:off x="1691640" y="1508760"/>
            <a:ext cx="2606040" cy="365760"/>
          </a:xfrm>
          <a:prstGeom prst="rect">
            <a:avLst/>
          </a:prstGeom>
          <a:noFill/>
          <a:ln/>
        </p:spPr>
        <p:txBody>
          <a:bodyPr wrap="square" lIns="0" tIns="0" rIns="0" bIns="0" rtlCol="0" anchor="t"/>
          <a:lstStyle/>
          <a:p>
            <a:pPr indent="0" marL="0">
              <a:buNone/>
            </a:pPr>
            <a:r>
              <a:rPr lang="en-US" sz="1800" b="1" dirty="0">
                <a:solidFill>
                  <a:schemeClr val="tx2"/>
                </a:solidFill>
              </a:rPr>
              <a:t>Limited seats</a:t>
            </a:r>
            <a:endParaRPr lang="en-US" sz="1800" dirty="0"/>
          </a:p>
        </p:txBody>
      </p:sp>
      <p:sp>
        <p:nvSpPr>
          <p:cNvPr id="7" name="text_25"/>
          <p:cNvSpPr txBox="1"/>
          <p:nvPr/>
        </p:nvSpPr>
        <p:spPr>
          <a:xfrm>
            <a:off x="1691640" y="1920240"/>
            <a:ext cx="2606040" cy="685800"/>
          </a:xfrm>
          <a:prstGeom prst="rect">
            <a:avLst/>
          </a:prstGeom>
          <a:noFill/>
          <a:ln/>
        </p:spPr>
        <p:txBody>
          <a:bodyPr wrap="square" lIns="0" tIns="0" rIns="0" bIns="0" rtlCol="0" anchor="t"/>
          <a:lstStyle/>
          <a:p>
            <a:pPr indent="0" marL="0">
              <a:buNone/>
            </a:pPr>
            <a:r>
              <a:rPr lang="en-US" sz="1400" dirty="0">
                <a:solidFill>
                  <a:schemeClr val="tx1"/>
                </a:solidFill>
              </a:rPr>
              <a:t>Hundreds of students compete for the last seats in the same minute</a:t>
            </a:r>
            <a:endParaRPr lang="en-US" sz="1400" dirty="0"/>
          </a:p>
        </p:txBody>
      </p:sp>
      <p:sp>
        <p:nvSpPr>
          <p:cNvPr id="8" name="card_26"/>
          <p:cNvSpPr/>
          <p:nvPr/>
        </p:nvSpPr>
        <p:spPr>
          <a:xfrm>
            <a:off x="4663440" y="1234440"/>
            <a:ext cx="4023360" cy="1463040"/>
          </a:xfrm>
          <a:prstGeom prst="roundRect">
            <a:avLst>
              <a:gd name="adj" fmla="val 5000"/>
            </a:avLst>
          </a:prstGeom>
          <a:solidFill>
            <a:schemeClr val="bg2"/>
          </a:solidFill>
          <a:ln/>
        </p:spPr>
      </p:sp>
      <p:sp>
        <p:nvSpPr>
          <p:cNvPr id="9" name="icon-bg_27"/>
          <p:cNvSpPr/>
          <p:nvPr/>
        </p:nvSpPr>
        <p:spPr>
          <a:xfrm>
            <a:off x="4937760" y="1600200"/>
            <a:ext cx="731520" cy="731520"/>
          </a:xfrm>
          <a:prstGeom prst="ellipse">
            <a:avLst/>
          </a:prstGeom>
          <a:solidFill>
            <a:srgbClr val="1F4E5F"/>
          </a:solidFill>
          <a:ln/>
        </p:spPr>
      </p:sp>
      <p:pic>
        <p:nvPicPr>
          <p:cNvPr id="10" name="icon_28" descr="preencoded.png">    </p:cNvPr>
          <p:cNvPicPr>
            <a:picLocks noChangeAspect="1"/>
          </p:cNvPicPr>
          <p:nvPr/>
        </p:nvPicPr>
        <p:blipFill>
          <a:blip r:embed="rId2"/>
          <a:stretch>
            <a:fillRect/>
          </a:stretch>
        </p:blipFill>
        <p:spPr>
          <a:xfrm>
            <a:off x="5120640" y="1783080"/>
            <a:ext cx="365760" cy="365760"/>
          </a:xfrm>
          <a:prstGeom prst="rect">
            <a:avLst/>
          </a:prstGeom>
        </p:spPr>
      </p:pic>
      <p:sp>
        <p:nvSpPr>
          <p:cNvPr id="11" name="text_29"/>
          <p:cNvSpPr txBox="1"/>
          <p:nvPr/>
        </p:nvSpPr>
        <p:spPr>
          <a:xfrm>
            <a:off x="5897880" y="1508760"/>
            <a:ext cx="2606040" cy="365760"/>
          </a:xfrm>
          <a:prstGeom prst="rect">
            <a:avLst/>
          </a:prstGeom>
          <a:noFill/>
          <a:ln/>
        </p:spPr>
        <p:txBody>
          <a:bodyPr wrap="square" lIns="0" tIns="0" rIns="0" bIns="0" rtlCol="0" anchor="t"/>
          <a:lstStyle/>
          <a:p>
            <a:pPr indent="0" marL="0">
              <a:buNone/>
            </a:pPr>
            <a:r>
              <a:rPr lang="en-US" sz="1800" b="1" dirty="0">
                <a:solidFill>
                  <a:schemeClr val="tx2"/>
                </a:solidFill>
              </a:rPr>
              <a:t>Timetable clashes</a:t>
            </a:r>
            <a:endParaRPr lang="en-US" sz="1800" dirty="0"/>
          </a:p>
        </p:txBody>
      </p:sp>
      <p:sp>
        <p:nvSpPr>
          <p:cNvPr id="12" name="text_30"/>
          <p:cNvSpPr txBox="1"/>
          <p:nvPr/>
        </p:nvSpPr>
        <p:spPr>
          <a:xfrm>
            <a:off x="5897880" y="1920240"/>
            <a:ext cx="2606040" cy="685800"/>
          </a:xfrm>
          <a:prstGeom prst="rect">
            <a:avLst/>
          </a:prstGeom>
          <a:noFill/>
          <a:ln/>
        </p:spPr>
        <p:txBody>
          <a:bodyPr wrap="square" lIns="0" tIns="0" rIns="0" bIns="0" rtlCol="0" anchor="t"/>
          <a:lstStyle/>
          <a:p>
            <a:pPr indent="0" marL="0">
              <a:buNone/>
            </a:pPr>
            <a:r>
              <a:rPr lang="en-US" sz="1400" dirty="0">
                <a:solidFill>
                  <a:schemeClr val="tx1"/>
                </a:solidFill>
              </a:rPr>
              <a:t>Two classes at the same time are easy to miss</a:t>
            </a:r>
            <a:endParaRPr lang="en-US" sz="1400" dirty="0"/>
          </a:p>
        </p:txBody>
      </p:sp>
      <p:sp>
        <p:nvSpPr>
          <p:cNvPr id="13" name="card_31"/>
          <p:cNvSpPr/>
          <p:nvPr/>
        </p:nvSpPr>
        <p:spPr>
          <a:xfrm>
            <a:off x="457200" y="2926080"/>
            <a:ext cx="4023360" cy="1463040"/>
          </a:xfrm>
          <a:prstGeom prst="roundRect">
            <a:avLst>
              <a:gd name="adj" fmla="val 5000"/>
            </a:avLst>
          </a:prstGeom>
          <a:solidFill>
            <a:schemeClr val="bg2"/>
          </a:solidFill>
          <a:ln/>
        </p:spPr>
      </p:sp>
      <p:sp>
        <p:nvSpPr>
          <p:cNvPr id="14" name="icon-bg_32"/>
          <p:cNvSpPr/>
          <p:nvPr/>
        </p:nvSpPr>
        <p:spPr>
          <a:xfrm>
            <a:off x="731520" y="3291840"/>
            <a:ext cx="731520" cy="731520"/>
          </a:xfrm>
          <a:prstGeom prst="ellipse">
            <a:avLst/>
          </a:prstGeom>
          <a:solidFill>
            <a:srgbClr val="1F4E5F"/>
          </a:solidFill>
          <a:ln/>
        </p:spPr>
      </p:sp>
      <p:pic>
        <p:nvPicPr>
          <p:cNvPr id="15" name="icon_33" descr="preencoded.png">    </p:cNvPr>
          <p:cNvPicPr>
            <a:picLocks noChangeAspect="1"/>
          </p:cNvPicPr>
          <p:nvPr/>
        </p:nvPicPr>
        <p:blipFill>
          <a:blip r:embed="rId3"/>
          <a:stretch>
            <a:fillRect/>
          </a:stretch>
        </p:blipFill>
        <p:spPr>
          <a:xfrm>
            <a:off x="914400" y="3474720"/>
            <a:ext cx="365760" cy="365760"/>
          </a:xfrm>
          <a:prstGeom prst="rect">
            <a:avLst/>
          </a:prstGeom>
        </p:spPr>
      </p:pic>
      <p:sp>
        <p:nvSpPr>
          <p:cNvPr id="16" name="text_34"/>
          <p:cNvSpPr txBox="1"/>
          <p:nvPr/>
        </p:nvSpPr>
        <p:spPr>
          <a:xfrm>
            <a:off x="1691640" y="3200400"/>
            <a:ext cx="2606040" cy="365760"/>
          </a:xfrm>
          <a:prstGeom prst="rect">
            <a:avLst/>
          </a:prstGeom>
          <a:noFill/>
          <a:ln/>
        </p:spPr>
        <p:txBody>
          <a:bodyPr wrap="square" lIns="0" tIns="0" rIns="0" bIns="0" rtlCol="0" anchor="t"/>
          <a:lstStyle/>
          <a:p>
            <a:pPr indent="0" marL="0">
              <a:buNone/>
            </a:pPr>
            <a:r>
              <a:rPr lang="en-US" sz="1800" b="1" dirty="0">
                <a:solidFill>
                  <a:schemeClr val="tx2"/>
                </a:solidFill>
              </a:rPr>
              <a:t>Strict time windows</a:t>
            </a:r>
            <a:endParaRPr lang="en-US" sz="1800" dirty="0"/>
          </a:p>
        </p:txBody>
      </p:sp>
      <p:sp>
        <p:nvSpPr>
          <p:cNvPr id="17" name="text_35"/>
          <p:cNvSpPr txBox="1"/>
          <p:nvPr/>
        </p:nvSpPr>
        <p:spPr>
          <a:xfrm>
            <a:off x="1691640" y="3611880"/>
            <a:ext cx="2606040" cy="685800"/>
          </a:xfrm>
          <a:prstGeom prst="rect">
            <a:avLst/>
          </a:prstGeom>
          <a:noFill/>
          <a:ln/>
        </p:spPr>
        <p:txBody>
          <a:bodyPr wrap="square" lIns="0" tIns="0" rIns="0" bIns="0" rtlCol="0" anchor="t"/>
          <a:lstStyle/>
          <a:p>
            <a:pPr indent="0" marL="0">
              <a:buNone/>
            </a:pPr>
            <a:r>
              <a:rPr lang="en-US" sz="1400" dirty="0">
                <a:solidFill>
                  <a:schemeClr val="tx1"/>
                </a:solidFill>
              </a:rPr>
              <a:t>Registration and cancellation are only open for a few days</a:t>
            </a:r>
            <a:endParaRPr lang="en-US" sz="1400" dirty="0"/>
          </a:p>
        </p:txBody>
      </p:sp>
      <p:sp>
        <p:nvSpPr>
          <p:cNvPr id="18" name="card_36"/>
          <p:cNvSpPr/>
          <p:nvPr/>
        </p:nvSpPr>
        <p:spPr>
          <a:xfrm>
            <a:off x="4663440" y="2926080"/>
            <a:ext cx="4023360" cy="1463040"/>
          </a:xfrm>
          <a:prstGeom prst="roundRect">
            <a:avLst>
              <a:gd name="adj" fmla="val 5000"/>
            </a:avLst>
          </a:prstGeom>
          <a:solidFill>
            <a:schemeClr val="bg2"/>
          </a:solidFill>
          <a:ln/>
        </p:spPr>
      </p:sp>
      <p:sp>
        <p:nvSpPr>
          <p:cNvPr id="19" name="icon-bg_37"/>
          <p:cNvSpPr/>
          <p:nvPr/>
        </p:nvSpPr>
        <p:spPr>
          <a:xfrm>
            <a:off x="4937760" y="3291840"/>
            <a:ext cx="731520" cy="731520"/>
          </a:xfrm>
          <a:prstGeom prst="ellipse">
            <a:avLst/>
          </a:prstGeom>
          <a:solidFill>
            <a:srgbClr val="1F4E5F"/>
          </a:solidFill>
          <a:ln/>
        </p:spPr>
      </p:sp>
      <p:pic>
        <p:nvPicPr>
          <p:cNvPr id="20" name="icon_38" descr="preencoded.png">    </p:cNvPr>
          <p:cNvPicPr>
            <a:picLocks noChangeAspect="1"/>
          </p:cNvPicPr>
          <p:nvPr/>
        </p:nvPicPr>
        <p:blipFill>
          <a:blip r:embed="rId4"/>
          <a:stretch>
            <a:fillRect/>
          </a:stretch>
        </p:blipFill>
        <p:spPr>
          <a:xfrm>
            <a:off x="5120640" y="3474720"/>
            <a:ext cx="365760" cy="365760"/>
          </a:xfrm>
          <a:prstGeom prst="rect">
            <a:avLst/>
          </a:prstGeom>
        </p:spPr>
      </p:pic>
      <p:sp>
        <p:nvSpPr>
          <p:cNvPr id="21" name="text_39"/>
          <p:cNvSpPr txBox="1"/>
          <p:nvPr/>
        </p:nvSpPr>
        <p:spPr>
          <a:xfrm>
            <a:off x="5897880" y="3200400"/>
            <a:ext cx="2606040" cy="365760"/>
          </a:xfrm>
          <a:prstGeom prst="rect">
            <a:avLst/>
          </a:prstGeom>
          <a:noFill/>
          <a:ln/>
        </p:spPr>
        <p:txBody>
          <a:bodyPr wrap="square" lIns="0" tIns="0" rIns="0" bIns="0" rtlCol="0" anchor="t"/>
          <a:lstStyle/>
          <a:p>
            <a:pPr indent="0" marL="0">
              <a:buNone/>
            </a:pPr>
            <a:r>
              <a:rPr lang="en-US" sz="1800" b="1" dirty="0">
                <a:solidFill>
                  <a:schemeClr val="tx2"/>
                </a:solidFill>
              </a:rPr>
              <a:t>Manual admin work</a:t>
            </a:r>
            <a:endParaRPr lang="en-US" sz="1800" dirty="0"/>
          </a:p>
        </p:txBody>
      </p:sp>
      <p:sp>
        <p:nvSpPr>
          <p:cNvPr id="22" name="text_40"/>
          <p:cNvSpPr txBox="1"/>
          <p:nvPr/>
        </p:nvSpPr>
        <p:spPr>
          <a:xfrm>
            <a:off x="5897880" y="3611880"/>
            <a:ext cx="2606040" cy="685800"/>
          </a:xfrm>
          <a:prstGeom prst="rect">
            <a:avLst/>
          </a:prstGeom>
          <a:noFill/>
          <a:ln/>
        </p:spPr>
        <p:txBody>
          <a:bodyPr wrap="square" lIns="0" tIns="0" rIns="0" bIns="0" rtlCol="0" anchor="t"/>
          <a:lstStyle/>
          <a:p>
            <a:pPr indent="0" marL="0">
              <a:buNone/>
            </a:pPr>
            <a:r>
              <a:rPr lang="en-US" sz="1400" dirty="0">
                <a:solidFill>
                  <a:schemeClr val="tx1"/>
                </a:solidFill>
              </a:rPr>
              <a:t>Courses, rooms and sections are often managed in spreadsheets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project at a glance</a:t>
            </a:r>
            <a:endParaRPr lang="en-US" sz="3000" dirty="0"/>
          </a:p>
        </p:txBody>
      </p:sp>
      <p:sp>
        <p:nvSpPr>
          <p:cNvPr id="3" name="text_41"/>
          <p:cNvSpPr txBox="1"/>
          <p:nvPr/>
        </p:nvSpPr>
        <p:spPr>
          <a:xfrm>
            <a:off x="45720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2</a:t>
            </a:r>
            <a:endParaRPr lang="en-US" sz="6000" dirty="0"/>
          </a:p>
        </p:txBody>
      </p:sp>
      <p:sp>
        <p:nvSpPr>
          <p:cNvPr id="4" name="text_42"/>
          <p:cNvSpPr txBox="1"/>
          <p:nvPr/>
        </p:nvSpPr>
        <p:spPr>
          <a:xfrm>
            <a:off x="45720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portals</a:t>
            </a:r>
            <a:endParaRPr lang="en-US" sz="1600" dirty="0"/>
          </a:p>
        </p:txBody>
      </p:sp>
      <p:sp>
        <p:nvSpPr>
          <p:cNvPr id="5" name="text_43"/>
          <p:cNvSpPr txBox="1"/>
          <p:nvPr/>
        </p:nvSpPr>
        <p:spPr>
          <a:xfrm>
            <a:off x="45720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student &amp; admin</a:t>
            </a:r>
            <a:endParaRPr lang="en-US" sz="1300" dirty="0"/>
          </a:p>
        </p:txBody>
      </p:sp>
      <p:sp>
        <p:nvSpPr>
          <p:cNvPr id="6" name="text_44"/>
          <p:cNvSpPr txBox="1"/>
          <p:nvPr/>
        </p:nvSpPr>
        <p:spPr>
          <a:xfrm>
            <a:off x="256032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8</a:t>
            </a:r>
            <a:endParaRPr lang="en-US" sz="6000" dirty="0"/>
          </a:p>
        </p:txBody>
      </p:sp>
      <p:sp>
        <p:nvSpPr>
          <p:cNvPr id="7" name="text_45"/>
          <p:cNvSpPr txBox="1"/>
          <p:nvPr/>
        </p:nvSpPr>
        <p:spPr>
          <a:xfrm>
            <a:off x="256032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database tables</a:t>
            </a:r>
            <a:endParaRPr lang="en-US" sz="1600" dirty="0"/>
          </a:p>
        </p:txBody>
      </p:sp>
      <p:sp>
        <p:nvSpPr>
          <p:cNvPr id="8" name="text_46"/>
          <p:cNvSpPr txBox="1"/>
          <p:nvPr/>
        </p:nvSpPr>
        <p:spPr>
          <a:xfrm>
            <a:off x="256032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MySQL 8</a:t>
            </a:r>
            <a:endParaRPr lang="en-US" sz="1300" dirty="0"/>
          </a:p>
        </p:txBody>
      </p:sp>
      <p:sp>
        <p:nvSpPr>
          <p:cNvPr id="9" name="text_47"/>
          <p:cNvSpPr txBox="1"/>
          <p:nvPr/>
        </p:nvSpPr>
        <p:spPr>
          <a:xfrm>
            <a:off x="466344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a:t>
            </a:r>
            <a:endParaRPr lang="en-US" sz="6000" dirty="0"/>
          </a:p>
        </p:txBody>
      </p:sp>
      <p:sp>
        <p:nvSpPr>
          <p:cNvPr id="10" name="text_48"/>
          <p:cNvSpPr txBox="1"/>
          <p:nvPr/>
        </p:nvSpPr>
        <p:spPr>
          <a:xfrm>
            <a:off x="466344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business rules</a:t>
            </a:r>
            <a:endParaRPr lang="en-US" sz="1600" dirty="0"/>
          </a:p>
        </p:txBody>
      </p:sp>
      <p:sp>
        <p:nvSpPr>
          <p:cNvPr id="11" name="text_49"/>
          <p:cNvSpPr txBox="1"/>
          <p:nvPr/>
        </p:nvSpPr>
        <p:spPr>
          <a:xfrm>
            <a:off x="466344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BR01 – BR09</a:t>
            </a:r>
            <a:endParaRPr lang="en-US" sz="1300" dirty="0"/>
          </a:p>
        </p:txBody>
      </p:sp>
      <p:sp>
        <p:nvSpPr>
          <p:cNvPr id="12" name="text_50"/>
          <p:cNvSpPr txBox="1"/>
          <p:nvPr/>
        </p:nvSpPr>
        <p:spPr>
          <a:xfrm>
            <a:off x="6766560" y="1234440"/>
            <a:ext cx="19202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3</a:t>
            </a:r>
            <a:endParaRPr lang="en-US" sz="6000" dirty="0"/>
          </a:p>
        </p:txBody>
      </p:sp>
      <p:sp>
        <p:nvSpPr>
          <p:cNvPr id="13" name="text_51"/>
          <p:cNvSpPr txBox="1"/>
          <p:nvPr/>
        </p:nvSpPr>
        <p:spPr>
          <a:xfrm>
            <a:off x="6766560" y="2194560"/>
            <a:ext cx="1920240" cy="365760"/>
          </a:xfrm>
          <a:prstGeom prst="rect">
            <a:avLst/>
          </a:prstGeom>
          <a:noFill/>
          <a:ln/>
        </p:spPr>
        <p:txBody>
          <a:bodyPr wrap="square" lIns="0" tIns="0" rIns="0" bIns="0" rtlCol="0" anchor="t"/>
          <a:lstStyle/>
          <a:p>
            <a:pPr indent="0" marL="0">
              <a:buNone/>
            </a:pPr>
            <a:r>
              <a:rPr lang="en-US" sz="1600" b="1" dirty="0">
                <a:solidFill>
                  <a:schemeClr val="tx2"/>
                </a:solidFill>
              </a:rPr>
              <a:t>containers</a:t>
            </a:r>
            <a:endParaRPr lang="en-US" sz="1600" dirty="0"/>
          </a:p>
        </p:txBody>
      </p:sp>
      <p:sp>
        <p:nvSpPr>
          <p:cNvPr id="14" name="text_52"/>
          <p:cNvSpPr txBox="1"/>
          <p:nvPr/>
        </p:nvSpPr>
        <p:spPr>
          <a:xfrm>
            <a:off x="6766560" y="2560320"/>
            <a:ext cx="1920240" cy="320040"/>
          </a:xfrm>
          <a:prstGeom prst="rect">
            <a:avLst/>
          </a:prstGeom>
          <a:noFill/>
          <a:ln/>
        </p:spPr>
        <p:txBody>
          <a:bodyPr wrap="square" lIns="0" tIns="0" rIns="0" bIns="0" rtlCol="0" anchor="t"/>
          <a:lstStyle/>
          <a:p>
            <a:pPr indent="0" marL="0">
              <a:buNone/>
            </a:pPr>
            <a:r>
              <a:rPr lang="en-US" sz="1300" dirty="0">
                <a:solidFill>
                  <a:schemeClr val="accent4"/>
                </a:solidFill>
              </a:rPr>
              <a:t>Docker, one command</a:t>
            </a:r>
            <a:endParaRPr lang="en-US" sz="1300" dirty="0"/>
          </a:p>
        </p:txBody>
      </p:sp>
      <p:sp>
        <p:nvSpPr>
          <p:cNvPr id="15" name="card_53"/>
          <p:cNvSpPr/>
          <p:nvPr/>
        </p:nvSpPr>
        <p:spPr>
          <a:xfrm>
            <a:off x="457200" y="3246120"/>
            <a:ext cx="8229600" cy="1188720"/>
          </a:xfrm>
          <a:prstGeom prst="roundRect">
            <a:avLst>
              <a:gd name="adj" fmla="val 6154"/>
            </a:avLst>
          </a:prstGeom>
          <a:solidFill>
            <a:schemeClr val="accent5"/>
          </a:solidFill>
          <a:ln/>
        </p:spPr>
      </p:sp>
      <p:sp>
        <p:nvSpPr>
          <p:cNvPr id="16" name="text_54"/>
          <p:cNvSpPr txBox="1"/>
          <p:nvPr/>
        </p:nvSpPr>
        <p:spPr>
          <a:xfrm>
            <a:off x="731520" y="3429000"/>
            <a:ext cx="7680960" cy="868680"/>
          </a:xfrm>
          <a:prstGeom prst="rect">
            <a:avLst/>
          </a:prstGeom>
          <a:noFill/>
          <a:ln/>
        </p:spPr>
        <p:txBody>
          <a:bodyPr wrap="square" lIns="0" tIns="0" rIns="0" bIns="0" rtlCol="0" anchor="ctr"/>
          <a:lstStyle/>
          <a:p>
            <a:pPr indent="0" marL="0">
              <a:buNone/>
            </a:pPr>
            <a:r>
              <a:rPr lang="en-US" sz="1600" b="1" dirty="0">
                <a:solidFill>
                  <a:schemeClr val="tx2"/>
                </a:solidFill>
              </a:rPr>
              <a:t>My goal: </a:t>
            </a:r>
            <a:pPr indent="0" marL="0">
              <a:buNone/>
            </a:pPr>
            <a:r>
              <a:rPr lang="en-US" sz="1600" dirty="0">
                <a:solidFill>
                  <a:schemeClr val="tx1"/>
                </a:solidFill>
              </a:rPr>
              <a:t>a working system where registration rules are enforced on the server, so the data stays correct even when many students click “Register” at the same moment.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Two portals, one system</a:t>
            </a:r>
            <a:endParaRPr lang="en-US" sz="3000" dirty="0"/>
          </a:p>
        </p:txBody>
      </p:sp>
      <p:sp>
        <p:nvSpPr>
          <p:cNvPr id="3" name="card_55"/>
          <p:cNvSpPr/>
          <p:nvPr/>
        </p:nvSpPr>
        <p:spPr>
          <a:xfrm>
            <a:off x="457200" y="1188720"/>
            <a:ext cx="4023360" cy="3291840"/>
          </a:xfrm>
          <a:prstGeom prst="roundRect">
            <a:avLst>
              <a:gd name="adj" fmla="val 2222"/>
            </a:avLst>
          </a:prstGeom>
          <a:solidFill>
            <a:schemeClr val="bg2"/>
          </a:solidFill>
          <a:ln/>
        </p:spPr>
      </p:sp>
      <p:sp>
        <p:nvSpPr>
          <p:cNvPr id="4" name="icon-bg_56"/>
          <p:cNvSpPr/>
          <p:nvPr/>
        </p:nvSpPr>
        <p:spPr>
          <a:xfrm>
            <a:off x="731520" y="1463040"/>
            <a:ext cx="685800" cy="685800"/>
          </a:xfrm>
          <a:prstGeom prst="ellipse">
            <a:avLst/>
          </a:prstGeom>
          <a:solidFill>
            <a:srgbClr val="1F4E5F"/>
          </a:solidFill>
          <a:ln/>
        </p:spPr>
      </p:sp>
      <p:pic>
        <p:nvPicPr>
          <p:cNvPr id="5" name="icon_57" descr="preencoded.png">    </p:cNvPr>
          <p:cNvPicPr>
            <a:picLocks noChangeAspect="1"/>
          </p:cNvPicPr>
          <p:nvPr/>
        </p:nvPicPr>
        <p:blipFill>
          <a:blip r:embed="rId1"/>
          <a:stretch>
            <a:fillRect/>
          </a:stretch>
        </p:blipFill>
        <p:spPr>
          <a:xfrm>
            <a:off x="902970" y="1634490"/>
            <a:ext cx="342900" cy="342900"/>
          </a:xfrm>
          <a:prstGeom prst="rect">
            <a:avLst/>
          </a:prstGeom>
        </p:spPr>
      </p:pic>
      <p:sp>
        <p:nvSpPr>
          <p:cNvPr id="6" name="text_58"/>
          <p:cNvSpPr txBox="1"/>
          <p:nvPr/>
        </p:nvSpPr>
        <p:spPr>
          <a:xfrm>
            <a:off x="1600200" y="1600200"/>
            <a:ext cx="2651760" cy="411480"/>
          </a:xfrm>
          <a:prstGeom prst="rect">
            <a:avLst/>
          </a:prstGeom>
          <a:noFill/>
          <a:ln/>
        </p:spPr>
        <p:txBody>
          <a:bodyPr wrap="square" lIns="0" tIns="0" rIns="0" bIns="0" rtlCol="0" anchor="t"/>
          <a:lstStyle/>
          <a:p>
            <a:pPr indent="0" marL="0">
              <a:buNone/>
            </a:pPr>
            <a:r>
              <a:rPr lang="en-US" sz="2000" b="1" dirty="0">
                <a:solidFill>
                  <a:schemeClr val="tx2"/>
                </a:solidFill>
              </a:rPr>
              <a:t>Student portal</a:t>
            </a:r>
            <a:endParaRPr lang="en-US" sz="2000" dirty="0"/>
          </a:p>
        </p:txBody>
      </p:sp>
      <p:sp>
        <p:nvSpPr>
          <p:cNvPr id="7" name="text_59"/>
          <p:cNvSpPr txBox="1"/>
          <p:nvPr/>
        </p:nvSpPr>
        <p:spPr>
          <a:xfrm>
            <a:off x="777240" y="2377440"/>
            <a:ext cx="347472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Personal information</a:t>
            </a:r>
            <a:endParaRPr lang="en-US" sz="1500" dirty="0"/>
          </a:p>
          <a:p>
            <a:pPr marL="342900" indent="-342900">
              <a:spcAft>
                <a:spcPts val="800"/>
              </a:spcAft>
              <a:buSzPct val="100000"/>
              <a:buChar char="•"/>
            </a:pPr>
            <a:r>
              <a:rPr lang="en-US" sz="1500" dirty="0">
                <a:solidFill>
                  <a:schemeClr val="tx1"/>
                </a:solidFill>
              </a:rPr>
              <a:t>One-click course registration and cancellation</a:t>
            </a:r>
            <a:endParaRPr lang="en-US" sz="1500" dirty="0"/>
          </a:p>
          <a:p>
            <a:pPr marL="342900" indent="-342900">
              <a:spcAft>
                <a:spcPts val="800"/>
              </a:spcAft>
              <a:buSzPct val="100000"/>
              <a:buChar char="•"/>
            </a:pPr>
            <a:r>
              <a:rPr lang="en-US" sz="1500" dirty="0">
                <a:solidFill>
                  <a:schemeClr val="tx1"/>
                </a:solidFill>
              </a:rPr>
              <a:t>Weekly timetable (odd / even weeks)</a:t>
            </a:r>
            <a:endParaRPr lang="en-US" sz="1500" dirty="0"/>
          </a:p>
          <a:p>
            <a:pPr marL="342900" indent="-342900">
              <a:spcAft>
                <a:spcPts val="800"/>
              </a:spcAft>
              <a:buSzPct val="100000"/>
              <a:buChar char="•"/>
            </a:pPr>
            <a:r>
              <a:rPr lang="en-US" sz="1500" dirty="0">
                <a:solidFill>
                  <a:schemeClr val="tx1"/>
                </a:solidFill>
              </a:rPr>
              <a:t>Grade lookup and GPA</a:t>
            </a:r>
            <a:endParaRPr lang="en-US" sz="1500" dirty="0"/>
          </a:p>
        </p:txBody>
      </p:sp>
      <p:sp>
        <p:nvSpPr>
          <p:cNvPr id="8" name="card_60"/>
          <p:cNvSpPr/>
          <p:nvPr/>
        </p:nvSpPr>
        <p:spPr>
          <a:xfrm>
            <a:off x="4663440" y="1188720"/>
            <a:ext cx="4023360" cy="3291840"/>
          </a:xfrm>
          <a:prstGeom prst="roundRect">
            <a:avLst>
              <a:gd name="adj" fmla="val 2222"/>
            </a:avLst>
          </a:prstGeom>
          <a:solidFill>
            <a:schemeClr val="bg2"/>
          </a:solidFill>
          <a:ln/>
        </p:spPr>
      </p:sp>
      <p:sp>
        <p:nvSpPr>
          <p:cNvPr id="9" name="icon-bg_61"/>
          <p:cNvSpPr/>
          <p:nvPr/>
        </p:nvSpPr>
        <p:spPr>
          <a:xfrm>
            <a:off x="4937760" y="1463040"/>
            <a:ext cx="685800" cy="685800"/>
          </a:xfrm>
          <a:prstGeom prst="ellipse">
            <a:avLst/>
          </a:prstGeom>
          <a:solidFill>
            <a:srgbClr val="E07A2F"/>
          </a:solidFill>
          <a:ln/>
        </p:spPr>
      </p:sp>
      <p:pic>
        <p:nvPicPr>
          <p:cNvPr id="10" name="icon_62" descr="preencoded.png">    </p:cNvPr>
          <p:cNvPicPr>
            <a:picLocks noChangeAspect="1"/>
          </p:cNvPicPr>
          <p:nvPr/>
        </p:nvPicPr>
        <p:blipFill>
          <a:blip r:embed="rId2"/>
          <a:stretch>
            <a:fillRect/>
          </a:stretch>
        </p:blipFill>
        <p:spPr>
          <a:xfrm>
            <a:off x="5109210" y="1634490"/>
            <a:ext cx="342900" cy="342900"/>
          </a:xfrm>
          <a:prstGeom prst="rect">
            <a:avLst/>
          </a:prstGeom>
        </p:spPr>
      </p:pic>
      <p:sp>
        <p:nvSpPr>
          <p:cNvPr id="11" name="text_63"/>
          <p:cNvSpPr txBox="1"/>
          <p:nvPr/>
        </p:nvSpPr>
        <p:spPr>
          <a:xfrm>
            <a:off x="5806440" y="1600200"/>
            <a:ext cx="2651760" cy="411480"/>
          </a:xfrm>
          <a:prstGeom prst="rect">
            <a:avLst/>
          </a:prstGeom>
          <a:noFill/>
          <a:ln/>
        </p:spPr>
        <p:txBody>
          <a:bodyPr wrap="square" lIns="0" tIns="0" rIns="0" bIns="0" rtlCol="0" anchor="t"/>
          <a:lstStyle/>
          <a:p>
            <a:pPr indent="0" marL="0">
              <a:buNone/>
            </a:pPr>
            <a:r>
              <a:rPr lang="en-US" sz="2000" b="1" dirty="0">
                <a:solidFill>
                  <a:schemeClr val="tx2"/>
                </a:solidFill>
              </a:rPr>
              <a:t>Admin portal</a:t>
            </a:r>
            <a:endParaRPr lang="en-US" sz="2000" dirty="0"/>
          </a:p>
        </p:txBody>
      </p:sp>
      <p:sp>
        <p:nvSpPr>
          <p:cNvPr id="12" name="text_64"/>
          <p:cNvSpPr txBox="1"/>
          <p:nvPr/>
        </p:nvSpPr>
        <p:spPr>
          <a:xfrm>
            <a:off x="4983480" y="2377440"/>
            <a:ext cx="347472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Course management and prerequisites</a:t>
            </a:r>
            <a:endParaRPr lang="en-US" sz="1500" dirty="0"/>
          </a:p>
          <a:p>
            <a:pPr marL="342900" indent="-342900">
              <a:spcAft>
                <a:spcPts val="800"/>
              </a:spcAft>
              <a:buSzPct val="100000"/>
              <a:buChar char="•"/>
            </a:pPr>
            <a:r>
              <a:rPr lang="en-US" sz="1500" dirty="0">
                <a:solidFill>
                  <a:schemeClr val="tx1"/>
                </a:solidFill>
              </a:rPr>
              <a:t>Semesters and registration windows</a:t>
            </a:r>
            <a:endParaRPr lang="en-US" sz="1500" dirty="0"/>
          </a:p>
          <a:p>
            <a:pPr marL="342900" indent="-342900">
              <a:spcAft>
                <a:spcPts val="800"/>
              </a:spcAft>
              <a:buSzPct val="100000"/>
              <a:buChar char="•"/>
            </a:pPr>
            <a:r>
              <a:rPr lang="en-US" sz="1500" dirty="0">
                <a:solidFill>
                  <a:schemeClr val="tx1"/>
                </a:solidFill>
              </a:rPr>
              <a:t>Class sections, lecturers and rooms</a:t>
            </a:r>
            <a:endParaRPr lang="en-US" sz="1500" dirty="0"/>
          </a:p>
          <a:p>
            <a:pPr marL="342900" indent="-342900">
              <a:spcAft>
                <a:spcPts val="800"/>
              </a:spcAft>
              <a:buSzPct val="100000"/>
              <a:buChar char="•"/>
            </a:pPr>
            <a:r>
              <a:rPr lang="en-US" sz="1500" dirty="0">
                <a:solidFill>
                  <a:schemeClr val="tx1"/>
                </a:solidFill>
              </a:rPr>
              <a:t>Schedules and registration tracking</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Technology stack</a:t>
            </a:r>
            <a:endParaRPr lang="en-US" sz="3000" dirty="0"/>
          </a:p>
        </p:txBody>
      </p:sp>
      <p:sp>
        <p:nvSpPr>
          <p:cNvPr id="3" name="card_65"/>
          <p:cNvSpPr/>
          <p:nvPr/>
        </p:nvSpPr>
        <p:spPr>
          <a:xfrm>
            <a:off x="457200" y="1234440"/>
            <a:ext cx="1920240" cy="3200400"/>
          </a:xfrm>
          <a:prstGeom prst="roundRect">
            <a:avLst>
              <a:gd name="adj" fmla="val 3810"/>
            </a:avLst>
          </a:prstGeom>
          <a:solidFill>
            <a:schemeClr val="bg2"/>
          </a:solidFill>
          <a:ln/>
        </p:spPr>
      </p:sp>
      <p:sp>
        <p:nvSpPr>
          <p:cNvPr id="4" name="icon-bg_66"/>
          <p:cNvSpPr/>
          <p:nvPr/>
        </p:nvSpPr>
        <p:spPr>
          <a:xfrm>
            <a:off x="1005840" y="1508760"/>
            <a:ext cx="822960" cy="822960"/>
          </a:xfrm>
          <a:prstGeom prst="ellipse">
            <a:avLst/>
          </a:prstGeom>
          <a:solidFill>
            <a:srgbClr val="1F4E5F"/>
          </a:solidFill>
          <a:ln/>
        </p:spPr>
      </p:sp>
      <p:pic>
        <p:nvPicPr>
          <p:cNvPr id="5" name="icon_67" descr="preencoded.png">    </p:cNvPr>
          <p:cNvPicPr>
            <a:picLocks noChangeAspect="1"/>
          </p:cNvPicPr>
          <p:nvPr/>
        </p:nvPicPr>
        <p:blipFill>
          <a:blip r:embed="rId1"/>
          <a:stretch>
            <a:fillRect/>
          </a:stretch>
        </p:blipFill>
        <p:spPr>
          <a:xfrm>
            <a:off x="1211580" y="1714500"/>
            <a:ext cx="411480" cy="411480"/>
          </a:xfrm>
          <a:prstGeom prst="rect">
            <a:avLst/>
          </a:prstGeom>
        </p:spPr>
      </p:pic>
      <p:sp>
        <p:nvSpPr>
          <p:cNvPr id="6" name="text_68"/>
          <p:cNvSpPr txBox="1"/>
          <p:nvPr/>
        </p:nvSpPr>
        <p:spPr>
          <a:xfrm>
            <a:off x="594360" y="2468880"/>
            <a:ext cx="1645920" cy="365760"/>
          </a:xfrm>
          <a:prstGeom prst="rect">
            <a:avLst/>
          </a:prstGeom>
          <a:noFill/>
          <a:ln/>
        </p:spPr>
        <p:txBody>
          <a:bodyPr wrap="square" lIns="0" tIns="0" rIns="0" bIns="0" rtlCol="0" anchor="t"/>
          <a:lstStyle/>
          <a:p>
            <a:pPr algn="ctr" indent="0" marL="0">
              <a:buNone/>
            </a:pPr>
            <a:r>
              <a:rPr lang="en-US" sz="1800" b="1" dirty="0">
                <a:solidFill>
                  <a:schemeClr val="tx2"/>
                </a:solidFill>
              </a:rPr>
              <a:t>Frontend</a:t>
            </a:r>
            <a:endParaRPr lang="en-US" sz="1800" dirty="0"/>
          </a:p>
        </p:txBody>
      </p:sp>
      <p:sp>
        <p:nvSpPr>
          <p:cNvPr id="7" name="text_69"/>
          <p:cNvSpPr txBox="1"/>
          <p:nvPr/>
        </p:nvSpPr>
        <p:spPr>
          <a:xfrm>
            <a:off x="640080" y="2926080"/>
            <a:ext cx="1554480" cy="137160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React 19</a:t>
            </a:r>
            <a:endParaRPr lang="en-US" sz="1400" dirty="0"/>
          </a:p>
          <a:p>
            <a:pPr algn="ctr" indent="0" marL="0">
              <a:spcAft>
                <a:spcPts val="400"/>
              </a:spcAft>
              <a:buNone/>
            </a:pPr>
            <a:r>
              <a:rPr lang="en-US" sz="1400" dirty="0">
                <a:solidFill>
                  <a:schemeClr val="tx1"/>
                </a:solidFill>
              </a:rPr>
              <a:t>Vite</a:t>
            </a:r>
            <a:endParaRPr lang="en-US" sz="1400" dirty="0"/>
          </a:p>
          <a:p>
            <a:pPr algn="ctr" indent="0" marL="0">
              <a:spcAft>
                <a:spcPts val="400"/>
              </a:spcAft>
              <a:buNone/>
            </a:pPr>
            <a:r>
              <a:rPr lang="en-US" sz="1400" dirty="0">
                <a:solidFill>
                  <a:schemeClr val="tx1"/>
                </a:solidFill>
              </a:rPr>
              <a:t>React Router</a:t>
            </a:r>
            <a:endParaRPr lang="en-US" sz="1400" dirty="0"/>
          </a:p>
          <a:p>
            <a:pPr algn="ctr" indent="0" marL="0">
              <a:spcAft>
                <a:spcPts val="400"/>
              </a:spcAft>
              <a:buNone/>
            </a:pPr>
            <a:r>
              <a:rPr lang="en-US" sz="1400" dirty="0">
                <a:solidFill>
                  <a:schemeClr val="tx1"/>
                </a:solidFill>
              </a:rPr>
              <a:t>Custom CSS + dark mode</a:t>
            </a:r>
            <a:endParaRPr lang="en-US" sz="1400" dirty="0"/>
          </a:p>
        </p:txBody>
      </p:sp>
      <p:sp>
        <p:nvSpPr>
          <p:cNvPr id="8" name="card_70"/>
          <p:cNvSpPr/>
          <p:nvPr/>
        </p:nvSpPr>
        <p:spPr>
          <a:xfrm>
            <a:off x="2560320" y="1234440"/>
            <a:ext cx="1920240" cy="3200400"/>
          </a:xfrm>
          <a:prstGeom prst="roundRect">
            <a:avLst>
              <a:gd name="adj" fmla="val 3810"/>
            </a:avLst>
          </a:prstGeom>
          <a:solidFill>
            <a:schemeClr val="bg2"/>
          </a:solidFill>
          <a:ln/>
        </p:spPr>
      </p:sp>
      <p:sp>
        <p:nvSpPr>
          <p:cNvPr id="9" name="icon-bg_71"/>
          <p:cNvSpPr/>
          <p:nvPr/>
        </p:nvSpPr>
        <p:spPr>
          <a:xfrm>
            <a:off x="3108960" y="1508760"/>
            <a:ext cx="822960" cy="822960"/>
          </a:xfrm>
          <a:prstGeom prst="ellipse">
            <a:avLst/>
          </a:prstGeom>
          <a:solidFill>
            <a:srgbClr val="1F4E5F"/>
          </a:solidFill>
          <a:ln/>
        </p:spPr>
      </p:sp>
      <p:pic>
        <p:nvPicPr>
          <p:cNvPr id="10" name="icon_72" descr="preencoded.png">    </p:cNvPr>
          <p:cNvPicPr>
            <a:picLocks noChangeAspect="1"/>
          </p:cNvPicPr>
          <p:nvPr/>
        </p:nvPicPr>
        <p:blipFill>
          <a:blip r:embed="rId2"/>
          <a:stretch>
            <a:fillRect/>
          </a:stretch>
        </p:blipFill>
        <p:spPr>
          <a:xfrm>
            <a:off x="3314700" y="1714500"/>
            <a:ext cx="411480" cy="411480"/>
          </a:xfrm>
          <a:prstGeom prst="rect">
            <a:avLst/>
          </a:prstGeom>
        </p:spPr>
      </p:pic>
      <p:sp>
        <p:nvSpPr>
          <p:cNvPr id="11" name="text_73"/>
          <p:cNvSpPr txBox="1"/>
          <p:nvPr/>
        </p:nvSpPr>
        <p:spPr>
          <a:xfrm>
            <a:off x="2697480" y="2468880"/>
            <a:ext cx="1645920" cy="365760"/>
          </a:xfrm>
          <a:prstGeom prst="rect">
            <a:avLst/>
          </a:prstGeom>
          <a:noFill/>
          <a:ln/>
        </p:spPr>
        <p:txBody>
          <a:bodyPr wrap="square" lIns="0" tIns="0" rIns="0" bIns="0" rtlCol="0" anchor="t"/>
          <a:lstStyle/>
          <a:p>
            <a:pPr algn="ctr" indent="0" marL="0">
              <a:buNone/>
            </a:pPr>
            <a:r>
              <a:rPr lang="en-US" sz="1800" b="1" dirty="0">
                <a:solidFill>
                  <a:schemeClr val="tx2"/>
                </a:solidFill>
              </a:rPr>
              <a:t>Backend</a:t>
            </a:r>
            <a:endParaRPr lang="en-US" sz="1800" dirty="0"/>
          </a:p>
        </p:txBody>
      </p:sp>
      <p:sp>
        <p:nvSpPr>
          <p:cNvPr id="12" name="text_74"/>
          <p:cNvSpPr txBox="1"/>
          <p:nvPr/>
        </p:nvSpPr>
        <p:spPr>
          <a:xfrm>
            <a:off x="2743200" y="2926080"/>
            <a:ext cx="1554480" cy="137160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Node.js + Express</a:t>
            </a:r>
            <a:endParaRPr lang="en-US" sz="1400" dirty="0"/>
          </a:p>
          <a:p>
            <a:pPr algn="ctr" indent="0" marL="0">
              <a:spcAft>
                <a:spcPts val="400"/>
              </a:spcAft>
              <a:buNone/>
            </a:pPr>
            <a:r>
              <a:rPr lang="en-US" sz="1400" dirty="0">
                <a:solidFill>
                  <a:schemeClr val="tx1"/>
                </a:solidFill>
              </a:rPr>
              <a:t>Sequelize ORM</a:t>
            </a:r>
            <a:endParaRPr lang="en-US" sz="1400" dirty="0"/>
          </a:p>
          <a:p>
            <a:pPr algn="ctr" indent="0" marL="0">
              <a:spcAft>
                <a:spcPts val="400"/>
              </a:spcAft>
              <a:buNone/>
            </a:pPr>
            <a:r>
              <a:rPr lang="en-US" sz="1400" dirty="0">
                <a:solidFill>
                  <a:schemeClr val="tx1"/>
                </a:solidFill>
              </a:rPr>
              <a:t>express-validator</a:t>
            </a:r>
            <a:endParaRPr lang="en-US" sz="1400" dirty="0"/>
          </a:p>
        </p:txBody>
      </p:sp>
      <p:sp>
        <p:nvSpPr>
          <p:cNvPr id="13" name="card_75"/>
          <p:cNvSpPr/>
          <p:nvPr/>
        </p:nvSpPr>
        <p:spPr>
          <a:xfrm>
            <a:off x="4663440" y="1234440"/>
            <a:ext cx="1920240" cy="3200400"/>
          </a:xfrm>
          <a:prstGeom prst="roundRect">
            <a:avLst>
              <a:gd name="adj" fmla="val 3810"/>
            </a:avLst>
          </a:prstGeom>
          <a:solidFill>
            <a:schemeClr val="bg2"/>
          </a:solidFill>
          <a:ln/>
        </p:spPr>
      </p:sp>
      <p:sp>
        <p:nvSpPr>
          <p:cNvPr id="14" name="icon-bg_76"/>
          <p:cNvSpPr/>
          <p:nvPr/>
        </p:nvSpPr>
        <p:spPr>
          <a:xfrm>
            <a:off x="5212080" y="1508760"/>
            <a:ext cx="822960" cy="822960"/>
          </a:xfrm>
          <a:prstGeom prst="ellipse">
            <a:avLst/>
          </a:prstGeom>
          <a:solidFill>
            <a:srgbClr val="1F4E5F"/>
          </a:solidFill>
          <a:ln/>
        </p:spPr>
      </p:sp>
      <p:pic>
        <p:nvPicPr>
          <p:cNvPr id="15" name="icon_77" descr="preencoded.png">    </p:cNvPr>
          <p:cNvPicPr>
            <a:picLocks noChangeAspect="1"/>
          </p:cNvPicPr>
          <p:nvPr/>
        </p:nvPicPr>
        <p:blipFill>
          <a:blip r:embed="rId3"/>
          <a:stretch>
            <a:fillRect/>
          </a:stretch>
        </p:blipFill>
        <p:spPr>
          <a:xfrm>
            <a:off x="5417820" y="1714500"/>
            <a:ext cx="411480" cy="411480"/>
          </a:xfrm>
          <a:prstGeom prst="rect">
            <a:avLst/>
          </a:prstGeom>
        </p:spPr>
      </p:pic>
      <p:sp>
        <p:nvSpPr>
          <p:cNvPr id="16" name="text_78"/>
          <p:cNvSpPr txBox="1"/>
          <p:nvPr/>
        </p:nvSpPr>
        <p:spPr>
          <a:xfrm>
            <a:off x="4800600" y="2468880"/>
            <a:ext cx="1645920" cy="365760"/>
          </a:xfrm>
          <a:prstGeom prst="rect">
            <a:avLst/>
          </a:prstGeom>
          <a:noFill/>
          <a:ln/>
        </p:spPr>
        <p:txBody>
          <a:bodyPr wrap="square" lIns="0" tIns="0" rIns="0" bIns="0" rtlCol="0" anchor="t"/>
          <a:lstStyle/>
          <a:p>
            <a:pPr algn="ctr" indent="0" marL="0">
              <a:buNone/>
            </a:pPr>
            <a:r>
              <a:rPr lang="en-US" sz="1800" b="1" dirty="0">
                <a:solidFill>
                  <a:schemeClr val="tx2"/>
                </a:solidFill>
              </a:rPr>
              <a:t>Database</a:t>
            </a:r>
            <a:endParaRPr lang="en-US" sz="1800" dirty="0"/>
          </a:p>
        </p:txBody>
      </p:sp>
      <p:sp>
        <p:nvSpPr>
          <p:cNvPr id="17" name="text_79"/>
          <p:cNvSpPr txBox="1"/>
          <p:nvPr/>
        </p:nvSpPr>
        <p:spPr>
          <a:xfrm>
            <a:off x="4846320" y="2926080"/>
            <a:ext cx="1554480" cy="137160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MySQL 8</a:t>
            </a:r>
            <a:endParaRPr lang="en-US" sz="1400" dirty="0"/>
          </a:p>
          <a:p>
            <a:pPr algn="ctr" indent="0" marL="0">
              <a:spcAft>
                <a:spcPts val="400"/>
              </a:spcAft>
              <a:buNone/>
            </a:pPr>
            <a:r>
              <a:rPr lang="en-US" sz="1400" dirty="0">
                <a:solidFill>
                  <a:schemeClr val="tx1"/>
                </a:solidFill>
              </a:rPr>
              <a:t>utf8mb4 for Vietnamese</a:t>
            </a:r>
            <a:endParaRPr lang="en-US" sz="1400" dirty="0"/>
          </a:p>
          <a:p>
            <a:pPr algn="ctr" indent="0" marL="0">
              <a:spcAft>
                <a:spcPts val="400"/>
              </a:spcAft>
              <a:buNone/>
            </a:pPr>
            <a:r>
              <a:rPr lang="en-US" sz="1400" dirty="0">
                <a:solidFill>
                  <a:schemeClr val="tx1"/>
                </a:solidFill>
              </a:rPr>
              <a:t>Indexes + constraints</a:t>
            </a:r>
            <a:endParaRPr lang="en-US" sz="1400" dirty="0"/>
          </a:p>
        </p:txBody>
      </p:sp>
      <p:sp>
        <p:nvSpPr>
          <p:cNvPr id="18" name="card_80"/>
          <p:cNvSpPr/>
          <p:nvPr/>
        </p:nvSpPr>
        <p:spPr>
          <a:xfrm>
            <a:off x="6766560" y="1234440"/>
            <a:ext cx="1920240" cy="3200400"/>
          </a:xfrm>
          <a:prstGeom prst="roundRect">
            <a:avLst>
              <a:gd name="adj" fmla="val 3810"/>
            </a:avLst>
          </a:prstGeom>
          <a:solidFill>
            <a:schemeClr val="bg2"/>
          </a:solidFill>
          <a:ln/>
        </p:spPr>
      </p:sp>
      <p:sp>
        <p:nvSpPr>
          <p:cNvPr id="19" name="icon-bg_81"/>
          <p:cNvSpPr/>
          <p:nvPr/>
        </p:nvSpPr>
        <p:spPr>
          <a:xfrm>
            <a:off x="7315200" y="1508760"/>
            <a:ext cx="822960" cy="822960"/>
          </a:xfrm>
          <a:prstGeom prst="ellipse">
            <a:avLst/>
          </a:prstGeom>
          <a:solidFill>
            <a:srgbClr val="1F4E5F"/>
          </a:solidFill>
          <a:ln/>
        </p:spPr>
      </p:sp>
      <p:pic>
        <p:nvPicPr>
          <p:cNvPr id="20" name="icon_82" descr="preencoded.png">    </p:cNvPr>
          <p:cNvPicPr>
            <a:picLocks noChangeAspect="1"/>
          </p:cNvPicPr>
          <p:nvPr/>
        </p:nvPicPr>
        <p:blipFill>
          <a:blip r:embed="rId4"/>
          <a:stretch>
            <a:fillRect/>
          </a:stretch>
        </p:blipFill>
        <p:spPr>
          <a:xfrm>
            <a:off x="7520940" y="1714500"/>
            <a:ext cx="411480" cy="411480"/>
          </a:xfrm>
          <a:prstGeom prst="rect">
            <a:avLst/>
          </a:prstGeom>
        </p:spPr>
      </p:pic>
      <p:sp>
        <p:nvSpPr>
          <p:cNvPr id="21" name="text_83"/>
          <p:cNvSpPr txBox="1"/>
          <p:nvPr/>
        </p:nvSpPr>
        <p:spPr>
          <a:xfrm>
            <a:off x="6903720" y="2468880"/>
            <a:ext cx="1645920" cy="365760"/>
          </a:xfrm>
          <a:prstGeom prst="rect">
            <a:avLst/>
          </a:prstGeom>
          <a:noFill/>
          <a:ln/>
        </p:spPr>
        <p:txBody>
          <a:bodyPr wrap="square" lIns="0" tIns="0" rIns="0" bIns="0" rtlCol="0" anchor="t"/>
          <a:lstStyle/>
          <a:p>
            <a:pPr algn="ctr" indent="0" marL="0">
              <a:buNone/>
            </a:pPr>
            <a:r>
              <a:rPr lang="en-US" sz="1800" b="1" dirty="0">
                <a:solidFill>
                  <a:schemeClr val="tx2"/>
                </a:solidFill>
              </a:rPr>
              <a:t>DevOps</a:t>
            </a:r>
            <a:endParaRPr lang="en-US" sz="1800" dirty="0"/>
          </a:p>
        </p:txBody>
      </p:sp>
      <p:sp>
        <p:nvSpPr>
          <p:cNvPr id="22" name="text_84"/>
          <p:cNvSpPr txBox="1"/>
          <p:nvPr/>
        </p:nvSpPr>
        <p:spPr>
          <a:xfrm>
            <a:off x="6949440" y="2926080"/>
            <a:ext cx="1554480" cy="137160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Docker Compose</a:t>
            </a:r>
            <a:endParaRPr lang="en-US" sz="1400" dirty="0"/>
          </a:p>
          <a:p>
            <a:pPr algn="ctr" indent="0" marL="0">
              <a:spcAft>
                <a:spcPts val="400"/>
              </a:spcAft>
              <a:buNone/>
            </a:pPr>
            <a:r>
              <a:rPr lang="en-US" sz="1400" dirty="0">
                <a:solidFill>
                  <a:schemeClr val="tx1"/>
                </a:solidFill>
              </a:rPr>
              <a:t>Nginx</a:t>
            </a:r>
            <a:endParaRPr lang="en-US" sz="1400" dirty="0"/>
          </a:p>
          <a:p>
            <a:pPr algn="ctr" indent="0" marL="0">
              <a:spcAft>
                <a:spcPts val="400"/>
              </a:spcAft>
              <a:buNone/>
            </a:pPr>
            <a:r>
              <a:rPr lang="en-US" sz="1400" dirty="0">
                <a:solidFill>
                  <a:schemeClr val="tx1"/>
                </a:solidFill>
              </a:rPr>
              <a:t>npm workspaces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Layered architecture</a:t>
            </a:r>
            <a:endParaRPr lang="en-US" sz="3000" dirty="0"/>
          </a:p>
        </p:txBody>
      </p:sp>
      <p:sp>
        <p:nvSpPr>
          <p:cNvPr id="3" name="box_85"/>
          <p:cNvSpPr/>
          <p:nvPr/>
        </p:nvSpPr>
        <p:spPr>
          <a:xfrm>
            <a:off x="457200" y="2240280"/>
            <a:ext cx="1737360" cy="914400"/>
          </a:xfrm>
          <a:prstGeom prst="roundRect">
            <a:avLst>
              <a:gd name="adj" fmla="val 8000"/>
            </a:avLst>
          </a:prstGeom>
          <a:solidFill>
            <a:srgbClr val="1F4E5F"/>
          </a:solidFill>
          <a:ln/>
          <a:effectLst>
            <a:outerShdw sx="100000" sy="100000" kx="0" ky="0" algn="bl" rotWithShape="0" blurRad="76200" dist="25400" dir="5400000">
              <a:srgbClr val="000000">
                <a:alpha val="12000"/>
              </a:srgbClr>
            </a:outerShdw>
          </a:effectLst>
        </p:spPr>
      </p:sp>
      <p:sp>
        <p:nvSpPr>
          <p:cNvPr id="4" name="text_86"/>
          <p:cNvSpPr txBox="1"/>
          <p:nvPr/>
        </p:nvSpPr>
        <p:spPr>
          <a:xfrm>
            <a:off x="457200" y="2240280"/>
            <a:ext cx="1737360" cy="914400"/>
          </a:xfrm>
          <a:prstGeom prst="rect">
            <a:avLst/>
          </a:prstGeom>
          <a:noFill/>
          <a:ln/>
        </p:spPr>
        <p:txBody>
          <a:bodyPr wrap="square" lIns="0" tIns="0" rIns="0" bIns="0" rtlCol="0" anchor="ctr"/>
          <a:lstStyle/>
          <a:p>
            <a:pPr algn="ctr" indent="0" marL="0">
              <a:buNone/>
            </a:pPr>
            <a:r>
              <a:rPr lang="en-US" sz="1600" b="1" dirty="0">
                <a:solidFill>
                  <a:schemeClr val="bg1"/>
                </a:solidFill>
              </a:rPr>
              <a:t>React Client</a:t>
            </a:r>
            <a:endParaRPr lang="en-US" sz="1600" dirty="0"/>
          </a:p>
        </p:txBody>
      </p:sp>
      <p:sp>
        <p:nvSpPr>
          <p:cNvPr id="5" name="box_87"/>
          <p:cNvSpPr/>
          <p:nvPr/>
        </p:nvSpPr>
        <p:spPr>
          <a:xfrm>
            <a:off x="6949440" y="2240280"/>
            <a:ext cx="1737360" cy="914400"/>
          </a:xfrm>
          <a:prstGeom prst="roundRect">
            <a:avLst>
              <a:gd name="adj" fmla="val 8000"/>
            </a:avLst>
          </a:prstGeom>
          <a:solidFill>
            <a:srgbClr val="1F4E5F"/>
          </a:solidFill>
          <a:ln/>
          <a:effectLst>
            <a:outerShdw sx="100000" sy="100000" kx="0" ky="0" algn="bl" rotWithShape="0" blurRad="76200" dist="25400" dir="5400000">
              <a:srgbClr val="000000">
                <a:alpha val="12000"/>
              </a:srgbClr>
            </a:outerShdw>
          </a:effectLst>
        </p:spPr>
      </p:sp>
      <p:sp>
        <p:nvSpPr>
          <p:cNvPr id="6" name="text_88"/>
          <p:cNvSpPr txBox="1"/>
          <p:nvPr/>
        </p:nvSpPr>
        <p:spPr>
          <a:xfrm>
            <a:off x="6949440" y="2240280"/>
            <a:ext cx="1737360" cy="914400"/>
          </a:xfrm>
          <a:prstGeom prst="rect">
            <a:avLst/>
          </a:prstGeom>
          <a:noFill/>
          <a:ln/>
        </p:spPr>
        <p:txBody>
          <a:bodyPr wrap="square" lIns="0" tIns="0" rIns="0" bIns="0" rtlCol="0" anchor="ctr"/>
          <a:lstStyle/>
          <a:p>
            <a:pPr algn="ctr" indent="0" marL="0">
              <a:buNone/>
            </a:pPr>
            <a:r>
              <a:rPr lang="en-US" sz="1600" b="1" dirty="0">
                <a:solidFill>
                  <a:schemeClr val="bg1"/>
                </a:solidFill>
              </a:rPr>
              <a:t>MySQL 8</a:t>
            </a:r>
            <a:endParaRPr lang="en-US" sz="1600" dirty="0"/>
          </a:p>
        </p:txBody>
      </p:sp>
      <p:sp>
        <p:nvSpPr>
          <p:cNvPr id="7" name="api-frame_89"/>
          <p:cNvSpPr/>
          <p:nvPr/>
        </p:nvSpPr>
        <p:spPr>
          <a:xfrm>
            <a:off x="2926080" y="1143000"/>
            <a:ext cx="3291840" cy="3429000"/>
          </a:xfrm>
          <a:prstGeom prst="roundRect">
            <a:avLst>
              <a:gd name="adj" fmla="val 2778"/>
            </a:avLst>
          </a:prstGeom>
          <a:solidFill>
            <a:srgbClr val="F3F6F7"/>
          </a:solidFill>
          <a:ln w="12700">
            <a:solidFill>
              <a:srgbClr val="C9D6DA"/>
            </a:solidFill>
            <a:prstDash val="dash"/>
          </a:ln>
        </p:spPr>
      </p:sp>
      <p:sp>
        <p:nvSpPr>
          <p:cNvPr id="8" name="text_90"/>
          <p:cNvSpPr txBox="1"/>
          <p:nvPr/>
        </p:nvSpPr>
        <p:spPr>
          <a:xfrm>
            <a:off x="2926080" y="1207008"/>
            <a:ext cx="3291840" cy="320040"/>
          </a:xfrm>
          <a:prstGeom prst="rect">
            <a:avLst/>
          </a:prstGeom>
          <a:noFill/>
          <a:ln/>
        </p:spPr>
        <p:txBody>
          <a:bodyPr wrap="square" lIns="0" tIns="0" rIns="0" bIns="0" rtlCol="0" anchor="t"/>
          <a:lstStyle/>
          <a:p>
            <a:pPr algn="ctr" indent="0" marL="0">
              <a:buNone/>
            </a:pPr>
            <a:r>
              <a:rPr lang="en-US" sz="1400" b="1" dirty="0">
                <a:solidFill>
                  <a:schemeClr val="tx2"/>
                </a:solidFill>
              </a:rPr>
              <a:t>Express API</a:t>
            </a:r>
            <a:endParaRPr lang="en-US" sz="1400" dirty="0"/>
          </a:p>
        </p:txBody>
      </p:sp>
      <p:sp>
        <p:nvSpPr>
          <p:cNvPr id="9" name="layer_91"/>
          <p:cNvSpPr/>
          <p:nvPr/>
        </p:nvSpPr>
        <p:spPr>
          <a:xfrm>
            <a:off x="3108960" y="1600200"/>
            <a:ext cx="2926080" cy="484632"/>
          </a:xfrm>
          <a:prstGeom prst="roundRect">
            <a:avLst>
              <a:gd name="adj" fmla="val 11321"/>
            </a:avLst>
          </a:prstGeom>
          <a:solidFill>
            <a:srgbClr val="FFFFFF"/>
          </a:solidFill>
          <a:ln w="12700">
            <a:solidFill>
              <a:srgbClr val="C9D6DA"/>
            </a:solidFill>
            <a:prstDash val="solid"/>
          </a:ln>
        </p:spPr>
      </p:sp>
      <p:sp>
        <p:nvSpPr>
          <p:cNvPr id="10" name="text_92"/>
          <p:cNvSpPr txBox="1"/>
          <p:nvPr/>
        </p:nvSpPr>
        <p:spPr>
          <a:xfrm>
            <a:off x="3246120" y="1600200"/>
            <a:ext cx="2743200" cy="484632"/>
          </a:xfrm>
          <a:prstGeom prst="rect">
            <a:avLst/>
          </a:prstGeom>
          <a:noFill/>
          <a:ln/>
        </p:spPr>
        <p:txBody>
          <a:bodyPr wrap="square" lIns="0" tIns="0" rIns="0" bIns="0" rtlCol="0" anchor="ctr"/>
          <a:lstStyle/>
          <a:p>
            <a:pPr indent="0" marL="0">
              <a:buNone/>
            </a:pPr>
            <a:r>
              <a:rPr lang="en-US" sz="1400" b="1" dirty="0">
                <a:solidFill>
                  <a:schemeClr val="tx2"/>
                </a:solidFill>
              </a:rPr>
              <a:t>Routes  </a:t>
            </a:r>
            <a:pPr indent="0" marL="0">
              <a:buNone/>
            </a:pPr>
            <a:r>
              <a:rPr lang="en-US" sz="1200" dirty="0">
                <a:solidFill>
                  <a:schemeClr val="tx2"/>
                </a:solidFill>
              </a:rPr>
              <a:t>map URLs to controllers</a:t>
            </a:r>
            <a:endParaRPr lang="en-US" sz="1400" dirty="0"/>
          </a:p>
        </p:txBody>
      </p:sp>
      <p:sp>
        <p:nvSpPr>
          <p:cNvPr id="11" name="layer_93"/>
          <p:cNvSpPr/>
          <p:nvPr/>
        </p:nvSpPr>
        <p:spPr>
          <a:xfrm>
            <a:off x="3108960" y="2176272"/>
            <a:ext cx="2926080" cy="484632"/>
          </a:xfrm>
          <a:prstGeom prst="roundRect">
            <a:avLst>
              <a:gd name="adj" fmla="val 11321"/>
            </a:avLst>
          </a:prstGeom>
          <a:solidFill>
            <a:srgbClr val="FFFFFF"/>
          </a:solidFill>
          <a:ln w="12700">
            <a:solidFill>
              <a:srgbClr val="C9D6DA"/>
            </a:solidFill>
            <a:prstDash val="solid"/>
          </a:ln>
        </p:spPr>
      </p:sp>
      <p:sp>
        <p:nvSpPr>
          <p:cNvPr id="12" name="text_94"/>
          <p:cNvSpPr txBox="1"/>
          <p:nvPr/>
        </p:nvSpPr>
        <p:spPr>
          <a:xfrm>
            <a:off x="3246120" y="2176272"/>
            <a:ext cx="2743200" cy="484632"/>
          </a:xfrm>
          <a:prstGeom prst="rect">
            <a:avLst/>
          </a:prstGeom>
          <a:noFill/>
          <a:ln/>
        </p:spPr>
        <p:txBody>
          <a:bodyPr wrap="square" lIns="0" tIns="0" rIns="0" bIns="0" rtlCol="0" anchor="ctr"/>
          <a:lstStyle/>
          <a:p>
            <a:pPr indent="0" marL="0">
              <a:buNone/>
            </a:pPr>
            <a:r>
              <a:rPr lang="en-US" sz="1400" b="1" dirty="0">
                <a:solidFill>
                  <a:schemeClr val="tx2"/>
                </a:solidFill>
              </a:rPr>
              <a:t>Middleware  </a:t>
            </a:r>
            <a:pPr indent="0" marL="0">
              <a:buNone/>
            </a:pPr>
            <a:r>
              <a:rPr lang="en-US" sz="1200" dirty="0">
                <a:solidFill>
                  <a:schemeClr val="tx2"/>
                </a:solidFill>
              </a:rPr>
              <a:t>JWT · roles · validation</a:t>
            </a:r>
            <a:endParaRPr lang="en-US" sz="1400" dirty="0"/>
          </a:p>
        </p:txBody>
      </p:sp>
      <p:sp>
        <p:nvSpPr>
          <p:cNvPr id="13" name="layer_95"/>
          <p:cNvSpPr/>
          <p:nvPr/>
        </p:nvSpPr>
        <p:spPr>
          <a:xfrm>
            <a:off x="3108960" y="2752344"/>
            <a:ext cx="2926080" cy="484632"/>
          </a:xfrm>
          <a:prstGeom prst="roundRect">
            <a:avLst>
              <a:gd name="adj" fmla="val 11321"/>
            </a:avLst>
          </a:prstGeom>
          <a:solidFill>
            <a:srgbClr val="FFFFFF"/>
          </a:solidFill>
          <a:ln w="12700">
            <a:solidFill>
              <a:srgbClr val="C9D6DA"/>
            </a:solidFill>
            <a:prstDash val="solid"/>
          </a:ln>
        </p:spPr>
      </p:sp>
      <p:sp>
        <p:nvSpPr>
          <p:cNvPr id="14" name="text_96"/>
          <p:cNvSpPr txBox="1"/>
          <p:nvPr/>
        </p:nvSpPr>
        <p:spPr>
          <a:xfrm>
            <a:off x="3246120" y="2752344"/>
            <a:ext cx="2743200" cy="484632"/>
          </a:xfrm>
          <a:prstGeom prst="rect">
            <a:avLst/>
          </a:prstGeom>
          <a:noFill/>
          <a:ln/>
        </p:spPr>
        <p:txBody>
          <a:bodyPr wrap="square" lIns="0" tIns="0" rIns="0" bIns="0" rtlCol="0" anchor="ctr"/>
          <a:lstStyle/>
          <a:p>
            <a:pPr indent="0" marL="0">
              <a:buNone/>
            </a:pPr>
            <a:r>
              <a:rPr lang="en-US" sz="1400" b="1" dirty="0">
                <a:solidFill>
                  <a:schemeClr val="tx2"/>
                </a:solidFill>
              </a:rPr>
              <a:t>Controllers  </a:t>
            </a:r>
            <a:pPr indent="0" marL="0">
              <a:buNone/>
            </a:pPr>
            <a:r>
              <a:rPr lang="en-US" sz="1200" dirty="0">
                <a:solidFill>
                  <a:schemeClr val="tx2"/>
                </a:solidFill>
              </a:rPr>
              <a:t>read request, send response</a:t>
            </a:r>
            <a:endParaRPr lang="en-US" sz="1400" dirty="0"/>
          </a:p>
        </p:txBody>
      </p:sp>
      <p:sp>
        <p:nvSpPr>
          <p:cNvPr id="15" name="layer_97"/>
          <p:cNvSpPr/>
          <p:nvPr/>
        </p:nvSpPr>
        <p:spPr>
          <a:xfrm>
            <a:off x="3108960" y="3328416"/>
            <a:ext cx="2926080" cy="484632"/>
          </a:xfrm>
          <a:prstGeom prst="roundRect">
            <a:avLst>
              <a:gd name="adj" fmla="val 11321"/>
            </a:avLst>
          </a:prstGeom>
          <a:solidFill>
            <a:srgbClr val="E07A2F"/>
          </a:solidFill>
          <a:ln w="12700">
            <a:solidFill>
              <a:srgbClr val="E07A2F"/>
            </a:solidFill>
            <a:prstDash val="solid"/>
          </a:ln>
        </p:spPr>
      </p:sp>
      <p:sp>
        <p:nvSpPr>
          <p:cNvPr id="16" name="text_98"/>
          <p:cNvSpPr txBox="1"/>
          <p:nvPr/>
        </p:nvSpPr>
        <p:spPr>
          <a:xfrm>
            <a:off x="3246120" y="3328416"/>
            <a:ext cx="2743200" cy="484632"/>
          </a:xfrm>
          <a:prstGeom prst="rect">
            <a:avLst/>
          </a:prstGeom>
          <a:noFill/>
          <a:ln/>
        </p:spPr>
        <p:txBody>
          <a:bodyPr wrap="square" lIns="0" tIns="0" rIns="0" bIns="0" rtlCol="0" anchor="ctr"/>
          <a:lstStyle/>
          <a:p>
            <a:pPr indent="0" marL="0">
              <a:buNone/>
            </a:pPr>
            <a:r>
              <a:rPr lang="en-US" sz="1400" b="1" dirty="0">
                <a:solidFill>
                  <a:schemeClr val="bg1"/>
                </a:solidFill>
              </a:rPr>
              <a:t>Services  </a:t>
            </a:r>
            <a:pPr indent="0" marL="0">
              <a:buNone/>
            </a:pPr>
            <a:r>
              <a:rPr lang="en-US" sz="1200" dirty="0">
                <a:solidFill>
                  <a:schemeClr val="bg1"/>
                </a:solidFill>
              </a:rPr>
              <a:t>business rules BR01–BR09</a:t>
            </a:r>
            <a:endParaRPr lang="en-US" sz="1400" dirty="0"/>
          </a:p>
        </p:txBody>
      </p:sp>
      <p:sp>
        <p:nvSpPr>
          <p:cNvPr id="17" name="layer_99"/>
          <p:cNvSpPr/>
          <p:nvPr/>
        </p:nvSpPr>
        <p:spPr>
          <a:xfrm>
            <a:off x="3108960" y="3904488"/>
            <a:ext cx="2926080" cy="484632"/>
          </a:xfrm>
          <a:prstGeom prst="roundRect">
            <a:avLst>
              <a:gd name="adj" fmla="val 11321"/>
            </a:avLst>
          </a:prstGeom>
          <a:solidFill>
            <a:srgbClr val="FFFFFF"/>
          </a:solidFill>
          <a:ln w="12700">
            <a:solidFill>
              <a:srgbClr val="C9D6DA"/>
            </a:solidFill>
            <a:prstDash val="solid"/>
          </a:ln>
        </p:spPr>
      </p:sp>
      <p:sp>
        <p:nvSpPr>
          <p:cNvPr id="18" name="text_100"/>
          <p:cNvSpPr txBox="1"/>
          <p:nvPr/>
        </p:nvSpPr>
        <p:spPr>
          <a:xfrm>
            <a:off x="3246120" y="3904488"/>
            <a:ext cx="2743200" cy="484632"/>
          </a:xfrm>
          <a:prstGeom prst="rect">
            <a:avLst/>
          </a:prstGeom>
          <a:noFill/>
          <a:ln/>
        </p:spPr>
        <p:txBody>
          <a:bodyPr wrap="square" lIns="0" tIns="0" rIns="0" bIns="0" rtlCol="0" anchor="ctr"/>
          <a:lstStyle/>
          <a:p>
            <a:pPr indent="0" marL="0">
              <a:buNone/>
            </a:pPr>
            <a:r>
              <a:rPr lang="en-US" sz="1400" b="1" dirty="0">
                <a:solidFill>
                  <a:schemeClr val="tx2"/>
                </a:solidFill>
              </a:rPr>
              <a:t>Models  </a:t>
            </a:r>
            <a:pPr indent="0" marL="0">
              <a:buNone/>
            </a:pPr>
            <a:r>
              <a:rPr lang="en-US" sz="1200" dirty="0">
                <a:solidFill>
                  <a:schemeClr val="tx2"/>
                </a:solidFill>
              </a:rPr>
              <a:t>Sequelize ↔ MySQL tables</a:t>
            </a:r>
            <a:endParaRPr lang="en-US" sz="1400" dirty="0"/>
          </a:p>
        </p:txBody>
      </p:sp>
      <p:sp>
        <p:nvSpPr>
          <p:cNvPr id="19" name="arrow_101"/>
          <p:cNvSpPr/>
          <p:nvPr/>
        </p:nvSpPr>
        <p:spPr>
          <a:xfrm>
            <a:off x="2240280" y="2697480"/>
            <a:ext cx="640080" cy="0"/>
          </a:xfrm>
          <a:prstGeom prst="line">
            <a:avLst/>
          </a:prstGeom>
          <a:noFill/>
          <a:ln w="25400">
            <a:solidFill>
              <a:srgbClr val="5B6B73"/>
            </a:solidFill>
            <a:prstDash val="solid"/>
            <a:tailEnd type="triangle"/>
          </a:ln>
        </p:spPr>
      </p:sp>
      <p:sp>
        <p:nvSpPr>
          <p:cNvPr id="20" name="arrow_102"/>
          <p:cNvSpPr/>
          <p:nvPr/>
        </p:nvSpPr>
        <p:spPr>
          <a:xfrm>
            <a:off x="6263640" y="2697480"/>
            <a:ext cx="640080" cy="0"/>
          </a:xfrm>
          <a:prstGeom prst="line">
            <a:avLst/>
          </a:prstGeom>
          <a:noFill/>
          <a:ln w="25400">
            <a:solidFill>
              <a:srgbClr val="5B6B73"/>
            </a:solidFill>
            <a:prstDash val="solid"/>
            <a:tailEnd type="triangle"/>
          </a:ln>
        </p:spPr>
      </p:sp>
      <p:sp>
        <p:nvSpPr>
          <p:cNvPr id="21" name="text_103"/>
          <p:cNvSpPr txBox="1"/>
          <p:nvPr/>
        </p:nvSpPr>
        <p:spPr>
          <a:xfrm>
            <a:off x="457200" y="3291840"/>
            <a:ext cx="1737360" cy="274320"/>
          </a:xfrm>
          <a:prstGeom prst="rect">
            <a:avLst/>
          </a:prstGeom>
          <a:noFill/>
          <a:ln/>
        </p:spPr>
        <p:txBody>
          <a:bodyPr wrap="square" lIns="0" tIns="0" rIns="0" bIns="0" rtlCol="0" anchor="t"/>
          <a:lstStyle/>
          <a:p>
            <a:pPr algn="ctr" indent="0" marL="0">
              <a:buNone/>
            </a:pPr>
            <a:r>
              <a:rPr lang="en-US" sz="1200" dirty="0">
                <a:solidFill>
                  <a:schemeClr val="accent4"/>
                </a:solidFill>
              </a:rPr>
              <a:t>JSON + JWT</a:t>
            </a:r>
            <a:endParaRPr lang="en-US" sz="1200" dirty="0"/>
          </a:p>
        </p:txBody>
      </p:sp>
      <p:sp>
        <p:nvSpPr>
          <p:cNvPr id="22" name="text_104"/>
          <p:cNvSpPr txBox="1"/>
          <p:nvPr/>
        </p:nvSpPr>
        <p:spPr>
          <a:xfrm>
            <a:off x="6949440" y="3291840"/>
            <a:ext cx="1737360" cy="274320"/>
          </a:xfrm>
          <a:prstGeom prst="rect">
            <a:avLst/>
          </a:prstGeom>
          <a:noFill/>
          <a:ln/>
        </p:spPr>
        <p:txBody>
          <a:bodyPr wrap="square" lIns="0" tIns="0" rIns="0" bIns="0" rtlCol="0" anchor="t"/>
          <a:lstStyle/>
          <a:p>
            <a:pPr algn="ctr" indent="0" marL="0">
              <a:buNone/>
            </a:pPr>
            <a:r>
              <a:rPr lang="en-US" sz="1200" dirty="0">
                <a:solidFill>
                  <a:schemeClr val="accent4"/>
                </a:solidFill>
              </a:rPr>
              <a:t>SQL</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Database design: 8 tables</a:t>
            </a:r>
            <a:endParaRPr lang="en-US" sz="3000" dirty="0"/>
          </a:p>
        </p:txBody>
      </p:sp>
      <p:sp>
        <p:nvSpPr>
          <p:cNvPr id="3" name="entity_105"/>
          <p:cNvSpPr/>
          <p:nvPr/>
        </p:nvSpPr>
        <p:spPr>
          <a:xfrm>
            <a:off x="457200" y="1280160"/>
            <a:ext cx="1325880" cy="502920"/>
          </a:xfrm>
          <a:prstGeom prst="roundRect">
            <a:avLst>
              <a:gd name="adj" fmla="val 10909"/>
            </a:avLst>
          </a:prstGeom>
          <a:solidFill>
            <a:srgbClr val="1F4E5F"/>
          </a:solidFill>
          <a:ln/>
        </p:spPr>
      </p:sp>
      <p:sp>
        <p:nvSpPr>
          <p:cNvPr id="4" name="text_106"/>
          <p:cNvSpPr txBox="1"/>
          <p:nvPr/>
        </p:nvSpPr>
        <p:spPr>
          <a:xfrm>
            <a:off x="457200" y="1280160"/>
            <a:ext cx="1325880" cy="502920"/>
          </a:xfrm>
          <a:prstGeom prst="rect">
            <a:avLst/>
          </a:prstGeom>
          <a:noFill/>
          <a:ln/>
        </p:spPr>
        <p:txBody>
          <a:bodyPr wrap="square" lIns="0" tIns="0" rIns="0" bIns="0" rtlCol="0" anchor="ctr"/>
          <a:lstStyle/>
          <a:p>
            <a:pPr algn="ctr" indent="0" marL="0">
              <a:buNone/>
            </a:pPr>
            <a:r>
              <a:rPr lang="en-US" sz="1300" b="1" dirty="0">
                <a:solidFill>
                  <a:schemeClr val="bg1"/>
                </a:solidFill>
              </a:rPr>
              <a:t>courses</a:t>
            </a:r>
            <a:endParaRPr lang="en-US" sz="1300" dirty="0"/>
          </a:p>
        </p:txBody>
      </p:sp>
      <p:sp>
        <p:nvSpPr>
          <p:cNvPr id="5" name="entity_107"/>
          <p:cNvSpPr/>
          <p:nvPr/>
        </p:nvSpPr>
        <p:spPr>
          <a:xfrm>
            <a:off x="457200" y="3108960"/>
            <a:ext cx="1325880" cy="502920"/>
          </a:xfrm>
          <a:prstGeom prst="roundRect">
            <a:avLst>
              <a:gd name="adj" fmla="val 10909"/>
            </a:avLst>
          </a:prstGeom>
          <a:solidFill>
            <a:srgbClr val="1F4E5F"/>
          </a:solidFill>
          <a:ln/>
        </p:spPr>
      </p:sp>
      <p:sp>
        <p:nvSpPr>
          <p:cNvPr id="6" name="text_108"/>
          <p:cNvSpPr txBox="1"/>
          <p:nvPr/>
        </p:nvSpPr>
        <p:spPr>
          <a:xfrm>
            <a:off x="457200" y="3108960"/>
            <a:ext cx="1325880" cy="502920"/>
          </a:xfrm>
          <a:prstGeom prst="rect">
            <a:avLst/>
          </a:prstGeom>
          <a:noFill/>
          <a:ln/>
        </p:spPr>
        <p:txBody>
          <a:bodyPr wrap="square" lIns="0" tIns="0" rIns="0" bIns="0" rtlCol="0" anchor="ctr"/>
          <a:lstStyle/>
          <a:p>
            <a:pPr algn="ctr" indent="0" marL="0">
              <a:buNone/>
            </a:pPr>
            <a:r>
              <a:rPr lang="en-US" sz="1300" b="1" dirty="0">
                <a:solidFill>
                  <a:schemeClr val="bg1"/>
                </a:solidFill>
              </a:rPr>
              <a:t>semesters</a:t>
            </a:r>
            <a:endParaRPr lang="en-US" sz="1300" dirty="0"/>
          </a:p>
        </p:txBody>
      </p:sp>
      <p:sp>
        <p:nvSpPr>
          <p:cNvPr id="7" name="entity_109"/>
          <p:cNvSpPr/>
          <p:nvPr/>
        </p:nvSpPr>
        <p:spPr>
          <a:xfrm>
            <a:off x="2377440" y="2194560"/>
            <a:ext cx="1325880" cy="502920"/>
          </a:xfrm>
          <a:prstGeom prst="roundRect">
            <a:avLst>
              <a:gd name="adj" fmla="val 10909"/>
            </a:avLst>
          </a:prstGeom>
          <a:solidFill>
            <a:srgbClr val="E07A2F"/>
          </a:solidFill>
          <a:ln/>
        </p:spPr>
      </p:sp>
      <p:sp>
        <p:nvSpPr>
          <p:cNvPr id="8" name="text_110"/>
          <p:cNvSpPr txBox="1"/>
          <p:nvPr/>
        </p:nvSpPr>
        <p:spPr>
          <a:xfrm>
            <a:off x="2377440" y="2194560"/>
            <a:ext cx="1325880" cy="502920"/>
          </a:xfrm>
          <a:prstGeom prst="rect">
            <a:avLst/>
          </a:prstGeom>
          <a:noFill/>
          <a:ln/>
        </p:spPr>
        <p:txBody>
          <a:bodyPr wrap="square" lIns="0" tIns="0" rIns="0" bIns="0" rtlCol="0" anchor="ctr"/>
          <a:lstStyle/>
          <a:p>
            <a:pPr algn="ctr" indent="0" marL="0">
              <a:buNone/>
            </a:pPr>
            <a:r>
              <a:rPr lang="en-US" sz="1300" b="1" dirty="0">
                <a:solidFill>
                  <a:schemeClr val="bg1"/>
                </a:solidFill>
              </a:rPr>
              <a:t>sections</a:t>
            </a:r>
            <a:endParaRPr lang="en-US" sz="1300" dirty="0"/>
          </a:p>
        </p:txBody>
      </p:sp>
      <p:sp>
        <p:nvSpPr>
          <p:cNvPr id="9" name="entity_111"/>
          <p:cNvSpPr/>
          <p:nvPr/>
        </p:nvSpPr>
        <p:spPr>
          <a:xfrm>
            <a:off x="4206240" y="1280160"/>
            <a:ext cx="1325880" cy="502920"/>
          </a:xfrm>
          <a:prstGeom prst="roundRect">
            <a:avLst>
              <a:gd name="adj" fmla="val 10909"/>
            </a:avLst>
          </a:prstGeom>
          <a:solidFill>
            <a:srgbClr val="1F4E5F"/>
          </a:solidFill>
          <a:ln/>
        </p:spPr>
      </p:sp>
      <p:sp>
        <p:nvSpPr>
          <p:cNvPr id="10" name="text_112"/>
          <p:cNvSpPr txBox="1"/>
          <p:nvPr/>
        </p:nvSpPr>
        <p:spPr>
          <a:xfrm>
            <a:off x="4206240" y="1280160"/>
            <a:ext cx="1325880" cy="502920"/>
          </a:xfrm>
          <a:prstGeom prst="rect">
            <a:avLst/>
          </a:prstGeom>
          <a:noFill/>
          <a:ln/>
        </p:spPr>
        <p:txBody>
          <a:bodyPr wrap="square" lIns="0" tIns="0" rIns="0" bIns="0" rtlCol="0" anchor="ctr"/>
          <a:lstStyle/>
          <a:p>
            <a:pPr algn="ctr" indent="0" marL="0">
              <a:buNone/>
            </a:pPr>
            <a:r>
              <a:rPr lang="en-US" sz="1300" b="1" dirty="0">
                <a:solidFill>
                  <a:schemeClr val="bg1"/>
                </a:solidFill>
              </a:rPr>
              <a:t>schedules</a:t>
            </a:r>
            <a:endParaRPr lang="en-US" sz="1300" dirty="0"/>
          </a:p>
        </p:txBody>
      </p:sp>
      <p:sp>
        <p:nvSpPr>
          <p:cNvPr id="11" name="entity_113"/>
          <p:cNvSpPr/>
          <p:nvPr/>
        </p:nvSpPr>
        <p:spPr>
          <a:xfrm>
            <a:off x="4206240" y="3108960"/>
            <a:ext cx="1325880" cy="502920"/>
          </a:xfrm>
          <a:prstGeom prst="roundRect">
            <a:avLst>
              <a:gd name="adj" fmla="val 10909"/>
            </a:avLst>
          </a:prstGeom>
          <a:solidFill>
            <a:srgbClr val="E07A2F"/>
          </a:solidFill>
          <a:ln/>
        </p:spPr>
      </p:sp>
      <p:sp>
        <p:nvSpPr>
          <p:cNvPr id="12" name="text_114"/>
          <p:cNvSpPr txBox="1"/>
          <p:nvPr/>
        </p:nvSpPr>
        <p:spPr>
          <a:xfrm>
            <a:off x="4206240" y="3108960"/>
            <a:ext cx="1325880" cy="502920"/>
          </a:xfrm>
          <a:prstGeom prst="rect">
            <a:avLst/>
          </a:prstGeom>
          <a:noFill/>
          <a:ln/>
        </p:spPr>
        <p:txBody>
          <a:bodyPr wrap="square" lIns="0" tIns="0" rIns="0" bIns="0" rtlCol="0" anchor="ctr"/>
          <a:lstStyle/>
          <a:p>
            <a:pPr algn="ctr" indent="0" marL="0">
              <a:buNone/>
            </a:pPr>
            <a:r>
              <a:rPr lang="en-US" sz="1300" b="1" dirty="0">
                <a:solidFill>
                  <a:schemeClr val="bg1"/>
                </a:solidFill>
              </a:rPr>
              <a:t>enrollments</a:t>
            </a:r>
            <a:endParaRPr lang="en-US" sz="1300" dirty="0"/>
          </a:p>
        </p:txBody>
      </p:sp>
      <p:sp>
        <p:nvSpPr>
          <p:cNvPr id="13" name="entity_115"/>
          <p:cNvSpPr/>
          <p:nvPr/>
        </p:nvSpPr>
        <p:spPr>
          <a:xfrm>
            <a:off x="4206240" y="3931920"/>
            <a:ext cx="1325880" cy="502920"/>
          </a:xfrm>
          <a:prstGeom prst="roundRect">
            <a:avLst>
              <a:gd name="adj" fmla="val 10909"/>
            </a:avLst>
          </a:prstGeom>
          <a:solidFill>
            <a:srgbClr val="1F4E5F"/>
          </a:solidFill>
          <a:ln/>
        </p:spPr>
      </p:sp>
      <p:sp>
        <p:nvSpPr>
          <p:cNvPr id="14" name="text_116"/>
          <p:cNvSpPr txBox="1"/>
          <p:nvPr/>
        </p:nvSpPr>
        <p:spPr>
          <a:xfrm>
            <a:off x="4206240" y="3931920"/>
            <a:ext cx="1325880" cy="502920"/>
          </a:xfrm>
          <a:prstGeom prst="rect">
            <a:avLst/>
          </a:prstGeom>
          <a:noFill/>
          <a:ln/>
        </p:spPr>
        <p:txBody>
          <a:bodyPr wrap="square" lIns="0" tIns="0" rIns="0" bIns="0" rtlCol="0" anchor="ctr"/>
          <a:lstStyle/>
          <a:p>
            <a:pPr algn="ctr" indent="0" marL="0">
              <a:buNone/>
            </a:pPr>
            <a:r>
              <a:rPr lang="en-US" sz="1300" b="1" dirty="0">
                <a:solidFill>
                  <a:schemeClr val="bg1"/>
                </a:solidFill>
              </a:rPr>
              <a:t>students</a:t>
            </a:r>
            <a:endParaRPr lang="en-US" sz="1300" dirty="0"/>
          </a:p>
        </p:txBody>
      </p:sp>
      <p:sp>
        <p:nvSpPr>
          <p:cNvPr id="15" name="rel_117"/>
          <p:cNvSpPr/>
          <p:nvPr/>
        </p:nvSpPr>
        <p:spPr>
          <a:xfrm>
            <a:off x="1783080" y="1536192"/>
            <a:ext cx="594360" cy="868680"/>
          </a:xfrm>
          <a:prstGeom prst="line">
            <a:avLst/>
          </a:prstGeom>
          <a:noFill/>
          <a:ln w="19050">
            <a:solidFill>
              <a:srgbClr val="5B6B73"/>
            </a:solidFill>
            <a:prstDash val="solid"/>
          </a:ln>
        </p:spPr>
      </p:sp>
      <p:sp>
        <p:nvSpPr>
          <p:cNvPr id="16" name="rel_118"/>
          <p:cNvSpPr/>
          <p:nvPr/>
        </p:nvSpPr>
        <p:spPr>
          <a:xfrm flipV="1">
            <a:off x="1783080" y="2697480"/>
            <a:ext cx="594360" cy="667512"/>
          </a:xfrm>
          <a:prstGeom prst="line">
            <a:avLst/>
          </a:prstGeom>
          <a:noFill/>
          <a:ln w="19050">
            <a:solidFill>
              <a:srgbClr val="5B6B73"/>
            </a:solidFill>
            <a:prstDash val="solid"/>
          </a:ln>
        </p:spPr>
      </p:sp>
      <p:sp>
        <p:nvSpPr>
          <p:cNvPr id="17" name="rel_119"/>
          <p:cNvSpPr/>
          <p:nvPr/>
        </p:nvSpPr>
        <p:spPr>
          <a:xfrm flipV="1">
            <a:off x="3703320" y="1536192"/>
            <a:ext cx="502920" cy="868680"/>
          </a:xfrm>
          <a:prstGeom prst="line">
            <a:avLst/>
          </a:prstGeom>
          <a:noFill/>
          <a:ln w="19050">
            <a:solidFill>
              <a:srgbClr val="5B6B73"/>
            </a:solidFill>
            <a:prstDash val="solid"/>
          </a:ln>
        </p:spPr>
      </p:sp>
      <p:sp>
        <p:nvSpPr>
          <p:cNvPr id="18" name="rel_120"/>
          <p:cNvSpPr/>
          <p:nvPr/>
        </p:nvSpPr>
        <p:spPr>
          <a:xfrm>
            <a:off x="3703320" y="2450592"/>
            <a:ext cx="502920" cy="914400"/>
          </a:xfrm>
          <a:prstGeom prst="line">
            <a:avLst/>
          </a:prstGeom>
          <a:noFill/>
          <a:ln w="19050">
            <a:solidFill>
              <a:srgbClr val="5B6B73"/>
            </a:solidFill>
            <a:prstDash val="solid"/>
          </a:ln>
        </p:spPr>
      </p:sp>
      <p:sp>
        <p:nvSpPr>
          <p:cNvPr id="19" name="rel_121"/>
          <p:cNvSpPr/>
          <p:nvPr/>
        </p:nvSpPr>
        <p:spPr>
          <a:xfrm>
            <a:off x="4864608" y="3611880"/>
            <a:ext cx="0" cy="320040"/>
          </a:xfrm>
          <a:prstGeom prst="line">
            <a:avLst/>
          </a:prstGeom>
          <a:noFill/>
          <a:ln w="19050">
            <a:solidFill>
              <a:srgbClr val="5B6B73"/>
            </a:solidFill>
            <a:prstDash val="solid"/>
          </a:ln>
        </p:spPr>
      </p:sp>
      <p:sp>
        <p:nvSpPr>
          <p:cNvPr id="20" name="text_122"/>
          <p:cNvSpPr txBox="1"/>
          <p:nvPr/>
        </p:nvSpPr>
        <p:spPr>
          <a:xfrm>
            <a:off x="457200" y="4023360"/>
            <a:ext cx="3291840" cy="320040"/>
          </a:xfrm>
          <a:prstGeom prst="rect">
            <a:avLst/>
          </a:prstGeom>
          <a:noFill/>
          <a:ln/>
        </p:spPr>
        <p:txBody>
          <a:bodyPr wrap="square" lIns="0" tIns="0" rIns="0" bIns="0" rtlCol="0" anchor="t"/>
          <a:lstStyle/>
          <a:p>
            <a:pPr indent="0" marL="0">
              <a:buNone/>
            </a:pPr>
            <a:r>
              <a:rPr lang="en-US" sz="1200" i="1" dirty="0">
                <a:solidFill>
                  <a:schemeClr val="accent4"/>
                </a:solidFill>
              </a:rPr>
              <a:t>+ admins, results</a:t>
            </a:r>
            <a:endParaRPr lang="en-US" sz="1200" dirty="0"/>
          </a:p>
        </p:txBody>
      </p:sp>
      <p:sp>
        <p:nvSpPr>
          <p:cNvPr id="21" name="card_123"/>
          <p:cNvSpPr/>
          <p:nvPr/>
        </p:nvSpPr>
        <p:spPr>
          <a:xfrm>
            <a:off x="5943600" y="1188720"/>
            <a:ext cx="2743200" cy="3291840"/>
          </a:xfrm>
          <a:prstGeom prst="roundRect">
            <a:avLst>
              <a:gd name="adj" fmla="val 2667"/>
            </a:avLst>
          </a:prstGeom>
          <a:solidFill>
            <a:schemeClr val="bg2"/>
          </a:solidFill>
          <a:ln/>
        </p:spPr>
      </p:sp>
      <p:sp>
        <p:nvSpPr>
          <p:cNvPr id="22" name="text_124"/>
          <p:cNvSpPr txBox="1"/>
          <p:nvPr/>
        </p:nvSpPr>
        <p:spPr>
          <a:xfrm>
            <a:off x="6126480" y="1325880"/>
            <a:ext cx="2423160" cy="365760"/>
          </a:xfrm>
          <a:prstGeom prst="rect">
            <a:avLst/>
          </a:prstGeom>
          <a:noFill/>
          <a:ln/>
        </p:spPr>
        <p:txBody>
          <a:bodyPr wrap="square" lIns="0" tIns="0" rIns="0" bIns="0" rtlCol="0" anchor="t"/>
          <a:lstStyle/>
          <a:p>
            <a:pPr indent="0" marL="0">
              <a:buNone/>
            </a:pPr>
            <a:r>
              <a:rPr lang="en-US" sz="1600" b="1" dirty="0">
                <a:solidFill>
                  <a:schemeClr val="tx2"/>
                </a:solidFill>
              </a:rPr>
              <a:t>Safety nets in the database</a:t>
            </a:r>
            <a:endParaRPr lang="en-US" sz="1600" dirty="0"/>
          </a:p>
        </p:txBody>
      </p:sp>
      <p:sp>
        <p:nvSpPr>
          <p:cNvPr id="23" name="text_125"/>
          <p:cNvSpPr txBox="1"/>
          <p:nvPr/>
        </p:nvSpPr>
        <p:spPr>
          <a:xfrm>
            <a:off x="6126480" y="1828800"/>
            <a:ext cx="2423160" cy="2514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UNIQUE (student, section) stops duplicate sign-ups</a:t>
            </a:r>
            <a:endParaRPr lang="en-US" sz="1400" dirty="0"/>
          </a:p>
          <a:p>
            <a:pPr marL="342900" indent="-342900">
              <a:spcAft>
                <a:spcPts val="800"/>
              </a:spcAft>
              <a:buSzPct val="100000"/>
              <a:buChar char="•"/>
            </a:pPr>
            <a:r>
              <a:rPr lang="en-US" sz="1400" dirty="0">
                <a:solidFill>
                  <a:schemeClr val="tx1"/>
                </a:solidFill>
              </a:rPr>
              <a:t>CHECK current ≤ max students</a:t>
            </a:r>
            <a:endParaRPr lang="en-US" sz="1400" dirty="0"/>
          </a:p>
          <a:p>
            <a:pPr marL="342900" indent="-342900">
              <a:spcAft>
                <a:spcPts val="800"/>
              </a:spcAft>
              <a:buSzPct val="100000"/>
              <a:buChar char="•"/>
            </a:pPr>
            <a:r>
              <a:rPr lang="en-US" sz="1400" dirty="0">
                <a:solidFill>
                  <a:schemeClr val="tx1"/>
                </a:solidFill>
              </a:rPr>
              <a:t>Scores must be 0 – 10</a:t>
            </a:r>
            <a:endParaRPr lang="en-US" sz="1400" dirty="0"/>
          </a:p>
          <a:p>
            <a:pPr marL="342900" indent="-342900">
              <a:spcAft>
                <a:spcPts val="800"/>
              </a:spcAft>
              <a:buSzPct val="100000"/>
              <a:buChar char="•"/>
            </a:pPr>
            <a:r>
              <a:rPr lang="en-US" sz="1400" dirty="0">
                <a:solidFill>
                  <a:schemeClr val="tx1"/>
                </a:solidFill>
              </a:rPr>
              <a:t>Indexes on foreign keys and status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Nine rules behind every registration</a:t>
            </a:r>
            <a:endParaRPr lang="en-US" sz="3000" dirty="0"/>
          </a:p>
        </p:txBody>
      </p:sp>
      <p:sp>
        <p:nvSpPr>
          <p:cNvPr id="3" name="card_126"/>
          <p:cNvSpPr/>
          <p:nvPr/>
        </p:nvSpPr>
        <p:spPr>
          <a:xfrm>
            <a:off x="457200" y="1188720"/>
            <a:ext cx="2651760" cy="914400"/>
          </a:xfrm>
          <a:prstGeom prst="roundRect">
            <a:avLst>
              <a:gd name="adj" fmla="val 8000"/>
            </a:avLst>
          </a:prstGeom>
          <a:solidFill>
            <a:schemeClr val="bg2"/>
          </a:solidFill>
          <a:ln/>
        </p:spPr>
      </p:sp>
      <p:sp>
        <p:nvSpPr>
          <p:cNvPr id="4" name="text_127"/>
          <p:cNvSpPr txBox="1"/>
          <p:nvPr/>
        </p:nvSpPr>
        <p:spPr>
          <a:xfrm>
            <a:off x="640080" y="1298448"/>
            <a:ext cx="2286000" cy="320040"/>
          </a:xfrm>
          <a:prstGeom prst="rect">
            <a:avLst/>
          </a:prstGeom>
          <a:noFill/>
          <a:ln/>
        </p:spPr>
        <p:txBody>
          <a:bodyPr wrap="square" lIns="0" tIns="0" rIns="0" bIns="0" rtlCol="0" anchor="t"/>
          <a:lstStyle/>
          <a:p>
            <a:pPr indent="0" marL="0">
              <a:buNone/>
            </a:pPr>
            <a:r>
              <a:rPr lang="en-US" sz="1400" b="1" dirty="0">
                <a:solidFill>
                  <a:schemeClr val="tx2"/>
                </a:solidFill>
              </a:rPr>
              <a:t>BR01</a:t>
            </a:r>
            <a:endParaRPr lang="en-US" sz="1400" dirty="0"/>
          </a:p>
        </p:txBody>
      </p:sp>
      <p:sp>
        <p:nvSpPr>
          <p:cNvPr id="5" name="text_128"/>
          <p:cNvSpPr txBox="1"/>
          <p:nvPr/>
        </p:nvSpPr>
        <p:spPr>
          <a:xfrm>
            <a:off x="640080" y="1618488"/>
            <a:ext cx="2377440" cy="411480"/>
          </a:xfrm>
          <a:prstGeom prst="rect">
            <a:avLst/>
          </a:prstGeom>
          <a:noFill/>
          <a:ln/>
        </p:spPr>
        <p:txBody>
          <a:bodyPr wrap="square" lIns="0" tIns="0" rIns="0" bIns="0" rtlCol="0" anchor="t"/>
          <a:lstStyle/>
          <a:p>
            <a:pPr indent="0" marL="0">
              <a:buNone/>
            </a:pPr>
            <a:r>
              <a:rPr lang="en-US" sz="1400" dirty="0">
                <a:solidFill>
                  <a:schemeClr val="tx1"/>
                </a:solidFill>
              </a:rPr>
              <a:t>No duplicate registration</a:t>
            </a:r>
            <a:endParaRPr lang="en-US" sz="1400" dirty="0"/>
          </a:p>
        </p:txBody>
      </p:sp>
      <p:sp>
        <p:nvSpPr>
          <p:cNvPr id="6" name="card_129"/>
          <p:cNvSpPr/>
          <p:nvPr/>
        </p:nvSpPr>
        <p:spPr>
          <a:xfrm>
            <a:off x="3246120" y="1188720"/>
            <a:ext cx="2651760" cy="914400"/>
          </a:xfrm>
          <a:prstGeom prst="roundRect">
            <a:avLst>
              <a:gd name="adj" fmla="val 8000"/>
            </a:avLst>
          </a:prstGeom>
          <a:solidFill>
            <a:schemeClr val="accent5"/>
          </a:solidFill>
          <a:ln/>
        </p:spPr>
      </p:sp>
      <p:sp>
        <p:nvSpPr>
          <p:cNvPr id="7" name="text_130"/>
          <p:cNvSpPr txBox="1"/>
          <p:nvPr/>
        </p:nvSpPr>
        <p:spPr>
          <a:xfrm>
            <a:off x="3429000" y="1298448"/>
            <a:ext cx="2286000" cy="320040"/>
          </a:xfrm>
          <a:prstGeom prst="rect">
            <a:avLst/>
          </a:prstGeom>
          <a:noFill/>
          <a:ln/>
        </p:spPr>
        <p:txBody>
          <a:bodyPr wrap="square" lIns="0" tIns="0" rIns="0" bIns="0" rtlCol="0" anchor="t"/>
          <a:lstStyle/>
          <a:p>
            <a:pPr indent="0" marL="0">
              <a:buNone/>
            </a:pPr>
            <a:r>
              <a:rPr lang="en-US" sz="1400" b="1" dirty="0">
                <a:solidFill>
                  <a:schemeClr val="accent2"/>
                </a:solidFill>
              </a:rPr>
              <a:t>BR02</a:t>
            </a:r>
            <a:endParaRPr lang="en-US" sz="1400" dirty="0"/>
          </a:p>
        </p:txBody>
      </p:sp>
      <p:sp>
        <p:nvSpPr>
          <p:cNvPr id="8" name="text_131"/>
          <p:cNvSpPr txBox="1"/>
          <p:nvPr/>
        </p:nvSpPr>
        <p:spPr>
          <a:xfrm>
            <a:off x="3429000" y="1618488"/>
            <a:ext cx="2377440" cy="411480"/>
          </a:xfrm>
          <a:prstGeom prst="rect">
            <a:avLst/>
          </a:prstGeom>
          <a:noFill/>
          <a:ln/>
        </p:spPr>
        <p:txBody>
          <a:bodyPr wrap="square" lIns="0" tIns="0" rIns="0" bIns="0" rtlCol="0" anchor="t"/>
          <a:lstStyle/>
          <a:p>
            <a:pPr indent="0" marL="0">
              <a:buNone/>
            </a:pPr>
            <a:r>
              <a:rPr lang="en-US" sz="1400" dirty="0">
                <a:solidFill>
                  <a:schemeClr val="tx1"/>
                </a:solidFill>
              </a:rPr>
              <a:t>Section must have seats</a:t>
            </a:r>
            <a:endParaRPr lang="en-US" sz="1400" dirty="0"/>
          </a:p>
        </p:txBody>
      </p:sp>
      <p:sp>
        <p:nvSpPr>
          <p:cNvPr id="9" name="card_132"/>
          <p:cNvSpPr/>
          <p:nvPr/>
        </p:nvSpPr>
        <p:spPr>
          <a:xfrm>
            <a:off x="6035040" y="1188720"/>
            <a:ext cx="2651760" cy="914400"/>
          </a:xfrm>
          <a:prstGeom prst="roundRect">
            <a:avLst>
              <a:gd name="adj" fmla="val 8000"/>
            </a:avLst>
          </a:prstGeom>
          <a:solidFill>
            <a:schemeClr val="bg2"/>
          </a:solidFill>
          <a:ln/>
        </p:spPr>
      </p:sp>
      <p:sp>
        <p:nvSpPr>
          <p:cNvPr id="10" name="text_133"/>
          <p:cNvSpPr txBox="1"/>
          <p:nvPr/>
        </p:nvSpPr>
        <p:spPr>
          <a:xfrm>
            <a:off x="6217920" y="1298448"/>
            <a:ext cx="2286000" cy="320040"/>
          </a:xfrm>
          <a:prstGeom prst="rect">
            <a:avLst/>
          </a:prstGeom>
          <a:noFill/>
          <a:ln/>
        </p:spPr>
        <p:txBody>
          <a:bodyPr wrap="square" lIns="0" tIns="0" rIns="0" bIns="0" rtlCol="0" anchor="t"/>
          <a:lstStyle/>
          <a:p>
            <a:pPr indent="0" marL="0">
              <a:buNone/>
            </a:pPr>
            <a:r>
              <a:rPr lang="en-US" sz="1400" b="1" dirty="0">
                <a:solidFill>
                  <a:schemeClr val="tx2"/>
                </a:solidFill>
              </a:rPr>
              <a:t>BR03</a:t>
            </a:r>
            <a:endParaRPr lang="en-US" sz="1400" dirty="0"/>
          </a:p>
        </p:txBody>
      </p:sp>
      <p:sp>
        <p:nvSpPr>
          <p:cNvPr id="11" name="text_134"/>
          <p:cNvSpPr txBox="1"/>
          <p:nvPr/>
        </p:nvSpPr>
        <p:spPr>
          <a:xfrm>
            <a:off x="6217920" y="1618488"/>
            <a:ext cx="2377440" cy="411480"/>
          </a:xfrm>
          <a:prstGeom prst="rect">
            <a:avLst/>
          </a:prstGeom>
          <a:noFill/>
          <a:ln/>
        </p:spPr>
        <p:txBody>
          <a:bodyPr wrap="square" lIns="0" tIns="0" rIns="0" bIns="0" rtlCol="0" anchor="t"/>
          <a:lstStyle/>
          <a:p>
            <a:pPr indent="0" marL="0">
              <a:buNone/>
            </a:pPr>
            <a:r>
              <a:rPr lang="en-US" sz="1400" dirty="0">
                <a:solidFill>
                  <a:schemeClr val="tx1"/>
                </a:solidFill>
              </a:rPr>
              <a:t>Only inside the registration window</a:t>
            </a:r>
            <a:endParaRPr lang="en-US" sz="1400" dirty="0"/>
          </a:p>
        </p:txBody>
      </p:sp>
      <p:sp>
        <p:nvSpPr>
          <p:cNvPr id="12" name="card_135"/>
          <p:cNvSpPr/>
          <p:nvPr/>
        </p:nvSpPr>
        <p:spPr>
          <a:xfrm>
            <a:off x="457200" y="2286000"/>
            <a:ext cx="2651760" cy="914400"/>
          </a:xfrm>
          <a:prstGeom prst="roundRect">
            <a:avLst>
              <a:gd name="adj" fmla="val 8000"/>
            </a:avLst>
          </a:prstGeom>
          <a:solidFill>
            <a:schemeClr val="accent5"/>
          </a:solidFill>
          <a:ln/>
        </p:spPr>
      </p:sp>
      <p:sp>
        <p:nvSpPr>
          <p:cNvPr id="13" name="text_136"/>
          <p:cNvSpPr txBox="1"/>
          <p:nvPr/>
        </p:nvSpPr>
        <p:spPr>
          <a:xfrm>
            <a:off x="640080" y="2395728"/>
            <a:ext cx="2286000" cy="320040"/>
          </a:xfrm>
          <a:prstGeom prst="rect">
            <a:avLst/>
          </a:prstGeom>
          <a:noFill/>
          <a:ln/>
        </p:spPr>
        <p:txBody>
          <a:bodyPr wrap="square" lIns="0" tIns="0" rIns="0" bIns="0" rtlCol="0" anchor="t"/>
          <a:lstStyle/>
          <a:p>
            <a:pPr indent="0" marL="0">
              <a:buNone/>
            </a:pPr>
            <a:r>
              <a:rPr lang="en-US" sz="1400" b="1" dirty="0">
                <a:solidFill>
                  <a:schemeClr val="accent2"/>
                </a:solidFill>
              </a:rPr>
              <a:t>BR04</a:t>
            </a:r>
            <a:endParaRPr lang="en-US" sz="1400" dirty="0"/>
          </a:p>
        </p:txBody>
      </p:sp>
      <p:sp>
        <p:nvSpPr>
          <p:cNvPr id="14" name="text_137"/>
          <p:cNvSpPr txBox="1"/>
          <p:nvPr/>
        </p:nvSpPr>
        <p:spPr>
          <a:xfrm>
            <a:off x="640080" y="2715768"/>
            <a:ext cx="2377440" cy="411480"/>
          </a:xfrm>
          <a:prstGeom prst="rect">
            <a:avLst/>
          </a:prstGeom>
          <a:noFill/>
          <a:ln/>
        </p:spPr>
        <p:txBody>
          <a:bodyPr wrap="square" lIns="0" tIns="0" rIns="0" bIns="0" rtlCol="0" anchor="t"/>
          <a:lstStyle/>
          <a:p>
            <a:pPr indent="0" marL="0">
              <a:buNone/>
            </a:pPr>
            <a:r>
              <a:rPr lang="en-US" sz="1400" dirty="0">
                <a:solidFill>
                  <a:schemeClr val="tx1"/>
                </a:solidFill>
              </a:rPr>
              <a:t>No timetable clashes</a:t>
            </a:r>
            <a:endParaRPr lang="en-US" sz="1400" dirty="0"/>
          </a:p>
        </p:txBody>
      </p:sp>
      <p:sp>
        <p:nvSpPr>
          <p:cNvPr id="15" name="card_138"/>
          <p:cNvSpPr/>
          <p:nvPr/>
        </p:nvSpPr>
        <p:spPr>
          <a:xfrm>
            <a:off x="3246120" y="2286000"/>
            <a:ext cx="2651760" cy="914400"/>
          </a:xfrm>
          <a:prstGeom prst="roundRect">
            <a:avLst>
              <a:gd name="adj" fmla="val 8000"/>
            </a:avLst>
          </a:prstGeom>
          <a:solidFill>
            <a:schemeClr val="bg2"/>
          </a:solidFill>
          <a:ln/>
        </p:spPr>
      </p:sp>
      <p:sp>
        <p:nvSpPr>
          <p:cNvPr id="16" name="text_139"/>
          <p:cNvSpPr txBox="1"/>
          <p:nvPr/>
        </p:nvSpPr>
        <p:spPr>
          <a:xfrm>
            <a:off x="3429000" y="2395728"/>
            <a:ext cx="2286000" cy="320040"/>
          </a:xfrm>
          <a:prstGeom prst="rect">
            <a:avLst/>
          </a:prstGeom>
          <a:noFill/>
          <a:ln/>
        </p:spPr>
        <p:txBody>
          <a:bodyPr wrap="square" lIns="0" tIns="0" rIns="0" bIns="0" rtlCol="0" anchor="t"/>
          <a:lstStyle/>
          <a:p>
            <a:pPr indent="0" marL="0">
              <a:buNone/>
            </a:pPr>
            <a:r>
              <a:rPr lang="en-US" sz="1400" b="1" dirty="0">
                <a:solidFill>
                  <a:schemeClr val="tx2"/>
                </a:solidFill>
              </a:rPr>
              <a:t>BR05</a:t>
            </a:r>
            <a:endParaRPr lang="en-US" sz="1400" dirty="0"/>
          </a:p>
        </p:txBody>
      </p:sp>
      <p:sp>
        <p:nvSpPr>
          <p:cNvPr id="17" name="text_140"/>
          <p:cNvSpPr txBox="1"/>
          <p:nvPr/>
        </p:nvSpPr>
        <p:spPr>
          <a:xfrm>
            <a:off x="3429000" y="2715768"/>
            <a:ext cx="2377440" cy="411480"/>
          </a:xfrm>
          <a:prstGeom prst="rect">
            <a:avLst/>
          </a:prstGeom>
          <a:noFill/>
          <a:ln/>
        </p:spPr>
        <p:txBody>
          <a:bodyPr wrap="square" lIns="0" tIns="0" rIns="0" bIns="0" rtlCol="0" anchor="t"/>
          <a:lstStyle/>
          <a:p>
            <a:pPr indent="0" marL="0">
              <a:buNone/>
            </a:pPr>
            <a:r>
              <a:rPr lang="en-US" sz="1400" dirty="0">
                <a:solidFill>
                  <a:schemeClr val="tx1"/>
                </a:solidFill>
              </a:rPr>
              <a:t>Suspended students are blocked</a:t>
            </a:r>
            <a:endParaRPr lang="en-US" sz="1400" dirty="0"/>
          </a:p>
        </p:txBody>
      </p:sp>
      <p:sp>
        <p:nvSpPr>
          <p:cNvPr id="18" name="card_141"/>
          <p:cNvSpPr/>
          <p:nvPr/>
        </p:nvSpPr>
        <p:spPr>
          <a:xfrm>
            <a:off x="6035040" y="2286000"/>
            <a:ext cx="2651760" cy="914400"/>
          </a:xfrm>
          <a:prstGeom prst="roundRect">
            <a:avLst>
              <a:gd name="adj" fmla="val 8000"/>
            </a:avLst>
          </a:prstGeom>
          <a:solidFill>
            <a:schemeClr val="bg2"/>
          </a:solidFill>
          <a:ln/>
        </p:spPr>
      </p:sp>
      <p:sp>
        <p:nvSpPr>
          <p:cNvPr id="19" name="text_142"/>
          <p:cNvSpPr txBox="1"/>
          <p:nvPr/>
        </p:nvSpPr>
        <p:spPr>
          <a:xfrm>
            <a:off x="6217920" y="2395728"/>
            <a:ext cx="2286000" cy="320040"/>
          </a:xfrm>
          <a:prstGeom prst="rect">
            <a:avLst/>
          </a:prstGeom>
          <a:noFill/>
          <a:ln/>
        </p:spPr>
        <p:txBody>
          <a:bodyPr wrap="square" lIns="0" tIns="0" rIns="0" bIns="0" rtlCol="0" anchor="t"/>
          <a:lstStyle/>
          <a:p>
            <a:pPr indent="0" marL="0">
              <a:buNone/>
            </a:pPr>
            <a:r>
              <a:rPr lang="en-US" sz="1400" b="1" dirty="0">
                <a:solidFill>
                  <a:schemeClr val="tx2"/>
                </a:solidFill>
              </a:rPr>
              <a:t>BR06</a:t>
            </a:r>
            <a:endParaRPr lang="en-US" sz="1400" dirty="0"/>
          </a:p>
        </p:txBody>
      </p:sp>
      <p:sp>
        <p:nvSpPr>
          <p:cNvPr id="20" name="text_143"/>
          <p:cNvSpPr txBox="1"/>
          <p:nvPr/>
        </p:nvSpPr>
        <p:spPr>
          <a:xfrm>
            <a:off x="6217920" y="2715768"/>
            <a:ext cx="2377440" cy="411480"/>
          </a:xfrm>
          <a:prstGeom prst="rect">
            <a:avLst/>
          </a:prstGeom>
          <a:noFill/>
          <a:ln/>
        </p:spPr>
        <p:txBody>
          <a:bodyPr wrap="square" lIns="0" tIns="0" rIns="0" bIns="0" rtlCol="0" anchor="t"/>
          <a:lstStyle/>
          <a:p>
            <a:pPr indent="0" marL="0">
              <a:buNone/>
            </a:pPr>
            <a:r>
              <a:rPr lang="en-US" sz="1400" dirty="0">
                <a:solidFill>
                  <a:schemeClr val="tx1"/>
                </a:solidFill>
              </a:rPr>
              <a:t>Section must be open</a:t>
            </a:r>
            <a:endParaRPr lang="en-US" sz="1400" dirty="0"/>
          </a:p>
        </p:txBody>
      </p:sp>
      <p:sp>
        <p:nvSpPr>
          <p:cNvPr id="21" name="card_144"/>
          <p:cNvSpPr/>
          <p:nvPr/>
        </p:nvSpPr>
        <p:spPr>
          <a:xfrm>
            <a:off x="457200" y="3383280"/>
            <a:ext cx="2651760" cy="914400"/>
          </a:xfrm>
          <a:prstGeom prst="roundRect">
            <a:avLst>
              <a:gd name="adj" fmla="val 8000"/>
            </a:avLst>
          </a:prstGeom>
          <a:solidFill>
            <a:schemeClr val="bg2"/>
          </a:solidFill>
          <a:ln/>
        </p:spPr>
      </p:sp>
      <p:sp>
        <p:nvSpPr>
          <p:cNvPr id="22" name="text_145"/>
          <p:cNvSpPr txBox="1"/>
          <p:nvPr/>
        </p:nvSpPr>
        <p:spPr>
          <a:xfrm>
            <a:off x="640080" y="3493008"/>
            <a:ext cx="2286000" cy="320040"/>
          </a:xfrm>
          <a:prstGeom prst="rect">
            <a:avLst/>
          </a:prstGeom>
          <a:noFill/>
          <a:ln/>
        </p:spPr>
        <p:txBody>
          <a:bodyPr wrap="square" lIns="0" tIns="0" rIns="0" bIns="0" rtlCol="0" anchor="t"/>
          <a:lstStyle/>
          <a:p>
            <a:pPr indent="0" marL="0">
              <a:buNone/>
            </a:pPr>
            <a:r>
              <a:rPr lang="en-US" sz="1400" b="1" dirty="0">
                <a:solidFill>
                  <a:schemeClr val="tx2"/>
                </a:solidFill>
              </a:rPr>
              <a:t>BR07</a:t>
            </a:r>
            <a:endParaRPr lang="en-US" sz="1400" dirty="0"/>
          </a:p>
        </p:txBody>
      </p:sp>
      <p:sp>
        <p:nvSpPr>
          <p:cNvPr id="23" name="text_146"/>
          <p:cNvSpPr txBox="1"/>
          <p:nvPr/>
        </p:nvSpPr>
        <p:spPr>
          <a:xfrm>
            <a:off x="640080" y="3813048"/>
            <a:ext cx="2377440" cy="411480"/>
          </a:xfrm>
          <a:prstGeom prst="rect">
            <a:avLst/>
          </a:prstGeom>
          <a:noFill/>
          <a:ln/>
        </p:spPr>
        <p:txBody>
          <a:bodyPr wrap="square" lIns="0" tIns="0" rIns="0" bIns="0" rtlCol="0" anchor="t"/>
          <a:lstStyle/>
          <a:p>
            <a:pPr indent="0" marL="0">
              <a:buNone/>
            </a:pPr>
            <a:r>
              <a:rPr lang="en-US" sz="1400" dirty="0">
                <a:solidFill>
                  <a:schemeClr val="tx1"/>
                </a:solidFill>
              </a:rPr>
              <a:t>Cancel only inside the window</a:t>
            </a:r>
            <a:endParaRPr lang="en-US" sz="1400" dirty="0"/>
          </a:p>
        </p:txBody>
      </p:sp>
      <p:sp>
        <p:nvSpPr>
          <p:cNvPr id="24" name="card_147"/>
          <p:cNvSpPr/>
          <p:nvPr/>
        </p:nvSpPr>
        <p:spPr>
          <a:xfrm>
            <a:off x="3246120" y="3383280"/>
            <a:ext cx="2651760" cy="914400"/>
          </a:xfrm>
          <a:prstGeom prst="roundRect">
            <a:avLst>
              <a:gd name="adj" fmla="val 8000"/>
            </a:avLst>
          </a:prstGeom>
          <a:solidFill>
            <a:schemeClr val="bg2"/>
          </a:solidFill>
          <a:ln/>
        </p:spPr>
      </p:sp>
      <p:sp>
        <p:nvSpPr>
          <p:cNvPr id="25" name="text_148"/>
          <p:cNvSpPr txBox="1"/>
          <p:nvPr/>
        </p:nvSpPr>
        <p:spPr>
          <a:xfrm>
            <a:off x="3429000" y="3493008"/>
            <a:ext cx="2286000" cy="320040"/>
          </a:xfrm>
          <a:prstGeom prst="rect">
            <a:avLst/>
          </a:prstGeom>
          <a:noFill/>
          <a:ln/>
        </p:spPr>
        <p:txBody>
          <a:bodyPr wrap="square" lIns="0" tIns="0" rIns="0" bIns="0" rtlCol="0" anchor="t"/>
          <a:lstStyle/>
          <a:p>
            <a:pPr indent="0" marL="0">
              <a:buNone/>
            </a:pPr>
            <a:r>
              <a:rPr lang="en-US" sz="1400" b="1" dirty="0">
                <a:solidFill>
                  <a:schemeClr val="tx2"/>
                </a:solidFill>
              </a:rPr>
              <a:t>BR08</a:t>
            </a:r>
            <a:endParaRPr lang="en-US" sz="1400" dirty="0"/>
          </a:p>
        </p:txBody>
      </p:sp>
      <p:sp>
        <p:nvSpPr>
          <p:cNvPr id="26" name="text_149"/>
          <p:cNvSpPr txBox="1"/>
          <p:nvPr/>
        </p:nvSpPr>
        <p:spPr>
          <a:xfrm>
            <a:off x="3429000" y="3813048"/>
            <a:ext cx="2377440" cy="411480"/>
          </a:xfrm>
          <a:prstGeom prst="rect">
            <a:avLst/>
          </a:prstGeom>
          <a:noFill/>
          <a:ln/>
        </p:spPr>
        <p:txBody>
          <a:bodyPr wrap="square" lIns="0" tIns="0" rIns="0" bIns="0" rtlCol="0" anchor="t"/>
          <a:lstStyle/>
          <a:p>
            <a:pPr indent="0" marL="0">
              <a:buNone/>
            </a:pPr>
            <a:r>
              <a:rPr lang="en-US" sz="1400" dirty="0">
                <a:solidFill>
                  <a:schemeClr val="tx1"/>
                </a:solidFill>
              </a:rPr>
              <a:t>Seat counter updates automatically</a:t>
            </a:r>
            <a:endParaRPr lang="en-US" sz="1400" dirty="0"/>
          </a:p>
        </p:txBody>
      </p:sp>
      <p:sp>
        <p:nvSpPr>
          <p:cNvPr id="27" name="card_150"/>
          <p:cNvSpPr/>
          <p:nvPr/>
        </p:nvSpPr>
        <p:spPr>
          <a:xfrm>
            <a:off x="6035040" y="3383280"/>
            <a:ext cx="2651760" cy="914400"/>
          </a:xfrm>
          <a:prstGeom prst="roundRect">
            <a:avLst>
              <a:gd name="adj" fmla="val 8000"/>
            </a:avLst>
          </a:prstGeom>
          <a:solidFill>
            <a:schemeClr val="bg2"/>
          </a:solidFill>
          <a:ln/>
        </p:spPr>
      </p:sp>
      <p:sp>
        <p:nvSpPr>
          <p:cNvPr id="28" name="text_151"/>
          <p:cNvSpPr txBox="1"/>
          <p:nvPr/>
        </p:nvSpPr>
        <p:spPr>
          <a:xfrm>
            <a:off x="6217920" y="3493008"/>
            <a:ext cx="2286000" cy="320040"/>
          </a:xfrm>
          <a:prstGeom prst="rect">
            <a:avLst/>
          </a:prstGeom>
          <a:noFill/>
          <a:ln/>
        </p:spPr>
        <p:txBody>
          <a:bodyPr wrap="square" lIns="0" tIns="0" rIns="0" bIns="0" rtlCol="0" anchor="t"/>
          <a:lstStyle/>
          <a:p>
            <a:pPr indent="0" marL="0">
              <a:buNone/>
            </a:pPr>
            <a:r>
              <a:rPr lang="en-US" sz="1400" b="1" dirty="0">
                <a:solidFill>
                  <a:schemeClr val="tx2"/>
                </a:solidFill>
              </a:rPr>
              <a:t>BR09</a:t>
            </a:r>
            <a:endParaRPr lang="en-US" sz="1400" dirty="0"/>
          </a:p>
        </p:txBody>
      </p:sp>
      <p:sp>
        <p:nvSpPr>
          <p:cNvPr id="29" name="text_152"/>
          <p:cNvSpPr txBox="1"/>
          <p:nvPr/>
        </p:nvSpPr>
        <p:spPr>
          <a:xfrm>
            <a:off x="6217920" y="3813048"/>
            <a:ext cx="2377440" cy="411480"/>
          </a:xfrm>
          <a:prstGeom prst="rect">
            <a:avLst/>
          </a:prstGeom>
          <a:noFill/>
          <a:ln/>
        </p:spPr>
        <p:txBody>
          <a:bodyPr wrap="square" lIns="0" tIns="0" rIns="0" bIns="0" rtlCol="0" anchor="t"/>
          <a:lstStyle/>
          <a:p>
            <a:pPr indent="0" marL="0">
              <a:buNone/>
            </a:pPr>
            <a:r>
              <a:rPr lang="en-US" sz="1400" dirty="0">
                <a:solidFill>
                  <a:schemeClr val="tx1"/>
                </a:solidFill>
              </a:rPr>
              <a:t>Cancellations are kept (soft delete)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Challenge 1: the last seat</a:t>
            </a:r>
            <a:endParaRPr lang="en-US" sz="3000" dirty="0"/>
          </a:p>
        </p:txBody>
      </p:sp>
      <p:sp>
        <p:nvSpPr>
          <p:cNvPr id="3" name="card_153"/>
          <p:cNvSpPr/>
          <p:nvPr/>
        </p:nvSpPr>
        <p:spPr>
          <a:xfrm>
            <a:off x="457200" y="1188720"/>
            <a:ext cx="4023360" cy="3291840"/>
          </a:xfrm>
          <a:prstGeom prst="roundRect">
            <a:avLst>
              <a:gd name="adj" fmla="val 2222"/>
            </a:avLst>
          </a:prstGeom>
          <a:solidFill>
            <a:schemeClr val="bg2"/>
          </a:solidFill>
          <a:ln/>
        </p:spPr>
      </p:sp>
      <p:sp>
        <p:nvSpPr>
          <p:cNvPr id="4" name="text_154"/>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1800" b="1" dirty="0">
                <a:solidFill>
                  <a:schemeClr val="accent2"/>
                </a:solidFill>
              </a:rPr>
              <a:t>Without protection</a:t>
            </a:r>
            <a:endParaRPr lang="en-US" sz="1800" dirty="0"/>
          </a:p>
        </p:txBody>
      </p:sp>
      <p:sp>
        <p:nvSpPr>
          <p:cNvPr id="5" name="step_155"/>
          <p:cNvSpPr/>
          <p:nvPr/>
        </p:nvSpPr>
        <p:spPr>
          <a:xfrm>
            <a:off x="685800" y="1828800"/>
            <a:ext cx="411480" cy="411480"/>
          </a:xfrm>
          <a:prstGeom prst="ellipse">
            <a:avLst/>
          </a:prstGeom>
          <a:solidFill>
            <a:srgbClr val="5B6B73"/>
          </a:solidFill>
          <a:ln/>
        </p:spPr>
      </p:sp>
      <p:sp>
        <p:nvSpPr>
          <p:cNvPr id="6" name="text_156"/>
          <p:cNvSpPr txBox="1"/>
          <p:nvPr/>
        </p:nvSpPr>
        <p:spPr>
          <a:xfrm>
            <a:off x="685800" y="18288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_157"/>
          <p:cNvSpPr txBox="1"/>
          <p:nvPr/>
        </p:nvSpPr>
        <p:spPr>
          <a:xfrm>
            <a:off x="1280160" y="1828800"/>
            <a:ext cx="3017520" cy="411480"/>
          </a:xfrm>
          <a:prstGeom prst="rect">
            <a:avLst/>
          </a:prstGeom>
          <a:noFill/>
          <a:ln/>
        </p:spPr>
        <p:txBody>
          <a:bodyPr wrap="square" lIns="0" tIns="0" rIns="0" bIns="0" rtlCol="0" anchor="ctr"/>
          <a:lstStyle/>
          <a:p>
            <a:pPr indent="0" marL="0">
              <a:buNone/>
            </a:pPr>
            <a:r>
              <a:rPr lang="en-US" sz="1500" dirty="0">
                <a:solidFill>
                  <a:schemeClr val="tx1"/>
                </a:solidFill>
              </a:rPr>
              <a:t>Student A reads: 1 seat left</a:t>
            </a:r>
            <a:endParaRPr lang="en-US" sz="1500" dirty="0"/>
          </a:p>
        </p:txBody>
      </p:sp>
      <p:sp>
        <p:nvSpPr>
          <p:cNvPr id="8" name="step_158"/>
          <p:cNvSpPr/>
          <p:nvPr/>
        </p:nvSpPr>
        <p:spPr>
          <a:xfrm>
            <a:off x="685800" y="2450592"/>
            <a:ext cx="411480" cy="411480"/>
          </a:xfrm>
          <a:prstGeom prst="ellipse">
            <a:avLst/>
          </a:prstGeom>
          <a:solidFill>
            <a:srgbClr val="5B6B73"/>
          </a:solidFill>
          <a:ln/>
        </p:spPr>
      </p:sp>
      <p:sp>
        <p:nvSpPr>
          <p:cNvPr id="9" name="text_159"/>
          <p:cNvSpPr txBox="1"/>
          <p:nvPr/>
        </p:nvSpPr>
        <p:spPr>
          <a:xfrm>
            <a:off x="685800" y="245059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_160"/>
          <p:cNvSpPr txBox="1"/>
          <p:nvPr/>
        </p:nvSpPr>
        <p:spPr>
          <a:xfrm>
            <a:off x="1280160" y="2450592"/>
            <a:ext cx="3017520" cy="411480"/>
          </a:xfrm>
          <a:prstGeom prst="rect">
            <a:avLst/>
          </a:prstGeom>
          <a:noFill/>
          <a:ln/>
        </p:spPr>
        <p:txBody>
          <a:bodyPr wrap="square" lIns="0" tIns="0" rIns="0" bIns="0" rtlCol="0" anchor="ctr"/>
          <a:lstStyle/>
          <a:p>
            <a:pPr indent="0" marL="0">
              <a:buNone/>
            </a:pPr>
            <a:r>
              <a:rPr lang="en-US" sz="1500" dirty="0">
                <a:solidFill>
                  <a:schemeClr val="tx1"/>
                </a:solidFill>
              </a:rPr>
              <a:t>Student B reads: 1 seat left</a:t>
            </a:r>
            <a:endParaRPr lang="en-US" sz="1500" dirty="0"/>
          </a:p>
        </p:txBody>
      </p:sp>
      <p:sp>
        <p:nvSpPr>
          <p:cNvPr id="11" name="step_161"/>
          <p:cNvSpPr/>
          <p:nvPr/>
        </p:nvSpPr>
        <p:spPr>
          <a:xfrm>
            <a:off x="685800" y="3072384"/>
            <a:ext cx="411480" cy="411480"/>
          </a:xfrm>
          <a:prstGeom prst="ellipse">
            <a:avLst/>
          </a:prstGeom>
          <a:solidFill>
            <a:srgbClr val="5B6B73"/>
          </a:solidFill>
          <a:ln/>
        </p:spPr>
      </p:sp>
      <p:sp>
        <p:nvSpPr>
          <p:cNvPr id="12" name="text_162"/>
          <p:cNvSpPr txBox="1"/>
          <p:nvPr/>
        </p:nvSpPr>
        <p:spPr>
          <a:xfrm>
            <a:off x="685800" y="307238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_163"/>
          <p:cNvSpPr txBox="1"/>
          <p:nvPr/>
        </p:nvSpPr>
        <p:spPr>
          <a:xfrm>
            <a:off x="1280160" y="3072384"/>
            <a:ext cx="3017520" cy="411480"/>
          </a:xfrm>
          <a:prstGeom prst="rect">
            <a:avLst/>
          </a:prstGeom>
          <a:noFill/>
          <a:ln/>
        </p:spPr>
        <p:txBody>
          <a:bodyPr wrap="square" lIns="0" tIns="0" rIns="0" bIns="0" rtlCol="0" anchor="ctr"/>
          <a:lstStyle/>
          <a:p>
            <a:pPr indent="0" marL="0">
              <a:buNone/>
            </a:pPr>
            <a:r>
              <a:rPr lang="en-US" sz="1500" dirty="0">
                <a:solidFill>
                  <a:schemeClr val="tx1"/>
                </a:solidFill>
              </a:rPr>
              <a:t>Both are registered</a:t>
            </a:r>
            <a:endParaRPr lang="en-US" sz="1500" dirty="0"/>
          </a:p>
        </p:txBody>
      </p:sp>
      <p:sp>
        <p:nvSpPr>
          <p:cNvPr id="14" name="step_164"/>
          <p:cNvSpPr/>
          <p:nvPr/>
        </p:nvSpPr>
        <p:spPr>
          <a:xfrm>
            <a:off x="685800" y="3694176"/>
            <a:ext cx="411480" cy="411480"/>
          </a:xfrm>
          <a:prstGeom prst="ellipse">
            <a:avLst/>
          </a:prstGeom>
          <a:solidFill>
            <a:srgbClr val="E07A2F"/>
          </a:solidFill>
          <a:ln/>
        </p:spPr>
      </p:sp>
      <p:sp>
        <p:nvSpPr>
          <p:cNvPr id="15" name="text_165"/>
          <p:cNvSpPr txBox="1"/>
          <p:nvPr/>
        </p:nvSpPr>
        <p:spPr>
          <a:xfrm>
            <a:off x="685800" y="369417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_166"/>
          <p:cNvSpPr txBox="1"/>
          <p:nvPr/>
        </p:nvSpPr>
        <p:spPr>
          <a:xfrm>
            <a:off x="1280160" y="3694176"/>
            <a:ext cx="3017520" cy="411480"/>
          </a:xfrm>
          <a:prstGeom prst="rect">
            <a:avLst/>
          </a:prstGeom>
          <a:noFill/>
          <a:ln/>
        </p:spPr>
        <p:txBody>
          <a:bodyPr wrap="square" lIns="0" tIns="0" rIns="0" bIns="0" rtlCol="0" anchor="ctr"/>
          <a:lstStyle/>
          <a:p>
            <a:pPr indent="0" marL="0">
              <a:buNone/>
            </a:pPr>
            <a:r>
              <a:rPr lang="en-US" sz="1500" b="1" dirty="0">
                <a:solidFill>
                  <a:schemeClr val="tx1"/>
                </a:solidFill>
              </a:rPr>
              <a:t>Class is over-full: 41 / 40</a:t>
            </a:r>
            <a:endParaRPr lang="en-US" sz="1500" dirty="0"/>
          </a:p>
        </p:txBody>
      </p:sp>
      <p:sp>
        <p:nvSpPr>
          <p:cNvPr id="17" name="card_167"/>
          <p:cNvSpPr/>
          <p:nvPr/>
        </p:nvSpPr>
        <p:spPr>
          <a:xfrm>
            <a:off x="4663440" y="1188720"/>
            <a:ext cx="4023360" cy="3291840"/>
          </a:xfrm>
          <a:prstGeom prst="roundRect">
            <a:avLst>
              <a:gd name="adj" fmla="val 2222"/>
            </a:avLst>
          </a:prstGeom>
          <a:solidFill>
            <a:schemeClr val="accent5"/>
          </a:solidFill>
          <a:ln/>
        </p:spPr>
      </p:sp>
      <p:sp>
        <p:nvSpPr>
          <p:cNvPr id="18" name="text_168"/>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1800" b="1" dirty="0">
                <a:solidFill>
                  <a:schemeClr val="tx2"/>
                </a:solidFill>
              </a:rPr>
              <a:t>My solution</a:t>
            </a:r>
            <a:endParaRPr lang="en-US" sz="1800" dirty="0"/>
          </a:p>
        </p:txBody>
      </p:sp>
      <p:sp>
        <p:nvSpPr>
          <p:cNvPr id="19" name="text_169"/>
          <p:cNvSpPr txBox="1"/>
          <p:nvPr/>
        </p:nvSpPr>
        <p:spPr>
          <a:xfrm>
            <a:off x="4892040" y="1828800"/>
            <a:ext cx="3611880" cy="777240"/>
          </a:xfrm>
          <a:prstGeom prst="rect">
            <a:avLst/>
          </a:prstGeom>
          <a:noFill/>
          <a:ln/>
        </p:spPr>
        <p:txBody>
          <a:bodyPr wrap="square" lIns="0" tIns="0" rIns="0" bIns="0" rtlCol="0" anchor="t"/>
          <a:lstStyle/>
          <a:p>
            <a:pPr indent="0" marL="0">
              <a:buNone/>
            </a:pPr>
            <a:r>
              <a:rPr lang="en-US" sz="1400" b="1" dirty="0">
                <a:solidFill>
                  <a:schemeClr val="tx2"/>
                </a:solidFill>
              </a:rPr>
              <a:t>Transaction</a:t>
            </a:r>
            <a:endParaRPr lang="en-US" sz="1400" dirty="0"/>
          </a:p>
          <a:p>
            <a:pPr indent="0" marL="0">
              <a:buNone/>
            </a:pPr>
            <a:r>
              <a:rPr lang="en-US" sz="1400" dirty="0">
                <a:solidFill>
                  <a:schemeClr val="tx1"/>
                </a:solidFill>
              </a:rPr>
              <a:t>all checks and the insert succeed together, or nothing changes</a:t>
            </a:r>
            <a:endParaRPr lang="en-US" sz="1400" dirty="0"/>
          </a:p>
        </p:txBody>
      </p:sp>
      <p:sp>
        <p:nvSpPr>
          <p:cNvPr id="20" name="text_170"/>
          <p:cNvSpPr txBox="1"/>
          <p:nvPr/>
        </p:nvSpPr>
        <p:spPr>
          <a:xfrm>
            <a:off x="4892040" y="2697480"/>
            <a:ext cx="3611880" cy="777240"/>
          </a:xfrm>
          <a:prstGeom prst="rect">
            <a:avLst/>
          </a:prstGeom>
          <a:noFill/>
          <a:ln/>
        </p:spPr>
        <p:txBody>
          <a:bodyPr wrap="square" lIns="0" tIns="0" rIns="0" bIns="0" rtlCol="0" anchor="t"/>
          <a:lstStyle/>
          <a:p>
            <a:pPr indent="0" marL="0">
              <a:buNone/>
            </a:pPr>
            <a:r>
              <a:rPr lang="en-US" sz="1400" b="1" dirty="0">
                <a:solidFill>
                  <a:schemeClr val="tx2"/>
                </a:solidFill>
              </a:rPr>
              <a:t>Row lock</a:t>
            </a:r>
            <a:endParaRPr lang="en-US" sz="1400" dirty="0"/>
          </a:p>
          <a:p>
            <a:pPr indent="0" marL="0">
              <a:buNone/>
            </a:pPr>
            <a:r>
              <a:rPr lang="en-US" sz="1400" dirty="0">
                <a:solidFill>
                  <a:schemeClr val="tx1"/>
                </a:solidFill>
              </a:rPr>
              <a:t>SELECT … FOR UPDATE makes Student B wait for Student A</a:t>
            </a:r>
            <a:endParaRPr lang="en-US" sz="1400" dirty="0"/>
          </a:p>
        </p:txBody>
      </p:sp>
      <p:sp>
        <p:nvSpPr>
          <p:cNvPr id="21" name="text_171"/>
          <p:cNvSpPr txBox="1"/>
          <p:nvPr/>
        </p:nvSpPr>
        <p:spPr>
          <a:xfrm>
            <a:off x="4892040" y="3566160"/>
            <a:ext cx="3611880" cy="777240"/>
          </a:xfrm>
          <a:prstGeom prst="rect">
            <a:avLst/>
          </a:prstGeom>
          <a:noFill/>
          <a:ln/>
        </p:spPr>
        <p:txBody>
          <a:bodyPr wrap="square" lIns="0" tIns="0" rIns="0" bIns="0" rtlCol="0" anchor="t"/>
          <a:lstStyle/>
          <a:p>
            <a:pPr indent="0" marL="0">
              <a:buNone/>
            </a:pPr>
            <a:r>
              <a:rPr lang="en-US" sz="1400" b="1" dirty="0">
                <a:solidFill>
                  <a:schemeClr val="tx2"/>
                </a:solidFill>
              </a:rPr>
              <a:t>Atomic counter</a:t>
            </a:r>
            <a:endParaRPr lang="en-US" sz="1400" dirty="0"/>
          </a:p>
          <a:p>
            <a:pPr indent="0" marL="0">
              <a:buNone/>
            </a:pPr>
            <a:r>
              <a:rPr lang="en-US" sz="1400" dirty="0">
                <a:solidFill>
                  <a:schemeClr val="tx1"/>
                </a:solidFill>
              </a:rPr>
              <a:t>seat count is incremented inside the database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Challenge 2: timetable clashes</a:t>
            </a:r>
            <a:endParaRPr lang="en-US" sz="3000" dirty="0"/>
          </a:p>
        </p:txBody>
      </p:sp>
      <p:sp>
        <p:nvSpPr>
          <p:cNvPr id="3" name="text_172"/>
          <p:cNvSpPr txBox="1"/>
          <p:nvPr/>
        </p:nvSpPr>
        <p:spPr>
          <a:xfrm>
            <a:off x="457200" y="1097280"/>
            <a:ext cx="8229600" cy="365760"/>
          </a:xfrm>
          <a:prstGeom prst="rect">
            <a:avLst/>
          </a:prstGeom>
          <a:noFill/>
          <a:ln/>
        </p:spPr>
        <p:txBody>
          <a:bodyPr wrap="square" lIns="0" tIns="0" rIns="0" bIns="0" rtlCol="0" anchor="t"/>
          <a:lstStyle/>
          <a:p>
            <a:pPr indent="0" marL="0">
              <a:buNone/>
            </a:pPr>
            <a:r>
              <a:rPr lang="en-US" sz="1600" dirty="0">
                <a:solidFill>
                  <a:schemeClr val="accent4"/>
                </a:solidFill>
              </a:rPr>
              <a:t>Two classes clash only if all three conditions are true</a:t>
            </a:r>
            <a:endParaRPr lang="en-US" sz="1600" dirty="0"/>
          </a:p>
        </p:txBody>
      </p:sp>
      <p:sp>
        <p:nvSpPr>
          <p:cNvPr id="4" name="card_173"/>
          <p:cNvSpPr/>
          <p:nvPr/>
        </p:nvSpPr>
        <p:spPr>
          <a:xfrm>
            <a:off x="457200" y="1645920"/>
            <a:ext cx="2651760" cy="2011680"/>
          </a:xfrm>
          <a:prstGeom prst="roundRect">
            <a:avLst>
              <a:gd name="adj" fmla="val 3636"/>
            </a:avLst>
          </a:prstGeom>
          <a:solidFill>
            <a:schemeClr val="bg2"/>
          </a:solidFill>
          <a:ln/>
        </p:spPr>
      </p:sp>
      <p:sp>
        <p:nvSpPr>
          <p:cNvPr id="5" name="icon-bg_174"/>
          <p:cNvSpPr/>
          <p:nvPr/>
        </p:nvSpPr>
        <p:spPr>
          <a:xfrm>
            <a:off x="685800" y="1874520"/>
            <a:ext cx="640080" cy="640080"/>
          </a:xfrm>
          <a:prstGeom prst="ellipse">
            <a:avLst/>
          </a:prstGeom>
          <a:solidFill>
            <a:srgbClr val="1F4E5F"/>
          </a:solidFill>
          <a:ln/>
        </p:spPr>
      </p:sp>
      <p:pic>
        <p:nvPicPr>
          <p:cNvPr id="6" name="icon_175" descr="preencoded.png">    </p:cNvPr>
          <p:cNvPicPr>
            <a:picLocks noChangeAspect="1"/>
          </p:cNvPicPr>
          <p:nvPr/>
        </p:nvPicPr>
        <p:blipFill>
          <a:blip r:embed="rId1"/>
          <a:stretch>
            <a:fillRect/>
          </a:stretch>
        </p:blipFill>
        <p:spPr>
          <a:xfrm>
            <a:off x="845820" y="2034540"/>
            <a:ext cx="320040" cy="320040"/>
          </a:xfrm>
          <a:prstGeom prst="rect">
            <a:avLst/>
          </a:prstGeom>
        </p:spPr>
      </p:pic>
      <p:sp>
        <p:nvSpPr>
          <p:cNvPr id="7" name="text_176"/>
          <p:cNvSpPr txBox="1"/>
          <p:nvPr/>
        </p:nvSpPr>
        <p:spPr>
          <a:xfrm>
            <a:off x="68580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Same day</a:t>
            </a:r>
            <a:endParaRPr lang="en-US" sz="1700" dirty="0"/>
          </a:p>
        </p:txBody>
      </p:sp>
      <p:sp>
        <p:nvSpPr>
          <p:cNvPr id="8" name="text_177"/>
          <p:cNvSpPr txBox="1"/>
          <p:nvPr/>
        </p:nvSpPr>
        <p:spPr>
          <a:xfrm>
            <a:off x="68580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Both meet on, for example, Monday</a:t>
            </a:r>
            <a:endParaRPr lang="en-US" sz="1300" dirty="0"/>
          </a:p>
        </p:txBody>
      </p:sp>
      <p:sp>
        <p:nvSpPr>
          <p:cNvPr id="9" name="card_178"/>
          <p:cNvSpPr/>
          <p:nvPr/>
        </p:nvSpPr>
        <p:spPr>
          <a:xfrm>
            <a:off x="3246120" y="1645920"/>
            <a:ext cx="2651760" cy="2011680"/>
          </a:xfrm>
          <a:prstGeom prst="roundRect">
            <a:avLst>
              <a:gd name="adj" fmla="val 3636"/>
            </a:avLst>
          </a:prstGeom>
          <a:solidFill>
            <a:schemeClr val="bg2"/>
          </a:solidFill>
          <a:ln/>
        </p:spPr>
      </p:sp>
      <p:sp>
        <p:nvSpPr>
          <p:cNvPr id="10" name="icon-bg_179"/>
          <p:cNvSpPr/>
          <p:nvPr/>
        </p:nvSpPr>
        <p:spPr>
          <a:xfrm>
            <a:off x="3474720" y="1874520"/>
            <a:ext cx="640080" cy="640080"/>
          </a:xfrm>
          <a:prstGeom prst="ellipse">
            <a:avLst/>
          </a:prstGeom>
          <a:solidFill>
            <a:srgbClr val="1F4E5F"/>
          </a:solidFill>
          <a:ln/>
        </p:spPr>
      </p:sp>
      <p:pic>
        <p:nvPicPr>
          <p:cNvPr id="11" name="icon_180" descr="preencoded.png">    </p:cNvPr>
          <p:cNvPicPr>
            <a:picLocks noChangeAspect="1"/>
          </p:cNvPicPr>
          <p:nvPr/>
        </p:nvPicPr>
        <p:blipFill>
          <a:blip r:embed="rId2"/>
          <a:stretch>
            <a:fillRect/>
          </a:stretch>
        </p:blipFill>
        <p:spPr>
          <a:xfrm>
            <a:off x="3634740" y="2034540"/>
            <a:ext cx="320040" cy="320040"/>
          </a:xfrm>
          <a:prstGeom prst="rect">
            <a:avLst/>
          </a:prstGeom>
        </p:spPr>
      </p:pic>
      <p:sp>
        <p:nvSpPr>
          <p:cNvPr id="12" name="text_181"/>
          <p:cNvSpPr txBox="1"/>
          <p:nvPr/>
        </p:nvSpPr>
        <p:spPr>
          <a:xfrm>
            <a:off x="347472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Periods overlap</a:t>
            </a:r>
            <a:endParaRPr lang="en-US" sz="1700" dirty="0"/>
          </a:p>
        </p:txBody>
      </p:sp>
      <p:sp>
        <p:nvSpPr>
          <p:cNvPr id="13" name="text_182"/>
          <p:cNvSpPr txBox="1"/>
          <p:nvPr/>
        </p:nvSpPr>
        <p:spPr>
          <a:xfrm>
            <a:off x="347472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start A ≤ end B  and  end A ≥ start B</a:t>
            </a:r>
            <a:endParaRPr lang="en-US" sz="1300" dirty="0"/>
          </a:p>
        </p:txBody>
      </p:sp>
      <p:sp>
        <p:nvSpPr>
          <p:cNvPr id="14" name="card_183"/>
          <p:cNvSpPr/>
          <p:nvPr/>
        </p:nvSpPr>
        <p:spPr>
          <a:xfrm>
            <a:off x="6035040" y="1645920"/>
            <a:ext cx="2651760" cy="2011680"/>
          </a:xfrm>
          <a:prstGeom prst="roundRect">
            <a:avLst>
              <a:gd name="adj" fmla="val 3636"/>
            </a:avLst>
          </a:prstGeom>
          <a:solidFill>
            <a:schemeClr val="bg2"/>
          </a:solidFill>
          <a:ln/>
        </p:spPr>
      </p:sp>
      <p:sp>
        <p:nvSpPr>
          <p:cNvPr id="15" name="icon-bg_184"/>
          <p:cNvSpPr/>
          <p:nvPr/>
        </p:nvSpPr>
        <p:spPr>
          <a:xfrm>
            <a:off x="6263640" y="1874520"/>
            <a:ext cx="640080" cy="640080"/>
          </a:xfrm>
          <a:prstGeom prst="ellipse">
            <a:avLst/>
          </a:prstGeom>
          <a:solidFill>
            <a:srgbClr val="1F4E5F"/>
          </a:solidFill>
          <a:ln/>
        </p:spPr>
      </p:sp>
      <p:pic>
        <p:nvPicPr>
          <p:cNvPr id="16" name="icon_185" descr="preencoded.png">    </p:cNvPr>
          <p:cNvPicPr>
            <a:picLocks noChangeAspect="1"/>
          </p:cNvPicPr>
          <p:nvPr/>
        </p:nvPicPr>
        <p:blipFill>
          <a:blip r:embed="rId3"/>
          <a:stretch>
            <a:fillRect/>
          </a:stretch>
        </p:blipFill>
        <p:spPr>
          <a:xfrm>
            <a:off x="6423660" y="2034540"/>
            <a:ext cx="320040" cy="320040"/>
          </a:xfrm>
          <a:prstGeom prst="rect">
            <a:avLst/>
          </a:prstGeom>
        </p:spPr>
      </p:pic>
      <p:sp>
        <p:nvSpPr>
          <p:cNvPr id="17" name="text_186"/>
          <p:cNvSpPr txBox="1"/>
          <p:nvPr/>
        </p:nvSpPr>
        <p:spPr>
          <a:xfrm>
            <a:off x="6263640" y="2651760"/>
            <a:ext cx="2286000" cy="365760"/>
          </a:xfrm>
          <a:prstGeom prst="rect">
            <a:avLst/>
          </a:prstGeom>
          <a:noFill/>
          <a:ln/>
        </p:spPr>
        <p:txBody>
          <a:bodyPr wrap="square" lIns="0" tIns="0" rIns="0" bIns="0" rtlCol="0" anchor="t"/>
          <a:lstStyle/>
          <a:p>
            <a:pPr indent="0" marL="0">
              <a:buNone/>
            </a:pPr>
            <a:r>
              <a:rPr lang="en-US" sz="1700" b="1" dirty="0">
                <a:solidFill>
                  <a:schemeClr val="tx2"/>
                </a:solidFill>
              </a:rPr>
              <a:t>Weeks match</a:t>
            </a:r>
            <a:endParaRPr lang="en-US" sz="1700" dirty="0"/>
          </a:p>
        </p:txBody>
      </p:sp>
      <p:sp>
        <p:nvSpPr>
          <p:cNvPr id="18" name="text_187"/>
          <p:cNvSpPr txBox="1"/>
          <p:nvPr/>
        </p:nvSpPr>
        <p:spPr>
          <a:xfrm>
            <a:off x="6263640" y="3017520"/>
            <a:ext cx="2286000" cy="594360"/>
          </a:xfrm>
          <a:prstGeom prst="rect">
            <a:avLst/>
          </a:prstGeom>
          <a:noFill/>
          <a:ln/>
        </p:spPr>
        <p:txBody>
          <a:bodyPr wrap="square" lIns="0" tIns="0" rIns="0" bIns="0" rtlCol="0" anchor="t"/>
          <a:lstStyle/>
          <a:p>
            <a:pPr indent="0" marL="0">
              <a:buNone/>
            </a:pPr>
            <a:r>
              <a:rPr lang="en-US" sz="1300" dirty="0">
                <a:solidFill>
                  <a:schemeClr val="tx1"/>
                </a:solidFill>
              </a:rPr>
              <a:t>An odd-week class never clashes with an even-week class</a:t>
            </a:r>
            <a:endParaRPr lang="en-US" sz="1300" dirty="0"/>
          </a:p>
        </p:txBody>
      </p:sp>
      <p:sp>
        <p:nvSpPr>
          <p:cNvPr id="19" name="card_188"/>
          <p:cNvSpPr/>
          <p:nvPr/>
        </p:nvSpPr>
        <p:spPr>
          <a:xfrm>
            <a:off x="457200" y="3840480"/>
            <a:ext cx="8229600" cy="640080"/>
          </a:xfrm>
          <a:prstGeom prst="roundRect">
            <a:avLst>
              <a:gd name="adj" fmla="val 11429"/>
            </a:avLst>
          </a:prstGeom>
          <a:solidFill>
            <a:schemeClr val="accent5"/>
          </a:solidFill>
          <a:ln/>
        </p:spPr>
      </p:sp>
      <p:sp>
        <p:nvSpPr>
          <p:cNvPr id="20" name="text_189"/>
          <p:cNvSpPr txBox="1"/>
          <p:nvPr/>
        </p:nvSpPr>
        <p:spPr>
          <a:xfrm>
            <a:off x="685800" y="3840480"/>
            <a:ext cx="7772400" cy="640080"/>
          </a:xfrm>
          <a:prstGeom prst="rect">
            <a:avLst/>
          </a:prstGeom>
          <a:noFill/>
          <a:ln/>
        </p:spPr>
        <p:txBody>
          <a:bodyPr wrap="square" lIns="0" tIns="0" rIns="0" bIns="0" rtlCol="0" anchor="ctr"/>
          <a:lstStyle/>
          <a:p>
            <a:pPr indent="0" marL="0">
              <a:buNone/>
            </a:pPr>
            <a:r>
              <a:rPr lang="en-US" sz="1500" b="1" dirty="0">
                <a:solidFill>
                  <a:schemeClr val="tx2"/>
                </a:solidFill>
              </a:rPr>
              <a:t>Result: </a:t>
            </a:r>
            <a:pPr indent="0" marL="0">
              <a:buNone/>
            </a:pPr>
            <a:r>
              <a:rPr lang="en-US" sz="1500" dirty="0">
                <a:solidFill>
                  <a:schemeClr val="tx1"/>
                </a:solidFill>
              </a:rPr>
              <a:t>HTTP 409 Conflict plus the name of the clashing class, so the student knows exactly what to change.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I built it</a:t>
            </a:r>
            <a:endParaRPr lang="en-US" sz="3000" dirty="0"/>
          </a:p>
        </p:txBody>
      </p:sp>
      <p:sp>
        <p:nvSpPr>
          <p:cNvPr id="3" name="timeline_190"/>
          <p:cNvSpPr/>
          <p:nvPr/>
        </p:nvSpPr>
        <p:spPr>
          <a:xfrm>
            <a:off x="822960" y="1965960"/>
            <a:ext cx="7498080" cy="0"/>
          </a:xfrm>
          <a:prstGeom prst="line">
            <a:avLst/>
          </a:prstGeom>
          <a:noFill/>
          <a:ln w="38100">
            <a:solidFill>
              <a:srgbClr val="C9D6DA"/>
            </a:solidFill>
            <a:prstDash val="solid"/>
          </a:ln>
        </p:spPr>
      </p:sp>
      <p:sp>
        <p:nvSpPr>
          <p:cNvPr id="4" name="dot_191"/>
          <p:cNvSpPr/>
          <p:nvPr/>
        </p:nvSpPr>
        <p:spPr>
          <a:xfrm>
            <a:off x="640080" y="1783080"/>
            <a:ext cx="365760" cy="365760"/>
          </a:xfrm>
          <a:prstGeom prst="ellipse">
            <a:avLst/>
          </a:prstGeom>
          <a:solidFill>
            <a:srgbClr val="E07A2F"/>
          </a:solidFill>
          <a:ln w="38100">
            <a:solidFill>
              <a:srgbClr val="FFFFFF"/>
            </a:solidFill>
            <a:prstDash val="solid"/>
          </a:ln>
        </p:spPr>
      </p:sp>
      <p:sp>
        <p:nvSpPr>
          <p:cNvPr id="5" name="text_192"/>
          <p:cNvSpPr txBox="1"/>
          <p:nvPr/>
        </p:nvSpPr>
        <p:spPr>
          <a:xfrm>
            <a:off x="45720" y="1325880"/>
            <a:ext cx="1554480" cy="320040"/>
          </a:xfrm>
          <a:prstGeom prst="rect">
            <a:avLst/>
          </a:prstGeom>
          <a:noFill/>
          <a:ln/>
        </p:spPr>
        <p:txBody>
          <a:bodyPr wrap="square" lIns="0" tIns="0" rIns="0" bIns="0" rtlCol="0" anchor="t"/>
          <a:lstStyle/>
          <a:p>
            <a:pPr algn="ctr" indent="0" marL="0">
              <a:buNone/>
            </a:pPr>
            <a:r>
              <a:rPr lang="en-US" sz="1200" dirty="0">
                <a:solidFill>
                  <a:schemeClr val="accent4"/>
                </a:solidFill>
              </a:rPr>
              <a:t>Jan 2026</a:t>
            </a:r>
            <a:endParaRPr lang="en-US" sz="1200" dirty="0"/>
          </a:p>
        </p:txBody>
      </p:sp>
      <p:sp>
        <p:nvSpPr>
          <p:cNvPr id="6" name="text_193"/>
          <p:cNvSpPr txBox="1"/>
          <p:nvPr/>
        </p:nvSpPr>
        <p:spPr>
          <a:xfrm>
            <a:off x="45720" y="2331720"/>
            <a:ext cx="1554480" cy="365760"/>
          </a:xfrm>
          <a:prstGeom prst="rect">
            <a:avLst/>
          </a:prstGeom>
          <a:noFill/>
          <a:ln/>
        </p:spPr>
        <p:txBody>
          <a:bodyPr wrap="square" lIns="0" tIns="0" rIns="0" bIns="0" rtlCol="0" anchor="t"/>
          <a:lstStyle/>
          <a:p>
            <a:pPr algn="ctr" indent="0" marL="0">
              <a:buNone/>
            </a:pPr>
            <a:r>
              <a:rPr lang="en-US" sz="1700" b="1" dirty="0">
                <a:solidFill>
                  <a:schemeClr val="tx2"/>
                </a:solidFill>
              </a:rPr>
              <a:t>Analysis</a:t>
            </a:r>
            <a:endParaRPr lang="en-US" sz="1700" dirty="0"/>
          </a:p>
        </p:txBody>
      </p:sp>
      <p:sp>
        <p:nvSpPr>
          <p:cNvPr id="7" name="text_194"/>
          <p:cNvSpPr txBox="1"/>
          <p:nvPr/>
        </p:nvSpPr>
        <p:spPr>
          <a:xfrm>
            <a:off x="45720" y="274320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Studied the real process, wrote the 9 rules</a:t>
            </a:r>
            <a:endParaRPr lang="en-US" sz="1300" dirty="0"/>
          </a:p>
        </p:txBody>
      </p:sp>
      <p:sp>
        <p:nvSpPr>
          <p:cNvPr id="8" name="dot_195"/>
          <p:cNvSpPr/>
          <p:nvPr/>
        </p:nvSpPr>
        <p:spPr>
          <a:xfrm>
            <a:off x="2514600" y="1783080"/>
            <a:ext cx="365760" cy="365760"/>
          </a:xfrm>
          <a:prstGeom prst="ellipse">
            <a:avLst/>
          </a:prstGeom>
          <a:solidFill>
            <a:srgbClr val="1F4E5F"/>
          </a:solidFill>
          <a:ln w="38100">
            <a:solidFill>
              <a:srgbClr val="FFFFFF"/>
            </a:solidFill>
            <a:prstDash val="solid"/>
          </a:ln>
        </p:spPr>
      </p:sp>
      <p:sp>
        <p:nvSpPr>
          <p:cNvPr id="9" name="text_196"/>
          <p:cNvSpPr txBox="1"/>
          <p:nvPr/>
        </p:nvSpPr>
        <p:spPr>
          <a:xfrm>
            <a:off x="1920240" y="1325880"/>
            <a:ext cx="155448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0" name="text_197"/>
          <p:cNvSpPr txBox="1"/>
          <p:nvPr/>
        </p:nvSpPr>
        <p:spPr>
          <a:xfrm>
            <a:off x="1920240" y="2331720"/>
            <a:ext cx="1554480" cy="365760"/>
          </a:xfrm>
          <a:prstGeom prst="rect">
            <a:avLst/>
          </a:prstGeom>
          <a:noFill/>
          <a:ln/>
        </p:spPr>
        <p:txBody>
          <a:bodyPr wrap="square" lIns="0" tIns="0" rIns="0" bIns="0" rtlCol="0" anchor="t"/>
          <a:lstStyle/>
          <a:p>
            <a:pPr algn="ctr" indent="0" marL="0">
              <a:buNone/>
            </a:pPr>
            <a:r>
              <a:rPr lang="en-US" sz="1700" b="1" dirty="0">
                <a:solidFill>
                  <a:schemeClr val="tx2"/>
                </a:solidFill>
              </a:rPr>
              <a:t>Backend</a:t>
            </a:r>
            <a:endParaRPr lang="en-US" sz="1700" dirty="0"/>
          </a:p>
        </p:txBody>
      </p:sp>
      <p:sp>
        <p:nvSpPr>
          <p:cNvPr id="11" name="text_198"/>
          <p:cNvSpPr txBox="1"/>
          <p:nvPr/>
        </p:nvSpPr>
        <p:spPr>
          <a:xfrm>
            <a:off x="1920240" y="274320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Database schema, seed data, REST API</a:t>
            </a:r>
            <a:endParaRPr lang="en-US" sz="1300" dirty="0"/>
          </a:p>
        </p:txBody>
      </p:sp>
      <p:sp>
        <p:nvSpPr>
          <p:cNvPr id="12" name="dot_199"/>
          <p:cNvSpPr/>
          <p:nvPr/>
        </p:nvSpPr>
        <p:spPr>
          <a:xfrm>
            <a:off x="4389120" y="1783080"/>
            <a:ext cx="365760" cy="365760"/>
          </a:xfrm>
          <a:prstGeom prst="ellipse">
            <a:avLst/>
          </a:prstGeom>
          <a:solidFill>
            <a:srgbClr val="1F4E5F"/>
          </a:solidFill>
          <a:ln w="38100">
            <a:solidFill>
              <a:srgbClr val="FFFFFF"/>
            </a:solidFill>
            <a:prstDash val="solid"/>
          </a:ln>
        </p:spPr>
      </p:sp>
      <p:sp>
        <p:nvSpPr>
          <p:cNvPr id="13" name="text_200"/>
          <p:cNvSpPr txBox="1"/>
          <p:nvPr/>
        </p:nvSpPr>
        <p:spPr>
          <a:xfrm>
            <a:off x="3794760" y="1325880"/>
            <a:ext cx="155448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4" name="text_201"/>
          <p:cNvSpPr txBox="1"/>
          <p:nvPr/>
        </p:nvSpPr>
        <p:spPr>
          <a:xfrm>
            <a:off x="3794760" y="2331720"/>
            <a:ext cx="1554480" cy="365760"/>
          </a:xfrm>
          <a:prstGeom prst="rect">
            <a:avLst/>
          </a:prstGeom>
          <a:noFill/>
          <a:ln/>
        </p:spPr>
        <p:txBody>
          <a:bodyPr wrap="square" lIns="0" tIns="0" rIns="0" bIns="0" rtlCol="0" anchor="t"/>
          <a:lstStyle/>
          <a:p>
            <a:pPr algn="ctr" indent="0" marL="0">
              <a:buNone/>
            </a:pPr>
            <a:r>
              <a:rPr lang="en-US" sz="1700" b="1" dirty="0">
                <a:solidFill>
                  <a:schemeClr val="tx2"/>
                </a:solidFill>
              </a:rPr>
              <a:t>Monorepo</a:t>
            </a:r>
            <a:endParaRPr lang="en-US" sz="1700" dirty="0"/>
          </a:p>
        </p:txBody>
      </p:sp>
      <p:sp>
        <p:nvSpPr>
          <p:cNvPr id="15" name="text_202"/>
          <p:cNvSpPr txBox="1"/>
          <p:nvPr/>
        </p:nvSpPr>
        <p:spPr>
          <a:xfrm>
            <a:off x="3794760" y="274320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Client + server workspaces, one dev command</a:t>
            </a:r>
            <a:endParaRPr lang="en-US" sz="1300" dirty="0"/>
          </a:p>
        </p:txBody>
      </p:sp>
      <p:sp>
        <p:nvSpPr>
          <p:cNvPr id="16" name="dot_203"/>
          <p:cNvSpPr/>
          <p:nvPr/>
        </p:nvSpPr>
        <p:spPr>
          <a:xfrm>
            <a:off x="6263640" y="1783080"/>
            <a:ext cx="365760" cy="365760"/>
          </a:xfrm>
          <a:prstGeom prst="ellipse">
            <a:avLst/>
          </a:prstGeom>
          <a:solidFill>
            <a:srgbClr val="1F4E5F"/>
          </a:solidFill>
          <a:ln w="38100">
            <a:solidFill>
              <a:srgbClr val="FFFFFF"/>
            </a:solidFill>
            <a:prstDash val="solid"/>
          </a:ln>
        </p:spPr>
      </p:sp>
      <p:sp>
        <p:nvSpPr>
          <p:cNvPr id="17" name="text_204"/>
          <p:cNvSpPr txBox="1"/>
          <p:nvPr/>
        </p:nvSpPr>
        <p:spPr>
          <a:xfrm>
            <a:off x="5669280" y="1325880"/>
            <a:ext cx="155448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18" name="text_205"/>
          <p:cNvSpPr txBox="1"/>
          <p:nvPr/>
        </p:nvSpPr>
        <p:spPr>
          <a:xfrm>
            <a:off x="5669280" y="2331720"/>
            <a:ext cx="1554480" cy="365760"/>
          </a:xfrm>
          <a:prstGeom prst="rect">
            <a:avLst/>
          </a:prstGeom>
          <a:noFill/>
          <a:ln/>
        </p:spPr>
        <p:txBody>
          <a:bodyPr wrap="square" lIns="0" tIns="0" rIns="0" bIns="0" rtlCol="0" anchor="t"/>
          <a:lstStyle/>
          <a:p>
            <a:pPr algn="ctr" indent="0" marL="0">
              <a:buNone/>
            </a:pPr>
            <a:r>
              <a:rPr lang="en-US" sz="1700" b="1" dirty="0">
                <a:solidFill>
                  <a:schemeClr val="tx2"/>
                </a:solidFill>
              </a:rPr>
              <a:t>Frontend</a:t>
            </a:r>
            <a:endParaRPr lang="en-US" sz="1700" dirty="0"/>
          </a:p>
        </p:txBody>
      </p:sp>
      <p:sp>
        <p:nvSpPr>
          <p:cNvPr id="19" name="text_206"/>
          <p:cNvSpPr txBox="1"/>
          <p:nvPr/>
        </p:nvSpPr>
        <p:spPr>
          <a:xfrm>
            <a:off x="5669280" y="274320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Student and admin sites, dark mode</a:t>
            </a:r>
            <a:endParaRPr lang="en-US" sz="1300" dirty="0"/>
          </a:p>
        </p:txBody>
      </p:sp>
      <p:sp>
        <p:nvSpPr>
          <p:cNvPr id="20" name="dot_207"/>
          <p:cNvSpPr/>
          <p:nvPr/>
        </p:nvSpPr>
        <p:spPr>
          <a:xfrm>
            <a:off x="8138160" y="1783080"/>
            <a:ext cx="365760" cy="365760"/>
          </a:xfrm>
          <a:prstGeom prst="ellipse">
            <a:avLst/>
          </a:prstGeom>
          <a:solidFill>
            <a:srgbClr val="1F4E5F"/>
          </a:solidFill>
          <a:ln w="38100">
            <a:solidFill>
              <a:srgbClr val="FFFFFF"/>
            </a:solidFill>
            <a:prstDash val="solid"/>
          </a:ln>
        </p:spPr>
      </p:sp>
      <p:sp>
        <p:nvSpPr>
          <p:cNvPr id="21" name="text_208"/>
          <p:cNvSpPr txBox="1"/>
          <p:nvPr/>
        </p:nvSpPr>
        <p:spPr>
          <a:xfrm>
            <a:off x="7543800" y="1325880"/>
            <a:ext cx="1554480" cy="320040"/>
          </a:xfrm>
          <a:prstGeom prst="rect">
            <a:avLst/>
          </a:prstGeom>
          <a:noFill/>
          <a:ln/>
        </p:spPr>
        <p:txBody>
          <a:bodyPr wrap="square" lIns="0" tIns="0" rIns="0" bIns="0" rtlCol="0" anchor="t"/>
          <a:lstStyle/>
          <a:p>
            <a:pPr algn="ctr" indent="0" marL="0">
              <a:buNone/>
            </a:pPr>
            <a:r>
              <a:rPr lang="en-US" sz="1200" dirty="0">
                <a:solidFill>
                  <a:schemeClr val="accent4"/>
                </a:solidFill>
              </a:rPr>
              <a:t>Mar 2026</a:t>
            </a:r>
            <a:endParaRPr lang="en-US" sz="1200" dirty="0"/>
          </a:p>
        </p:txBody>
      </p:sp>
      <p:sp>
        <p:nvSpPr>
          <p:cNvPr id="22" name="text_209"/>
          <p:cNvSpPr txBox="1"/>
          <p:nvPr/>
        </p:nvSpPr>
        <p:spPr>
          <a:xfrm>
            <a:off x="7543800" y="2331720"/>
            <a:ext cx="1554480" cy="365760"/>
          </a:xfrm>
          <a:prstGeom prst="rect">
            <a:avLst/>
          </a:prstGeom>
          <a:noFill/>
          <a:ln/>
        </p:spPr>
        <p:txBody>
          <a:bodyPr wrap="square" lIns="0" tIns="0" rIns="0" bIns="0" rtlCol="0" anchor="t"/>
          <a:lstStyle/>
          <a:p>
            <a:pPr algn="ctr" indent="0" marL="0">
              <a:buNone/>
            </a:pPr>
            <a:r>
              <a:rPr lang="en-US" sz="1700" b="1" dirty="0">
                <a:solidFill>
                  <a:schemeClr val="tx2"/>
                </a:solidFill>
              </a:rPr>
              <a:t>Docker</a:t>
            </a:r>
            <a:endParaRPr lang="en-US" sz="1700" dirty="0"/>
          </a:p>
        </p:txBody>
      </p:sp>
      <p:sp>
        <p:nvSpPr>
          <p:cNvPr id="23" name="text_210"/>
          <p:cNvSpPr txBox="1"/>
          <p:nvPr/>
        </p:nvSpPr>
        <p:spPr>
          <a:xfrm>
            <a:off x="7543800" y="2743200"/>
            <a:ext cx="1554480" cy="1097280"/>
          </a:xfrm>
          <a:prstGeom prst="rect">
            <a:avLst/>
          </a:prstGeom>
          <a:noFill/>
          <a:ln/>
        </p:spPr>
        <p:txBody>
          <a:bodyPr wrap="square" lIns="0" tIns="0" rIns="0" bIns="0" rtlCol="0" anchor="t"/>
          <a:lstStyle/>
          <a:p>
            <a:pPr algn="ctr" indent="0" marL="0">
              <a:buNone/>
            </a:pPr>
            <a:r>
              <a:rPr lang="en-US" sz="1300" dirty="0">
                <a:solidFill>
                  <a:schemeClr val="tx1"/>
                </a:solidFill>
              </a:rPr>
              <a:t>MySQL, API, Nginx with health checks + docs</a:t>
            </a:r>
            <a:endParaRPr lang="en-US" sz="1300" dirty="0"/>
          </a:p>
        </p:txBody>
      </p:sp>
      <p:sp>
        <p:nvSpPr>
          <p:cNvPr id="24" name="card_211"/>
          <p:cNvSpPr/>
          <p:nvPr/>
        </p:nvSpPr>
        <p:spPr>
          <a:xfrm>
            <a:off x="457200" y="3931920"/>
            <a:ext cx="8229600" cy="548640"/>
          </a:xfrm>
          <a:prstGeom prst="roundRect">
            <a:avLst>
              <a:gd name="adj" fmla="val 13333"/>
            </a:avLst>
          </a:prstGeom>
          <a:solidFill>
            <a:schemeClr val="accent5"/>
          </a:solidFill>
          <a:ln/>
        </p:spPr>
      </p:sp>
      <p:sp>
        <p:nvSpPr>
          <p:cNvPr id="25" name="text_212"/>
          <p:cNvSpPr txBox="1"/>
          <p:nvPr/>
        </p:nvSpPr>
        <p:spPr>
          <a:xfrm>
            <a:off x="685800" y="3931920"/>
            <a:ext cx="7772400" cy="548640"/>
          </a:xfrm>
          <a:prstGeom prst="rect">
            <a:avLst/>
          </a:prstGeom>
          <a:noFill/>
          <a:ln/>
        </p:spPr>
        <p:txBody>
          <a:bodyPr wrap="square" lIns="0" tIns="0" rIns="0" bIns="0" rtlCol="0" anchor="ctr"/>
          <a:lstStyle/>
          <a:p>
            <a:pPr indent="0" marL="0">
              <a:buNone/>
            </a:pPr>
            <a:r>
              <a:rPr lang="en-US" sz="1400" dirty="0">
                <a:solidFill>
                  <a:schemeClr val="tx2"/>
                </a:solidFill>
              </a:rPr>
              <a:t>Everything tracked with Git, from the first README to the Docker setup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I learned</a:t>
            </a:r>
            <a:endParaRPr lang="en-US" sz="3000" dirty="0"/>
          </a:p>
        </p:txBody>
      </p:sp>
      <p:sp>
        <p:nvSpPr>
          <p:cNvPr id="3" name="icon-bg_213"/>
          <p:cNvSpPr/>
          <p:nvPr/>
        </p:nvSpPr>
        <p:spPr>
          <a:xfrm>
            <a:off x="457200" y="1143000"/>
            <a:ext cx="640080" cy="640080"/>
          </a:xfrm>
          <a:prstGeom prst="ellipse">
            <a:avLst/>
          </a:prstGeom>
          <a:solidFill>
            <a:srgbClr val="1F4E5F"/>
          </a:solidFill>
          <a:ln/>
        </p:spPr>
      </p:sp>
      <p:pic>
        <p:nvPicPr>
          <p:cNvPr id="4" name="icon_214" descr="preencoded.png">    </p:cNvPr>
          <p:cNvPicPr>
            <a:picLocks noChangeAspect="1"/>
          </p:cNvPicPr>
          <p:nvPr/>
        </p:nvPicPr>
        <p:blipFill>
          <a:blip r:embed="rId1"/>
          <a:stretch>
            <a:fillRect/>
          </a:stretch>
        </p:blipFill>
        <p:spPr>
          <a:xfrm>
            <a:off x="617220" y="1303020"/>
            <a:ext cx="320040" cy="320040"/>
          </a:xfrm>
          <a:prstGeom prst="rect">
            <a:avLst/>
          </a:prstGeom>
        </p:spPr>
      </p:pic>
      <p:sp>
        <p:nvSpPr>
          <p:cNvPr id="5" name="text_215"/>
          <p:cNvSpPr txBox="1"/>
          <p:nvPr/>
        </p:nvSpPr>
        <p:spPr>
          <a:xfrm>
            <a:off x="1280160" y="1161288"/>
            <a:ext cx="3657600" cy="320040"/>
          </a:xfrm>
          <a:prstGeom prst="rect">
            <a:avLst/>
          </a:prstGeom>
          <a:noFill/>
          <a:ln/>
        </p:spPr>
        <p:txBody>
          <a:bodyPr wrap="square" lIns="0" tIns="0" rIns="0" bIns="0" rtlCol="0" anchor="t"/>
          <a:lstStyle/>
          <a:p>
            <a:pPr indent="0" marL="0">
              <a:buNone/>
            </a:pPr>
            <a:r>
              <a:rPr lang="en-US" sz="1700" b="1" dirty="0">
                <a:solidFill>
                  <a:schemeClr val="tx2"/>
                </a:solidFill>
              </a:rPr>
              <a:t>Transactions matter</a:t>
            </a:r>
            <a:endParaRPr lang="en-US" sz="1700" dirty="0"/>
          </a:p>
        </p:txBody>
      </p:sp>
      <p:sp>
        <p:nvSpPr>
          <p:cNvPr id="6" name="text_216"/>
          <p:cNvSpPr txBox="1"/>
          <p:nvPr/>
        </p:nvSpPr>
        <p:spPr>
          <a:xfrm>
            <a:off x="1280160" y="1481328"/>
            <a:ext cx="4023360" cy="320040"/>
          </a:xfrm>
          <a:prstGeom prst="rect">
            <a:avLst/>
          </a:prstGeom>
          <a:noFill/>
          <a:ln/>
        </p:spPr>
        <p:txBody>
          <a:bodyPr wrap="square" lIns="0" tIns="0" rIns="0" bIns="0" rtlCol="0" anchor="t"/>
          <a:lstStyle/>
          <a:p>
            <a:pPr indent="0" marL="0">
              <a:buNone/>
            </a:pPr>
            <a:r>
              <a:rPr lang="en-US" sz="1400" dirty="0">
                <a:solidFill>
                  <a:schemeClr val="tx1"/>
                </a:solidFill>
              </a:rPr>
              <a:t>Transactions and locks are what keep data right under load</a:t>
            </a:r>
            <a:endParaRPr lang="en-US" sz="1400" dirty="0"/>
          </a:p>
        </p:txBody>
      </p:sp>
      <p:sp>
        <p:nvSpPr>
          <p:cNvPr id="7" name="icon-bg_217"/>
          <p:cNvSpPr/>
          <p:nvPr/>
        </p:nvSpPr>
        <p:spPr>
          <a:xfrm>
            <a:off x="457200" y="1984248"/>
            <a:ext cx="640080" cy="640080"/>
          </a:xfrm>
          <a:prstGeom prst="ellipse">
            <a:avLst/>
          </a:prstGeom>
          <a:solidFill>
            <a:srgbClr val="1F4E5F"/>
          </a:solidFill>
          <a:ln/>
        </p:spPr>
      </p:sp>
      <p:pic>
        <p:nvPicPr>
          <p:cNvPr id="8" name="icon_218" descr="preencoded.png">    </p:cNvPr>
          <p:cNvPicPr>
            <a:picLocks noChangeAspect="1"/>
          </p:cNvPicPr>
          <p:nvPr/>
        </p:nvPicPr>
        <p:blipFill>
          <a:blip r:embed="rId2"/>
          <a:stretch>
            <a:fillRect/>
          </a:stretch>
        </p:blipFill>
        <p:spPr>
          <a:xfrm>
            <a:off x="617220" y="2144268"/>
            <a:ext cx="320040" cy="320040"/>
          </a:xfrm>
          <a:prstGeom prst="rect">
            <a:avLst/>
          </a:prstGeom>
        </p:spPr>
      </p:pic>
      <p:sp>
        <p:nvSpPr>
          <p:cNvPr id="9" name="text_219"/>
          <p:cNvSpPr txBox="1"/>
          <p:nvPr/>
        </p:nvSpPr>
        <p:spPr>
          <a:xfrm>
            <a:off x="1280160" y="2002536"/>
            <a:ext cx="3657600" cy="320040"/>
          </a:xfrm>
          <a:prstGeom prst="rect">
            <a:avLst/>
          </a:prstGeom>
          <a:noFill/>
          <a:ln/>
        </p:spPr>
        <p:txBody>
          <a:bodyPr wrap="square" lIns="0" tIns="0" rIns="0" bIns="0" rtlCol="0" anchor="t"/>
          <a:lstStyle/>
          <a:p>
            <a:pPr indent="0" marL="0">
              <a:buNone/>
            </a:pPr>
            <a:r>
              <a:rPr lang="en-US" sz="1700" b="1" dirty="0">
                <a:solidFill>
                  <a:schemeClr val="tx2"/>
                </a:solidFill>
              </a:rPr>
              <a:t>Think before coding</a:t>
            </a:r>
            <a:endParaRPr lang="en-US" sz="1700" dirty="0"/>
          </a:p>
        </p:txBody>
      </p:sp>
      <p:sp>
        <p:nvSpPr>
          <p:cNvPr id="10" name="text_220"/>
          <p:cNvSpPr txBox="1"/>
          <p:nvPr/>
        </p:nvSpPr>
        <p:spPr>
          <a:xfrm>
            <a:off x="1280160" y="2322576"/>
            <a:ext cx="4023360" cy="320040"/>
          </a:xfrm>
          <a:prstGeom prst="rect">
            <a:avLst/>
          </a:prstGeom>
          <a:noFill/>
          <a:ln/>
        </p:spPr>
        <p:txBody>
          <a:bodyPr wrap="square" lIns="0" tIns="0" rIns="0" bIns="0" rtlCol="0" anchor="t"/>
          <a:lstStyle/>
          <a:p>
            <a:pPr indent="0" marL="0">
              <a:buNone/>
            </a:pPr>
            <a:r>
              <a:rPr lang="en-US" sz="1400" dirty="0">
                <a:solidFill>
                  <a:schemeClr val="tx1"/>
                </a:solidFill>
              </a:rPr>
              <a:t>Writing the rules first made the code clear and easy to check</a:t>
            </a:r>
            <a:endParaRPr lang="en-US" sz="1400" dirty="0"/>
          </a:p>
        </p:txBody>
      </p:sp>
      <p:sp>
        <p:nvSpPr>
          <p:cNvPr id="11" name="icon-bg_221"/>
          <p:cNvSpPr/>
          <p:nvPr/>
        </p:nvSpPr>
        <p:spPr>
          <a:xfrm>
            <a:off x="457200" y="2825496"/>
            <a:ext cx="640080" cy="640080"/>
          </a:xfrm>
          <a:prstGeom prst="ellipse">
            <a:avLst/>
          </a:prstGeom>
          <a:solidFill>
            <a:srgbClr val="1F4E5F"/>
          </a:solidFill>
          <a:ln/>
        </p:spPr>
      </p:sp>
      <p:pic>
        <p:nvPicPr>
          <p:cNvPr id="12" name="icon_222" descr="preencoded.png">    </p:cNvPr>
          <p:cNvPicPr>
            <a:picLocks noChangeAspect="1"/>
          </p:cNvPicPr>
          <p:nvPr/>
        </p:nvPicPr>
        <p:blipFill>
          <a:blip r:embed="rId3"/>
          <a:stretch>
            <a:fillRect/>
          </a:stretch>
        </p:blipFill>
        <p:spPr>
          <a:xfrm>
            <a:off x="617220" y="2985516"/>
            <a:ext cx="320040" cy="320040"/>
          </a:xfrm>
          <a:prstGeom prst="rect">
            <a:avLst/>
          </a:prstGeom>
        </p:spPr>
      </p:pic>
      <p:sp>
        <p:nvSpPr>
          <p:cNvPr id="13" name="text_223"/>
          <p:cNvSpPr txBox="1"/>
          <p:nvPr/>
        </p:nvSpPr>
        <p:spPr>
          <a:xfrm>
            <a:off x="1280160" y="2843784"/>
            <a:ext cx="3657600" cy="320040"/>
          </a:xfrm>
          <a:prstGeom prst="rect">
            <a:avLst/>
          </a:prstGeom>
          <a:noFill/>
          <a:ln/>
        </p:spPr>
        <p:txBody>
          <a:bodyPr wrap="square" lIns="0" tIns="0" rIns="0" bIns="0" rtlCol="0" anchor="t"/>
          <a:lstStyle/>
          <a:p>
            <a:pPr indent="0" marL="0">
              <a:buNone/>
            </a:pPr>
            <a:r>
              <a:rPr lang="en-US" sz="1700" b="1" dirty="0">
                <a:solidFill>
                  <a:schemeClr val="tx2"/>
                </a:solidFill>
              </a:rPr>
              <a:t>Clean layers pay off</a:t>
            </a:r>
            <a:endParaRPr lang="en-US" sz="1700" dirty="0"/>
          </a:p>
        </p:txBody>
      </p:sp>
      <p:sp>
        <p:nvSpPr>
          <p:cNvPr id="14" name="text_224"/>
          <p:cNvSpPr txBox="1"/>
          <p:nvPr/>
        </p:nvSpPr>
        <p:spPr>
          <a:xfrm>
            <a:off x="1280160" y="3163824"/>
            <a:ext cx="4023360" cy="320040"/>
          </a:xfrm>
          <a:prstGeom prst="rect">
            <a:avLst/>
          </a:prstGeom>
          <a:noFill/>
          <a:ln/>
        </p:spPr>
        <p:txBody>
          <a:bodyPr wrap="square" lIns="0" tIns="0" rIns="0" bIns="0" rtlCol="0" anchor="t"/>
          <a:lstStyle/>
          <a:p>
            <a:pPr indent="0" marL="0">
              <a:buNone/>
            </a:pPr>
            <a:r>
              <a:rPr lang="en-US" sz="1400" dirty="0">
                <a:solidFill>
                  <a:schemeClr val="tx1"/>
                </a:solidFill>
              </a:rPr>
              <a:t>I could change one layer without breaking the others</a:t>
            </a:r>
            <a:endParaRPr lang="en-US" sz="1400" dirty="0"/>
          </a:p>
        </p:txBody>
      </p:sp>
      <p:sp>
        <p:nvSpPr>
          <p:cNvPr id="15" name="icon-bg_225"/>
          <p:cNvSpPr/>
          <p:nvPr/>
        </p:nvSpPr>
        <p:spPr>
          <a:xfrm>
            <a:off x="457200" y="3666744"/>
            <a:ext cx="640080" cy="640080"/>
          </a:xfrm>
          <a:prstGeom prst="ellipse">
            <a:avLst/>
          </a:prstGeom>
          <a:solidFill>
            <a:srgbClr val="1F4E5F"/>
          </a:solidFill>
          <a:ln/>
        </p:spPr>
      </p:sp>
      <p:pic>
        <p:nvPicPr>
          <p:cNvPr id="16" name="icon_226" descr="preencoded.png">    </p:cNvPr>
          <p:cNvPicPr>
            <a:picLocks noChangeAspect="1"/>
          </p:cNvPicPr>
          <p:nvPr/>
        </p:nvPicPr>
        <p:blipFill>
          <a:blip r:embed="rId4"/>
          <a:stretch>
            <a:fillRect/>
          </a:stretch>
        </p:blipFill>
        <p:spPr>
          <a:xfrm>
            <a:off x="617220" y="3826764"/>
            <a:ext cx="320040" cy="320040"/>
          </a:xfrm>
          <a:prstGeom prst="rect">
            <a:avLst/>
          </a:prstGeom>
        </p:spPr>
      </p:pic>
      <p:sp>
        <p:nvSpPr>
          <p:cNvPr id="17" name="text_227"/>
          <p:cNvSpPr txBox="1"/>
          <p:nvPr/>
        </p:nvSpPr>
        <p:spPr>
          <a:xfrm>
            <a:off x="1280160" y="3685032"/>
            <a:ext cx="3657600" cy="320040"/>
          </a:xfrm>
          <a:prstGeom prst="rect">
            <a:avLst/>
          </a:prstGeom>
          <a:noFill/>
          <a:ln/>
        </p:spPr>
        <p:txBody>
          <a:bodyPr wrap="square" lIns="0" tIns="0" rIns="0" bIns="0" rtlCol="0" anchor="t"/>
          <a:lstStyle/>
          <a:p>
            <a:pPr indent="0" marL="0">
              <a:buNone/>
            </a:pPr>
            <a:r>
              <a:rPr lang="en-US" sz="1700" b="1" dirty="0">
                <a:solidFill>
                  <a:schemeClr val="tx2"/>
                </a:solidFill>
              </a:rPr>
              <a:t>Professional habits</a:t>
            </a:r>
            <a:endParaRPr lang="en-US" sz="1700" dirty="0"/>
          </a:p>
        </p:txBody>
      </p:sp>
      <p:sp>
        <p:nvSpPr>
          <p:cNvPr id="18" name="text_228"/>
          <p:cNvSpPr txBox="1"/>
          <p:nvPr/>
        </p:nvSpPr>
        <p:spPr>
          <a:xfrm>
            <a:off x="1280160" y="4005072"/>
            <a:ext cx="4023360" cy="320040"/>
          </a:xfrm>
          <a:prstGeom prst="rect">
            <a:avLst/>
          </a:prstGeom>
          <a:noFill/>
          <a:ln/>
        </p:spPr>
        <p:txBody>
          <a:bodyPr wrap="square" lIns="0" tIns="0" rIns="0" bIns="0" rtlCol="0" anchor="t"/>
          <a:lstStyle/>
          <a:p>
            <a:pPr indent="0" marL="0">
              <a:buNone/>
            </a:pPr>
            <a:r>
              <a:rPr lang="en-US" sz="1400" dirty="0">
                <a:solidFill>
                  <a:schemeClr val="tx1"/>
                </a:solidFill>
              </a:rPr>
              <a:t>Git, documentation and Docker from day one</a:t>
            </a:r>
            <a:endParaRPr lang="en-US" sz="1400" dirty="0"/>
          </a:p>
        </p:txBody>
      </p:sp>
      <p:sp>
        <p:nvSpPr>
          <p:cNvPr id="19" name="card_229"/>
          <p:cNvSpPr/>
          <p:nvPr/>
        </p:nvSpPr>
        <p:spPr>
          <a:xfrm>
            <a:off x="5669280" y="1143000"/>
            <a:ext cx="3017520" cy="3337560"/>
          </a:xfrm>
          <a:prstGeom prst="roundRect">
            <a:avLst>
              <a:gd name="adj" fmla="val 2424"/>
            </a:avLst>
          </a:prstGeom>
          <a:solidFill>
            <a:schemeClr val="accent5"/>
          </a:solidFill>
          <a:ln/>
        </p:spPr>
      </p:sp>
      <p:sp>
        <p:nvSpPr>
          <p:cNvPr id="20" name="text_230"/>
          <p:cNvSpPr txBox="1"/>
          <p:nvPr/>
        </p:nvSpPr>
        <p:spPr>
          <a:xfrm>
            <a:off x="5897880" y="1280160"/>
            <a:ext cx="2560320" cy="365760"/>
          </a:xfrm>
          <a:prstGeom prst="rect">
            <a:avLst/>
          </a:prstGeom>
          <a:noFill/>
          <a:ln/>
        </p:spPr>
        <p:txBody>
          <a:bodyPr wrap="square" lIns="0" tIns="0" rIns="0" bIns="0" rtlCol="0" anchor="t"/>
          <a:lstStyle/>
          <a:p>
            <a:pPr indent="0" marL="0">
              <a:buNone/>
            </a:pPr>
            <a:r>
              <a:rPr lang="en-US" sz="1800" b="1" dirty="0">
                <a:solidFill>
                  <a:schemeClr val="tx2"/>
                </a:solidFill>
              </a:rPr>
              <a:t>Next steps</a:t>
            </a:r>
            <a:endParaRPr lang="en-US" sz="1800" dirty="0"/>
          </a:p>
        </p:txBody>
      </p:sp>
      <p:sp>
        <p:nvSpPr>
          <p:cNvPr id="21" name="text_231"/>
          <p:cNvSpPr txBox="1"/>
          <p:nvPr/>
        </p:nvSpPr>
        <p:spPr>
          <a:xfrm>
            <a:off x="5897880" y="1783080"/>
            <a:ext cx="260604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Check prerequisites automatically</a:t>
            </a:r>
            <a:endParaRPr lang="en-US" sz="1500" dirty="0"/>
          </a:p>
          <a:p>
            <a:pPr marL="342900" indent="-342900">
              <a:spcAft>
                <a:spcPts val="1000"/>
              </a:spcAft>
              <a:buSzPct val="100000"/>
              <a:buChar char="•"/>
            </a:pPr>
            <a:r>
              <a:rPr lang="en-US" sz="1500" dirty="0">
                <a:solidFill>
                  <a:schemeClr val="tx1"/>
                </a:solidFill>
              </a:rPr>
              <a:t>Automated tests with Jest</a:t>
            </a:r>
            <a:endParaRPr lang="en-US" sz="1500" dirty="0"/>
          </a:p>
          <a:p>
            <a:pPr marL="342900" indent="-342900">
              <a:spcAft>
                <a:spcPts val="1000"/>
              </a:spcAft>
              <a:buSzPct val="100000"/>
              <a:buChar char="•"/>
            </a:pPr>
            <a:r>
              <a:rPr lang="en-US" sz="1500" dirty="0">
                <a:solidFill>
                  <a:schemeClr val="tx1"/>
                </a:solidFill>
              </a:rPr>
              <a:t>Waiting list + email alerts</a:t>
            </a:r>
            <a:endParaRPr lang="en-US" sz="1500" dirty="0"/>
          </a:p>
          <a:p>
            <a:pPr marL="342900" indent="-342900">
              <a:spcAft>
                <a:spcPts val="1000"/>
              </a:spcAft>
              <a:buSzPct val="100000"/>
              <a:buChar char="•"/>
            </a:pPr>
            <a:r>
              <a:rPr lang="en-US" sz="1500" dirty="0">
                <a:solidFill>
                  <a:schemeClr val="tx1"/>
                </a:solidFill>
              </a:rPr>
              <a:t>Caching for peak load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Thank you!</a:t>
            </a:r>
            <a:endParaRPr lang="en-US" sz="4000" dirty="0"/>
          </a:p>
        </p:txBody>
      </p:sp>
      <p:sp>
        <p:nvSpPr>
          <p:cNvPr id="3" name="Text 0"/>
          <p:cNvSpPr/>
          <p:nvPr>
            <p:ph idx="101" type="body" hasCustomPrompt="1"/>
          </p:nvPr>
        </p:nvSpPr>
        <p:spPr>
          <a:xfrm>
            <a:off x="548640" y="2834640"/>
            <a:ext cx="8046720" cy="822960"/>
          </a:xfrm>
          <a:prstGeom prst="rect">
            <a:avLst/>
          </a:prstGeom>
          <a:noFill/>
          <a:ln/>
        </p:spPr>
        <p:txBody>
          <a:bodyPr wrap="square" rtlCol="0" anchor="t"/>
          <a:lstStyle/>
          <a:p>
            <a:pPr indent="0" marL="0">
              <a:buNone/>
            </a:pPr>
            <a:r>
              <a:rPr lang="en-US" sz="1800" dirty="0">
                <a:solidFill>
                  <a:schemeClr val="accent5"/>
                </a:solidFill>
              </a:rPr>
              <a:t>Questions and feedback are very welcome</a:t>
            </a:r>
            <a:endParaRPr lang="en-US" sz="1800" dirty="0"/>
          </a:p>
        </p:txBody>
      </p:sp>
      <p:sp>
        <p:nvSpPr>
          <p:cNvPr id="4" name="icon-bg_232"/>
          <p:cNvSpPr/>
          <p:nvPr/>
        </p:nvSpPr>
        <p:spPr>
          <a:xfrm>
            <a:off x="7635240" y="502920"/>
            <a:ext cx="914400" cy="914400"/>
          </a:xfrm>
          <a:prstGeom prst="ellipse">
            <a:avLst/>
          </a:prstGeom>
          <a:solidFill>
            <a:srgbClr val="1F4E5F"/>
          </a:solidFill>
          <a:ln/>
        </p:spPr>
      </p:sp>
      <p:pic>
        <p:nvPicPr>
          <p:cNvPr id="5" name="icon_233" descr="preencoded.png">    </p:cNvPr>
          <p:cNvPicPr>
            <a:picLocks noChangeAspect="1"/>
          </p:cNvPicPr>
          <p:nvPr/>
        </p:nvPicPr>
        <p:blipFill>
          <a:blip r:embed="rId1"/>
          <a:stretch>
            <a:fillRect/>
          </a:stretch>
        </p:blipFill>
        <p:spPr>
          <a:xfrm>
            <a:off x="7863840" y="731520"/>
            <a:ext cx="457200" cy="457200"/>
          </a:xfrm>
          <a:prstGeom prst="rect">
            <a:avLst/>
          </a:prstGeom>
        </p:spPr>
      </p:pic>
      <p:sp>
        <p:nvSpPr>
          <p:cNvPr id="6" name="text_234"/>
          <p:cNvSpPr txBox="1"/>
          <p:nvPr/>
        </p:nvSpPr>
        <p:spPr>
          <a:xfrm>
            <a:off x="640080" y="4251960"/>
            <a:ext cx="7955280" cy="365760"/>
          </a:xfrm>
          <a:prstGeom prst="rect">
            <a:avLst/>
          </a:prstGeom>
          <a:noFill/>
          <a:ln/>
        </p:spPr>
        <p:txBody>
          <a:bodyPr wrap="square" lIns="0" tIns="0" rIns="0" bIns="0" rtlCol="0" anchor="t"/>
          <a:lstStyle/>
          <a:p>
            <a:pPr indent="0" marL="0">
              <a:buNone/>
            </a:pPr>
            <a:r>
              <a:rPr lang="en-US" sz="1400" dirty="0">
                <a:solidFill>
                  <a:schemeClr val="bg1"/>
                </a:solidFill>
              </a:rPr>
              <a:t>React · Express · MySQL · Docker</a:t>
            </a:r>
            <a:endParaRPr lang="en-US" sz="1400" dirty="0"/>
          </a:p>
        </p:txBody>
      </p:sp>
    </p:spTree>
  </p:cSld>
  <p:clrMapOvr>
    <a:masterClrMapping/>
  </p:clrMapOvr>
</p:sld>
</file>

<file path=ppt/theme/theme1.xml><?xml version="1.0" encoding="utf-8"?>
<a:theme xmlns:a="http://schemas.openxmlformats.org/drawingml/2006/main" name="Course Registration">
  <a:themeElements>
    <a:clrScheme name="Course Registration">
      <a:dk1>
        <a:srgbClr val="1B2328"/>
      </a:dk1>
      <a:lt1>
        <a:srgbClr val="FFFFFF"/>
      </a:lt1>
      <a:dk2>
        <a:srgbClr val="1F4E5F"/>
      </a:dk2>
      <a:lt2>
        <a:srgbClr val="F3F6F7"/>
      </a:lt2>
      <a:accent1>
        <a:srgbClr val="1F4E5F"/>
      </a:accent1>
      <a:accent2>
        <a:srgbClr val="E07A2F"/>
      </a:accent2>
      <a:accent3>
        <a:srgbClr val="3A8C8C"/>
      </a:accent3>
      <a:accent4>
        <a:srgbClr val="5B6B73"/>
      </a:accent4>
      <a:accent5>
        <a:srgbClr val="DCE8EB"/>
      </a:accent5>
      <a:accent6>
        <a:srgbClr val="17323D"/>
      </a:accent6>
      <a:hlink>
        <a:srgbClr val="1F4E5F"/>
      </a:hlink>
      <a:folHlink>
        <a:srgbClr val="5B6B73"/>
      </a:folHlink>
    </a:clrScheme>
    <a:fontScheme name="Course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Management &amp; Registration System</dc:title>
  <dc:subject>PptxGenJS Presentation</dc:subject>
  <dc:creator>Student</dc:creator>
  <cp:lastModifiedBy>Student</cp:lastModifiedBy>
  <cp:revision>1</cp:revision>
  <dcterms:created xsi:type="dcterms:W3CDTF">2026-10-05T09:25:03Z</dcterms:created>
  <dcterms:modified xsi:type="dcterms:W3CDTF">2026-10-05T09:25:03Z</dcterms:modified>
</cp:coreProperties>
</file>